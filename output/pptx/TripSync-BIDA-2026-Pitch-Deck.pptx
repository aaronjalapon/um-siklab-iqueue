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6" r:id="rId3"/>
  </p:sldMasterIdLst>
  <p:notesMasterIdLst>
    <p:notesMasterId r:id="rId20"/>
  </p:notesMasterIdLst>
  <p:sldIdLst>
    <p:sldId id="256" r:id="rId4"/>
    <p:sldId id="258" r:id="rId5"/>
    <p:sldId id="259" r:id="rId6"/>
    <p:sldId id="260" r:id="rId7"/>
    <p:sldId id="261" r:id="rId8"/>
    <p:sldId id="257"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87032"/>
  </p:normalViewPr>
  <p:slideViewPr>
    <p:cSldViewPr snapToGrid="0">
      <p:cViewPr>
        <p:scale>
          <a:sx n="119" d="100"/>
          <a:sy n="119"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0:20. Aaron opens. Welcome the judges, name TripSync, and land the promise: board smart, travel smarter. Keep this opening concise, then introduce the team.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0:35. Hazel owns this slide. Replace every bracketed prompt before presenting. State the metric, define its scope, show the comparison, and end with the direct implication for public transport. Handoff to Ben.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 Ben owns this slide. Use three sourced Philippine pain points and one contextual visual. Avoid stacking multiple statistics in one sentence. Handoff: invite Ana to connect the system problem to lived experience and the team’s survey.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0:45. Ana owns this slide. Open with a specific lived experience, then explain how the survey was conducted before showing any result. Include sample size and respondent profile. Handoff to Aaron: ‘That is the journey TripSync is designed to govern.’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0:55. Say: ‘TripSync connects boarding into one governed journey.’ Walk left to right: demand planning, accessibility-first seating, passenger guidance, and verified boarding. Emphasize governance—not automation for its own sake. Staff remain responsible for operational decisions and can accept, modify, or reject recommendations. Be explicit that the current system is a working prototype using demo or synthetic operational evidence; no field pilot has been completed. Handoff to Ben for the passenger 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0:30. Aaron introduces the four founders by role, then acknowledges Clyde as external faculty adviser. Handoff: ‘Hazel will frame why better public transport matters.’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 Ben owns the narrative and callouts. Demonstrate the passenger’s first two steps: search for a route, then state preferences. Keep the walkthrough focused on decisions, not every control. Handoff: continue to seat selection and the boarding pass.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 Ben owns this walkthrough. Explain the accessibility handling and the reason shown for a recommendation. Then show the signed QR boarding pass. Do not imply production deployment or field-pilot results. Handoff to Aaron for the operator 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0:55. This is the presentation’s main visual moment. Pause after the headline: ‘Forecasts inform staff. Staff decide.’ Point to the seven-day view, then fleet context, then the accept/modify/reject controls. The purpose is operational judgment with traceability—not an automated dispatch decision. The displayed dashboard is prototype evidence generated from demo or synthetic operational data. Do not state accuracy, savings, or field performance. Transition: the decision is only useful if the system records what happened next.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0:50. Describe the governance loop in four steps. First, preserve the forecast snapshot. Second, record the staff decision. Third, capture the actual operational outcome. Fourth, review the accumulated evidence before any retraining or model change. The queue crop is prototype support, not proof of field performance. Avoid saying the system improves accuracy or operations today; this slide explains the intended control loop. Handoff to Ana for the cost-and-benefit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 Ana owns this slide. Replace all prompts with approved figures from the selected financial model. Define the period and assumptions. Frame the operator benefit without inventing savings or pilot results. Handoff to Hazel for the defensible capability and urgency.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 Hazel owns this slide. Name one defensible capability, one reason the timing matters, and one sourced comparison. End with a single judge-facing conclusion. Handoff: Aaron will show how the business and product mature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1:15. Read the roadmap in two lanes. Today, TripSync is a pre-pilot B2B proposition and a working prototype using demo or synthetic evidence. Year 1: incorporation and privacy readiness, five customer wins, at least one paid pilot, production hardening, operator-data integration, and pilot QA. Year 2: standardized onboarding, fifteen customers, two added delivery roles, multi-tenant tools, repeatable integrations, stronger offline and support operations. Year 3: growth to forty customers only if service quality, cash, and team capacity support it; integrate with operator payment and ticketing systems without replacing them, and prepare B2B2C validation. Year 4: launch an optional passenger premium tier only after willingness-to-pay validation—pricing remains unspecified. Product candidates include saved profiles, proactive alerts, flexible rebooking, trip history, and priority support. Year 5: broader Philippine expansion, then evidence-gated ASEAN bus-market entry with localization, operator integrations, language expansion, and market-specific compliance. The gates matter: prototype, paid pilot, scale, premium, and geography are separate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0:35. Ana owns the closing promise and the formal ask. Keep the promise specific and credible. Name the pilot audience, what the pilot will test, and the exact decision or support requested from the judges. Then invite Aaron and Ben to open the volunteer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 Aaron says: ‘We are inviting volunteers to test the passenger journey and the signed boarding-pass flow.’ Explain that the QR area is a placeholder until a verified beta URL is approved; never present it as a live code. Invite volunteers to scan, try the core flow, and give concise usability feedback. Handoff to Ben to manage the live test or demo queue, then thank the judges.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component library. Copy these editable Civic Clay modules into future TripSync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ortrait / Tea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Hero Metric / Owner Inpu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plit Narrative / Owner Input">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wo-Lane Roadmap">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omponent Librar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ver / Civic Clay Hero">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obile Walkthrough / Produc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Operator Screenshot / Product">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cision Loop / Product">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losing CTA">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TripSync Civic Clay — Light">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TripSync Civic Clay — Product">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474540B-A00E-43B3-A930-663C82B1F2DE}"/>
              </a:ext>
            </a:extLst>
          </p:cNvPr>
          <p:cNvSpPr>
            <a:spLocks noGrp="1"/>
          </p:cNvSpPr>
          <p:nvPr/>
        </p:nvSpPr>
        <p:spPr>
          <a:xfrm>
            <a:off x="0" y="0"/>
            <a:ext cx="12192000" cy="6858000"/>
          </a:xfrm>
          <a:prstGeom prst="rect">
            <a:avLst/>
          </a:prstGeom>
          <a:gradFill>
            <a:gsLst>
              <a:gs pos="0">
                <a:srgbClr val="0B1220"/>
              </a:gs>
              <a:gs pos="68000">
                <a:srgbClr val="0B1F33"/>
              </a:gs>
              <a:gs pos="100000">
                <a:srgbClr val="122C48"/>
              </a:gs>
            </a:gsLst>
            <a:lin ang="8100000"/>
          </a:gradFill>
          <a:ln w="0">
            <a:noFill/>
            <a:prstDash val="solid"/>
          </a:ln>
        </p:spPr>
      </p:sp>
      <p:sp>
        <p:nvSpPr>
          <p:cNvPr id="2" name="Rounded Rectangle 1">
            <a:extLst>
              <a:ext uri="{FF2B5EF4-FFF2-40B4-BE49-F238E27FC236}">
                <a16:creationId xmlns:a16="http://schemas.microsoft.com/office/drawing/2014/main" id="{D82E5216-0FCB-4EBC-BDDB-785C8229DEEE}"/>
              </a:ext>
            </a:extLst>
          </p:cNvPr>
          <p:cNvSpPr>
            <a:spLocks noGrp="1"/>
          </p:cNvSpPr>
          <p:nvPr/>
        </p:nvSpPr>
        <p:spPr>
          <a:xfrm>
            <a:off x="590550" y="1238250"/>
            <a:ext cx="2667000" cy="266700"/>
          </a:xfrm>
          <a:prstGeom prst="roundRect">
            <a:avLst>
              <a:gd name="adj" fmla="val 50000"/>
            </a:avLst>
          </a:prstGeom>
          <a:solidFill>
            <a:srgbClr val="16324F"/>
          </a:solidFill>
          <a:ln w="9525">
            <a:solidFill>
              <a:srgbClr val="2B5277"/>
            </a:solidFill>
            <a:prstDash val="solid"/>
          </a:ln>
        </p:spPr>
        <p:txBody>
          <a:bodyPr wrap="square" lIns="76200" tIns="19050" rIns="76200" bIns="19050" anchor="ctr">
            <a:normAutofit/>
          </a:bodyPr>
          <a:lstStyle/>
          <a:p>
            <a:pPr algn="ctr">
              <a:defRPr sz="975" b="1" i="0">
                <a:solidFill>
                  <a:srgbClr val="D4E6FF"/>
                </a:solidFill>
                <a:latin typeface="Lexend"/>
                <a:ea typeface="Lexend"/>
                <a:cs typeface="Lexend"/>
              </a:defRPr>
            </a:pPr>
            <a:r>
              <a:rPr sz="975" b="1" i="0">
                <a:solidFill>
                  <a:srgbClr val="D4E6FF"/>
                </a:solidFill>
                <a:latin typeface="Lexend"/>
                <a:ea typeface="Lexend"/>
                <a:cs typeface="Lexend"/>
              </a:rPr>
              <a:t>BIDA 2026 · TECHNOLOGY CATEGORY</a:t>
            </a:r>
          </a:p>
        </p:txBody>
      </p:sp>
      <p:sp>
        <p:nvSpPr>
          <p:cNvPr id="3" name="Rectangle 2">
            <a:extLst>
              <a:ext uri="{FF2B5EF4-FFF2-40B4-BE49-F238E27FC236}">
                <a16:creationId xmlns:a16="http://schemas.microsoft.com/office/drawing/2014/main" id="{5F7AD054-AF6D-4407-B61A-79E7D374FE43}"/>
              </a:ext>
            </a:extLst>
          </p:cNvPr>
          <p:cNvSpPr>
            <a:spLocks noGrp="1"/>
          </p:cNvSpPr>
          <p:nvPr/>
        </p:nvSpPr>
        <p:spPr>
          <a:xfrm>
            <a:off x="590550" y="1809750"/>
            <a:ext cx="6572250" cy="1676400"/>
          </a:xfrm>
          <a:prstGeom prst="rect">
            <a:avLst/>
          </a:prstGeom>
          <a:noFill/>
          <a:ln w="0">
            <a:noFill/>
            <a:prstDash val="solid"/>
          </a:ln>
        </p:spPr>
        <p:txBody>
          <a:bodyPr wrap="square" lIns="0" tIns="0" rIns="0" bIns="0" anchor="t">
            <a:noAutofit/>
          </a:bodyPr>
          <a:lstStyle/>
          <a:p>
            <a:pPr algn="l">
              <a:defRPr sz="4650" b="1" i="0">
                <a:solidFill>
                  <a:srgbClr val="FFFFFF"/>
                </a:solidFill>
                <a:latin typeface="Lexend"/>
                <a:ea typeface="Lexend"/>
                <a:cs typeface="Lexend"/>
              </a:defRPr>
            </a:pPr>
            <a:r>
              <a:rPr sz="4650" b="1" i="0">
                <a:solidFill>
                  <a:srgbClr val="FFFFFF"/>
                </a:solidFill>
                <a:latin typeface="Lexend"/>
                <a:ea typeface="Lexend"/>
                <a:cs typeface="Lexend"/>
              </a:rPr>
              <a:t>Board smart,</a:t>
            </a:r>
          </a:p>
          <a:p>
            <a:pPr algn="l">
              <a:defRPr sz="4650" b="1" i="0">
                <a:solidFill>
                  <a:srgbClr val="FFFFFF"/>
                </a:solidFill>
                <a:latin typeface="Lexend"/>
                <a:ea typeface="Lexend"/>
                <a:cs typeface="Lexend"/>
              </a:defRPr>
            </a:pPr>
            <a:r>
              <a:rPr sz="4650" b="1" i="0">
                <a:solidFill>
                  <a:srgbClr val="FFFFFF"/>
                </a:solidFill>
                <a:latin typeface="Lexend"/>
                <a:ea typeface="Lexend"/>
                <a:cs typeface="Lexend"/>
              </a:rPr>
              <a:t>travel smarter.</a:t>
            </a:r>
          </a:p>
        </p:txBody>
      </p:sp>
      <p:sp>
        <p:nvSpPr>
          <p:cNvPr id="4" name="Rectangle 3">
            <a:extLst>
              <a:ext uri="{FF2B5EF4-FFF2-40B4-BE49-F238E27FC236}">
                <a16:creationId xmlns:a16="http://schemas.microsoft.com/office/drawing/2014/main" id="{232A1DA2-CA7D-49FE-8CC5-9CA8A89CDAEB}"/>
              </a:ext>
            </a:extLst>
          </p:cNvPr>
          <p:cNvSpPr>
            <a:spLocks noGrp="1"/>
          </p:cNvSpPr>
          <p:nvPr/>
        </p:nvSpPr>
        <p:spPr>
          <a:xfrm>
            <a:off x="628650" y="3714750"/>
            <a:ext cx="6191250" cy="533400"/>
          </a:xfrm>
          <a:prstGeom prst="rect">
            <a:avLst/>
          </a:prstGeom>
          <a:noFill/>
          <a:ln w="0">
            <a:noFill/>
            <a:prstDash val="solid"/>
          </a:ln>
        </p:spPr>
        <p:txBody>
          <a:bodyPr wrap="square" lIns="0" tIns="0" rIns="0" bIns="0" anchor="t">
            <a:normAutofit fontScale="97222"/>
          </a:bodyPr>
          <a:lstStyle/>
          <a:p>
            <a:pPr algn="l">
              <a:defRPr sz="1800" b="0" i="0">
                <a:solidFill>
                  <a:srgbClr val="BAC9D9"/>
                </a:solidFill>
                <a:latin typeface="Source Sans 3"/>
                <a:ea typeface="Source Sans 3"/>
                <a:cs typeface="Source Sans 3"/>
              </a:defRPr>
            </a:pPr>
            <a:r>
              <a:rPr sz="1800" b="0" i="0">
                <a:solidFill>
                  <a:srgbClr val="BAC9D9"/>
                </a:solidFill>
                <a:latin typeface="Source Sans 3"/>
                <a:ea typeface="Source Sans 3"/>
                <a:cs typeface="Source Sans 3"/>
              </a:rPr>
              <a:t>A governed boarding journey for passengers, operators, and frontline staff.</a:t>
            </a:r>
          </a:p>
        </p:txBody>
      </p:sp>
      <p:sp>
        <p:nvSpPr>
          <p:cNvPr id="5" name="Straight Connector 4">
            <a:extLst>
              <a:ext uri="{FF2B5EF4-FFF2-40B4-BE49-F238E27FC236}">
                <a16:creationId xmlns:a16="http://schemas.microsoft.com/office/drawing/2014/main" id="{1B1836F7-0C3D-44C6-B0B7-6C2DA00BE94E}"/>
              </a:ext>
            </a:extLst>
          </p:cNvPr>
          <p:cNvSpPr>
            <a:spLocks noGrp="1"/>
          </p:cNvSpPr>
          <p:nvPr/>
        </p:nvSpPr>
        <p:spPr>
          <a:xfrm>
            <a:off x="666750" y="5010150"/>
            <a:ext cx="5572125" cy="0"/>
          </a:xfrm>
          <a:prstGeom prst="line">
            <a:avLst/>
          </a:prstGeom>
          <a:noFill/>
          <a:ln w="28575">
            <a:solidFill>
              <a:srgbClr val="35516D"/>
            </a:solidFill>
            <a:prstDash val="solid"/>
          </a:ln>
        </p:spPr>
      </p:sp>
      <p:sp>
        <p:nvSpPr>
          <p:cNvPr id="6" name="Oval 5">
            <a:extLst>
              <a:ext uri="{FF2B5EF4-FFF2-40B4-BE49-F238E27FC236}">
                <a16:creationId xmlns:a16="http://schemas.microsoft.com/office/drawing/2014/main" id="{9168E1D7-C66C-45B3-AF08-BB947FB5EE52}"/>
              </a:ext>
            </a:extLst>
          </p:cNvPr>
          <p:cNvSpPr>
            <a:spLocks noGrp="1"/>
          </p:cNvSpPr>
          <p:nvPr/>
        </p:nvSpPr>
        <p:spPr>
          <a:xfrm>
            <a:off x="581025" y="4924425"/>
            <a:ext cx="171450" cy="171450"/>
          </a:xfrm>
          <a:prstGeom prst="ellipse">
            <a:avLst/>
          </a:prstGeom>
          <a:solidFill>
            <a:srgbClr val="F97316"/>
          </a:solidFill>
          <a:ln w="28575">
            <a:solidFill>
              <a:srgbClr val="0B1220"/>
            </a:solidFill>
            <a:prstDash val="solid"/>
          </a:ln>
        </p:spPr>
      </p:sp>
      <p:sp>
        <p:nvSpPr>
          <p:cNvPr id="7" name="Rectangle 6">
            <a:extLst>
              <a:ext uri="{FF2B5EF4-FFF2-40B4-BE49-F238E27FC236}">
                <a16:creationId xmlns:a16="http://schemas.microsoft.com/office/drawing/2014/main" id="{B8B46879-A460-417F-B5C6-3C65D69C9FA9}"/>
              </a:ext>
            </a:extLst>
          </p:cNvPr>
          <p:cNvSpPr>
            <a:spLocks noGrp="1"/>
          </p:cNvSpPr>
          <p:nvPr/>
        </p:nvSpPr>
        <p:spPr>
          <a:xfrm>
            <a:off x="76200" y="5172075"/>
            <a:ext cx="1181100" cy="266700"/>
          </a:xfrm>
          <a:prstGeom prst="rect">
            <a:avLst/>
          </a:prstGeom>
          <a:noFill/>
          <a:ln w="0">
            <a:noFill/>
            <a:prstDash val="solid"/>
          </a:ln>
        </p:spPr>
        <p:txBody>
          <a:bodyPr wrap="square" lIns="0" tIns="0" rIns="0" bIns="0" anchor="t">
            <a:normAutofit/>
          </a:bodyPr>
          <a:lstStyle/>
          <a:p>
            <a:pPr algn="ctr">
              <a:defRPr sz="975" b="0" i="0">
                <a:solidFill>
                  <a:srgbClr val="B9C8D8"/>
                </a:solidFill>
                <a:latin typeface="Source Sans 3"/>
                <a:ea typeface="Source Sans 3"/>
                <a:cs typeface="Source Sans 3"/>
              </a:defRPr>
            </a:pPr>
            <a:r>
              <a:rPr sz="975" b="0" i="0">
                <a:solidFill>
                  <a:srgbClr val="B9C8D8"/>
                </a:solidFill>
                <a:latin typeface="Source Sans 3"/>
                <a:ea typeface="Source Sans 3"/>
                <a:cs typeface="Source Sans 3"/>
              </a:rPr>
              <a:t>Plan</a:t>
            </a:r>
          </a:p>
        </p:txBody>
      </p:sp>
      <p:sp>
        <p:nvSpPr>
          <p:cNvPr id="8" name="Oval 7">
            <a:extLst>
              <a:ext uri="{FF2B5EF4-FFF2-40B4-BE49-F238E27FC236}">
                <a16:creationId xmlns:a16="http://schemas.microsoft.com/office/drawing/2014/main" id="{95FCD6E7-5CFA-443E-B415-27981CD9995C}"/>
              </a:ext>
            </a:extLst>
          </p:cNvPr>
          <p:cNvSpPr>
            <a:spLocks noGrp="1"/>
          </p:cNvSpPr>
          <p:nvPr/>
        </p:nvSpPr>
        <p:spPr>
          <a:xfrm>
            <a:off x="2438400" y="4924425"/>
            <a:ext cx="171450" cy="171450"/>
          </a:xfrm>
          <a:prstGeom prst="ellipse">
            <a:avLst/>
          </a:prstGeom>
          <a:solidFill>
            <a:srgbClr val="175CD3"/>
          </a:solidFill>
          <a:ln w="28575">
            <a:solidFill>
              <a:srgbClr val="0B1220"/>
            </a:solidFill>
            <a:prstDash val="solid"/>
          </a:ln>
        </p:spPr>
      </p:sp>
      <p:sp>
        <p:nvSpPr>
          <p:cNvPr id="9" name="Rectangle 8">
            <a:extLst>
              <a:ext uri="{FF2B5EF4-FFF2-40B4-BE49-F238E27FC236}">
                <a16:creationId xmlns:a16="http://schemas.microsoft.com/office/drawing/2014/main" id="{BE24763E-9259-4C59-ABA6-8AAEE69CF844}"/>
              </a:ext>
            </a:extLst>
          </p:cNvPr>
          <p:cNvSpPr>
            <a:spLocks noGrp="1"/>
          </p:cNvSpPr>
          <p:nvPr/>
        </p:nvSpPr>
        <p:spPr>
          <a:xfrm>
            <a:off x="1933575" y="5172075"/>
            <a:ext cx="1181100" cy="266700"/>
          </a:xfrm>
          <a:prstGeom prst="rect">
            <a:avLst/>
          </a:prstGeom>
          <a:noFill/>
          <a:ln w="0">
            <a:noFill/>
            <a:prstDash val="solid"/>
          </a:ln>
        </p:spPr>
        <p:txBody>
          <a:bodyPr wrap="square" lIns="0" tIns="0" rIns="0" bIns="0" anchor="t">
            <a:normAutofit/>
          </a:bodyPr>
          <a:lstStyle/>
          <a:p>
            <a:pPr algn="ctr">
              <a:defRPr sz="975" b="0" i="0">
                <a:solidFill>
                  <a:srgbClr val="B9C8D8"/>
                </a:solidFill>
                <a:latin typeface="Source Sans 3"/>
                <a:ea typeface="Source Sans 3"/>
                <a:cs typeface="Source Sans 3"/>
              </a:defRPr>
            </a:pPr>
            <a:r>
              <a:rPr sz="975" b="0" i="0">
                <a:solidFill>
                  <a:srgbClr val="B9C8D8"/>
                </a:solidFill>
                <a:latin typeface="Source Sans 3"/>
                <a:ea typeface="Source Sans 3"/>
                <a:cs typeface="Source Sans 3"/>
              </a:rPr>
              <a:t>Seat</a:t>
            </a:r>
          </a:p>
        </p:txBody>
      </p:sp>
      <p:sp>
        <p:nvSpPr>
          <p:cNvPr id="10" name="Oval 9">
            <a:extLst>
              <a:ext uri="{FF2B5EF4-FFF2-40B4-BE49-F238E27FC236}">
                <a16:creationId xmlns:a16="http://schemas.microsoft.com/office/drawing/2014/main" id="{613BD9A9-07B1-4885-ABC7-A109568BC230}"/>
              </a:ext>
            </a:extLst>
          </p:cNvPr>
          <p:cNvSpPr>
            <a:spLocks noGrp="1"/>
          </p:cNvSpPr>
          <p:nvPr/>
        </p:nvSpPr>
        <p:spPr>
          <a:xfrm>
            <a:off x="4295775" y="4924425"/>
            <a:ext cx="171450" cy="171450"/>
          </a:xfrm>
          <a:prstGeom prst="ellipse">
            <a:avLst/>
          </a:prstGeom>
          <a:solidFill>
            <a:srgbClr val="175CD3"/>
          </a:solidFill>
          <a:ln w="28575">
            <a:solidFill>
              <a:srgbClr val="0B1220"/>
            </a:solidFill>
            <a:prstDash val="solid"/>
          </a:ln>
        </p:spPr>
      </p:sp>
      <p:sp>
        <p:nvSpPr>
          <p:cNvPr id="11" name="Rectangle 10">
            <a:extLst>
              <a:ext uri="{FF2B5EF4-FFF2-40B4-BE49-F238E27FC236}">
                <a16:creationId xmlns:a16="http://schemas.microsoft.com/office/drawing/2014/main" id="{6D0D23E0-8CE0-496E-89D8-346A3077DED4}"/>
              </a:ext>
            </a:extLst>
          </p:cNvPr>
          <p:cNvSpPr>
            <a:spLocks noGrp="1"/>
          </p:cNvSpPr>
          <p:nvPr/>
        </p:nvSpPr>
        <p:spPr>
          <a:xfrm>
            <a:off x="3790950" y="5172075"/>
            <a:ext cx="1181100" cy="266700"/>
          </a:xfrm>
          <a:prstGeom prst="rect">
            <a:avLst/>
          </a:prstGeom>
          <a:noFill/>
          <a:ln w="0">
            <a:noFill/>
            <a:prstDash val="solid"/>
          </a:ln>
        </p:spPr>
        <p:txBody>
          <a:bodyPr wrap="square" lIns="0" tIns="0" rIns="0" bIns="0" anchor="t">
            <a:normAutofit/>
          </a:bodyPr>
          <a:lstStyle/>
          <a:p>
            <a:pPr algn="ctr">
              <a:defRPr sz="975" b="0" i="0">
                <a:solidFill>
                  <a:srgbClr val="B9C8D8"/>
                </a:solidFill>
                <a:latin typeface="Source Sans 3"/>
                <a:ea typeface="Source Sans 3"/>
                <a:cs typeface="Source Sans 3"/>
              </a:defRPr>
            </a:pPr>
            <a:r>
              <a:rPr sz="975" b="0" i="0">
                <a:solidFill>
                  <a:srgbClr val="B9C8D8"/>
                </a:solidFill>
                <a:latin typeface="Source Sans 3"/>
                <a:ea typeface="Source Sans 3"/>
                <a:cs typeface="Source Sans 3"/>
              </a:rPr>
              <a:t>Guide</a:t>
            </a:r>
          </a:p>
        </p:txBody>
      </p:sp>
      <p:sp>
        <p:nvSpPr>
          <p:cNvPr id="12" name="Oval 11">
            <a:extLst>
              <a:ext uri="{FF2B5EF4-FFF2-40B4-BE49-F238E27FC236}">
                <a16:creationId xmlns:a16="http://schemas.microsoft.com/office/drawing/2014/main" id="{38340B9A-0216-4843-B324-3E0C8AA3DD56}"/>
              </a:ext>
            </a:extLst>
          </p:cNvPr>
          <p:cNvSpPr>
            <a:spLocks noGrp="1"/>
          </p:cNvSpPr>
          <p:nvPr/>
        </p:nvSpPr>
        <p:spPr>
          <a:xfrm>
            <a:off x="6153150" y="4924425"/>
            <a:ext cx="171450" cy="171450"/>
          </a:xfrm>
          <a:prstGeom prst="ellipse">
            <a:avLst/>
          </a:prstGeom>
          <a:solidFill>
            <a:srgbClr val="087A55"/>
          </a:solidFill>
          <a:ln w="28575">
            <a:solidFill>
              <a:srgbClr val="0B1220"/>
            </a:solidFill>
            <a:prstDash val="solid"/>
          </a:ln>
        </p:spPr>
      </p:sp>
      <p:sp>
        <p:nvSpPr>
          <p:cNvPr id="13" name="Rectangle 12">
            <a:extLst>
              <a:ext uri="{FF2B5EF4-FFF2-40B4-BE49-F238E27FC236}">
                <a16:creationId xmlns:a16="http://schemas.microsoft.com/office/drawing/2014/main" id="{883E07A4-C316-4265-968C-7170D037DB78}"/>
              </a:ext>
            </a:extLst>
          </p:cNvPr>
          <p:cNvSpPr>
            <a:spLocks noGrp="1"/>
          </p:cNvSpPr>
          <p:nvPr/>
        </p:nvSpPr>
        <p:spPr>
          <a:xfrm>
            <a:off x="5648325" y="5172075"/>
            <a:ext cx="1181100" cy="266700"/>
          </a:xfrm>
          <a:prstGeom prst="rect">
            <a:avLst/>
          </a:prstGeom>
          <a:noFill/>
          <a:ln w="0">
            <a:noFill/>
            <a:prstDash val="solid"/>
          </a:ln>
        </p:spPr>
        <p:txBody>
          <a:bodyPr wrap="square" lIns="0" tIns="0" rIns="0" bIns="0" anchor="t">
            <a:normAutofit/>
          </a:bodyPr>
          <a:lstStyle/>
          <a:p>
            <a:pPr algn="ctr">
              <a:defRPr sz="975" b="0" i="0">
                <a:solidFill>
                  <a:srgbClr val="B9C8D8"/>
                </a:solidFill>
                <a:latin typeface="Source Sans 3"/>
                <a:ea typeface="Source Sans 3"/>
                <a:cs typeface="Source Sans 3"/>
              </a:defRPr>
            </a:pPr>
            <a:r>
              <a:rPr sz="975" b="0" i="0">
                <a:solidFill>
                  <a:srgbClr val="B9C8D8"/>
                </a:solidFill>
                <a:latin typeface="Source Sans 3"/>
                <a:ea typeface="Source Sans 3"/>
                <a:cs typeface="Source Sans 3"/>
              </a:rPr>
              <a:t>Board</a:t>
            </a:r>
          </a:p>
        </p:txBody>
      </p:sp>
      <p:sp>
        <p:nvSpPr>
          <p:cNvPr id="14" name="Rounded Rectangle 13">
            <a:extLst>
              <a:ext uri="{FF2B5EF4-FFF2-40B4-BE49-F238E27FC236}">
                <a16:creationId xmlns:a16="http://schemas.microsoft.com/office/drawing/2014/main" id="{4FC4241D-6392-41DD-BEEC-2E6E3DF0E786}"/>
              </a:ext>
            </a:extLst>
          </p:cNvPr>
          <p:cNvSpPr>
            <a:spLocks noGrp="1"/>
          </p:cNvSpPr>
          <p:nvPr/>
        </p:nvSpPr>
        <p:spPr>
          <a:xfrm>
            <a:off x="7762875" y="952500"/>
            <a:ext cx="3333750" cy="4476750"/>
          </a:xfrm>
          <a:prstGeom prst="roundRect">
            <a:avLst>
              <a:gd name="adj" fmla="val 8000"/>
            </a:avLst>
          </a:prstGeom>
          <a:solidFill>
            <a:srgbClr val="111B2E"/>
          </a:solidFill>
          <a:ln w="9525">
            <a:solidFill>
              <a:srgbClr val="28435E"/>
            </a:solidFill>
            <a:prstDash val="solid"/>
          </a:ln>
        </p:spPr>
        <p:style>
          <a:lnRef idx="0">
            <a:scrgbClr r="0" g="0" b="0"/>
          </a:lnRef>
          <a:fillRef idx="0">
            <a:scrgbClr r="0" g="0" b="0"/>
          </a:fillRef>
          <a:effectRef idx="7">
            <a:scrgbClr r="0" g="0" b="0"/>
          </a:effectRef>
          <a:fontRef idx="major"/>
        </p:style>
      </p:sp>
      <p:sp>
        <p:nvSpPr>
          <p:cNvPr id="15" name="Rounded Rectangle 14">
            <a:extLst>
              <a:ext uri="{FF2B5EF4-FFF2-40B4-BE49-F238E27FC236}">
                <a16:creationId xmlns:a16="http://schemas.microsoft.com/office/drawing/2014/main" id="{A6123519-2137-4C9B-A5C8-44D2AF9CE92A}"/>
              </a:ext>
            </a:extLst>
          </p:cNvPr>
          <p:cNvSpPr>
            <a:spLocks noGrp="1"/>
          </p:cNvSpPr>
          <p:nvPr/>
        </p:nvSpPr>
        <p:spPr>
          <a:xfrm>
            <a:off x="8096250" y="1285875"/>
            <a:ext cx="2667000" cy="2381250"/>
          </a:xfrm>
          <a:prstGeom prst="roundRect">
            <a:avLst>
              <a:gd name="adj" fmla="val 8800"/>
            </a:avLst>
          </a:prstGeom>
          <a:solidFill>
            <a:srgbClr val="F6F7F4"/>
          </a:solidFill>
          <a:ln w="0">
            <a:noFill/>
            <a:prstDash val="solid"/>
          </a:ln>
        </p:spPr>
      </p:sp>
      <p:sp>
        <p:nvSpPr>
          <p:cNvPr id="18" name="Rectangle 17">
            <a:extLst>
              <a:ext uri="{FF2B5EF4-FFF2-40B4-BE49-F238E27FC236}">
                <a16:creationId xmlns:a16="http://schemas.microsoft.com/office/drawing/2014/main" id="{DE7F8904-2078-40B1-BDA0-70686EBCC1DA}"/>
              </a:ext>
            </a:extLst>
          </p:cNvPr>
          <p:cNvSpPr>
            <a:spLocks noGrp="1"/>
          </p:cNvSpPr>
          <p:nvPr/>
        </p:nvSpPr>
        <p:spPr>
          <a:xfrm>
            <a:off x="7886700" y="2638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endParaRPr sz="975" b="0" i="0" dirty="0">
              <a:solidFill>
                <a:srgbClr val="5F6B7A"/>
              </a:solidFill>
              <a:latin typeface="Source Sans 3"/>
              <a:ea typeface="Source Sans 3"/>
              <a:cs typeface="Source Sans 3"/>
            </a:endParaRPr>
          </a:p>
        </p:txBody>
      </p:sp>
      <p:sp>
        <p:nvSpPr>
          <p:cNvPr id="20" name="Rectangle 19">
            <a:extLst>
              <a:ext uri="{FF2B5EF4-FFF2-40B4-BE49-F238E27FC236}">
                <a16:creationId xmlns:a16="http://schemas.microsoft.com/office/drawing/2014/main" id="{6233621D-9722-4D37-8001-E2F42A9EAC5B}"/>
              </a:ext>
            </a:extLst>
          </p:cNvPr>
          <p:cNvSpPr>
            <a:spLocks noGrp="1"/>
          </p:cNvSpPr>
          <p:nvPr/>
        </p:nvSpPr>
        <p:spPr>
          <a:xfrm>
            <a:off x="8839200" y="2638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endParaRPr sz="975" b="0" i="0" dirty="0">
              <a:solidFill>
                <a:srgbClr val="5F6B7A"/>
              </a:solidFill>
              <a:latin typeface="Source Sans 3"/>
              <a:ea typeface="Source Sans 3"/>
              <a:cs typeface="Source Sans 3"/>
            </a:endParaRPr>
          </a:p>
        </p:txBody>
      </p:sp>
      <p:sp>
        <p:nvSpPr>
          <p:cNvPr id="22" name="Rectangle 21">
            <a:extLst>
              <a:ext uri="{FF2B5EF4-FFF2-40B4-BE49-F238E27FC236}">
                <a16:creationId xmlns:a16="http://schemas.microsoft.com/office/drawing/2014/main" id="{C4A15632-142B-4AB2-BC82-F7B6F844537F}"/>
              </a:ext>
            </a:extLst>
          </p:cNvPr>
          <p:cNvSpPr>
            <a:spLocks noGrp="1"/>
          </p:cNvSpPr>
          <p:nvPr/>
        </p:nvSpPr>
        <p:spPr>
          <a:xfrm>
            <a:off x="9791700" y="2638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endParaRPr sz="975" b="0" i="0" dirty="0">
              <a:solidFill>
                <a:srgbClr val="5F6B7A"/>
              </a:solidFill>
              <a:latin typeface="Source Sans 3"/>
              <a:ea typeface="Source Sans 3"/>
              <a:cs typeface="Source Sans 3"/>
            </a:endParaRPr>
          </a:p>
        </p:txBody>
      </p:sp>
      <p:sp>
        <p:nvSpPr>
          <p:cNvPr id="23" name="Rectangle 22">
            <a:extLst>
              <a:ext uri="{FF2B5EF4-FFF2-40B4-BE49-F238E27FC236}">
                <a16:creationId xmlns:a16="http://schemas.microsoft.com/office/drawing/2014/main" id="{7AD65A1E-FD9F-407F-8556-BDED460AAFB7}"/>
              </a:ext>
            </a:extLst>
          </p:cNvPr>
          <p:cNvSpPr>
            <a:spLocks noGrp="1"/>
          </p:cNvSpPr>
          <p:nvPr/>
        </p:nvSpPr>
        <p:spPr>
          <a:xfrm>
            <a:off x="8172450" y="3962400"/>
            <a:ext cx="2514600" cy="342900"/>
          </a:xfrm>
          <a:prstGeom prst="rect">
            <a:avLst/>
          </a:prstGeom>
          <a:noFill/>
          <a:ln w="0">
            <a:noFill/>
            <a:prstDash val="solid"/>
          </a:ln>
        </p:spPr>
        <p:txBody>
          <a:bodyPr wrap="square" lIns="0" tIns="0" rIns="0" bIns="0" anchor="t">
            <a:normAutofit/>
          </a:bodyPr>
          <a:lstStyle/>
          <a:p>
            <a:pPr algn="ctr">
              <a:defRPr sz="1875" b="1" i="0">
                <a:solidFill>
                  <a:srgbClr val="FFFFFF"/>
                </a:solidFill>
                <a:latin typeface="Lexend"/>
                <a:ea typeface="Lexend"/>
                <a:cs typeface="Lexend"/>
              </a:defRPr>
            </a:pPr>
            <a:r>
              <a:rPr sz="1875" b="1" i="0">
                <a:solidFill>
                  <a:srgbClr val="FFFFFF"/>
                </a:solidFill>
                <a:latin typeface="Lexend"/>
                <a:ea typeface="Lexend"/>
                <a:cs typeface="Lexend"/>
              </a:rPr>
              <a:t>TRIPSYNC</a:t>
            </a:r>
          </a:p>
        </p:txBody>
      </p:sp>
      <p:sp>
        <p:nvSpPr>
          <p:cNvPr id="24" name="Rectangle 23">
            <a:extLst>
              <a:ext uri="{FF2B5EF4-FFF2-40B4-BE49-F238E27FC236}">
                <a16:creationId xmlns:a16="http://schemas.microsoft.com/office/drawing/2014/main" id="{E76AE93E-E843-4944-AFB3-827B71269545}"/>
              </a:ext>
            </a:extLst>
          </p:cNvPr>
          <p:cNvSpPr>
            <a:spLocks noGrp="1"/>
          </p:cNvSpPr>
          <p:nvPr/>
        </p:nvSpPr>
        <p:spPr>
          <a:xfrm>
            <a:off x="8172450" y="4352925"/>
            <a:ext cx="2514600" cy="266700"/>
          </a:xfrm>
          <a:prstGeom prst="rect">
            <a:avLst/>
          </a:prstGeom>
          <a:noFill/>
          <a:ln w="0">
            <a:noFill/>
            <a:prstDash val="solid"/>
          </a:ln>
        </p:spPr>
        <p:txBody>
          <a:bodyPr wrap="square" lIns="0" tIns="0" rIns="0" bIns="0" anchor="t">
            <a:normAutofit/>
          </a:bodyPr>
          <a:lstStyle/>
          <a:p>
            <a:pPr algn="ctr">
              <a:defRPr sz="1425" b="0" i="0">
                <a:solidFill>
                  <a:srgbClr val="C0CDDA"/>
                </a:solidFill>
                <a:latin typeface="Source Sans 3"/>
                <a:ea typeface="Source Sans 3"/>
                <a:cs typeface="Source Sans 3"/>
              </a:defRPr>
            </a:pPr>
            <a:r>
              <a:rPr sz="1425" b="0" i="0">
                <a:solidFill>
                  <a:srgbClr val="C0CDDA"/>
                </a:solidFill>
                <a:latin typeface="Source Sans 3"/>
                <a:ea typeface="Source Sans 3"/>
                <a:cs typeface="Source Sans 3"/>
              </a:rPr>
              <a:t>University of Mindanao</a:t>
            </a:r>
          </a:p>
        </p:txBody>
      </p:sp>
      <p:sp>
        <p:nvSpPr>
          <p:cNvPr id="25" name="Rectangle 24">
            <a:extLst>
              <a:ext uri="{FF2B5EF4-FFF2-40B4-BE49-F238E27FC236}">
                <a16:creationId xmlns:a16="http://schemas.microsoft.com/office/drawing/2014/main" id="{8EE91420-4E3C-40E8-8E5C-845D81BC137B}"/>
              </a:ext>
            </a:extLst>
          </p:cNvPr>
          <p:cNvSpPr>
            <a:spLocks noGrp="1"/>
          </p:cNvSpPr>
          <p:nvPr/>
        </p:nvSpPr>
        <p:spPr>
          <a:xfrm>
            <a:off x="8001000" y="4810125"/>
            <a:ext cx="2857500" cy="514350"/>
          </a:xfrm>
          <a:prstGeom prst="rect">
            <a:avLst/>
          </a:prstGeom>
          <a:noFill/>
          <a:ln w="0">
            <a:noFill/>
            <a:prstDash val="solid"/>
          </a:ln>
        </p:spPr>
        <p:txBody>
          <a:bodyPr wrap="square" lIns="0" tIns="0" rIns="0" bIns="0" anchor="t">
            <a:normAutofit/>
          </a:bodyPr>
          <a:lstStyle/>
          <a:p>
            <a:pPr algn="ctr">
              <a:defRPr sz="1125" b="0" i="0">
                <a:solidFill>
                  <a:srgbClr val="8FA5BA"/>
                </a:solidFill>
                <a:latin typeface="Source Sans 3"/>
                <a:ea typeface="Source Sans 3"/>
                <a:cs typeface="Source Sans 3"/>
              </a:defRPr>
            </a:pPr>
            <a:r>
              <a:rPr sz="1125" b="0" i="0">
                <a:solidFill>
                  <a:srgbClr val="8FA5BA"/>
                </a:solidFill>
                <a:latin typeface="Source Sans 3"/>
                <a:ea typeface="Source Sans 3"/>
                <a:cs typeface="Source Sans 3"/>
              </a:rPr>
              <a:t>Aaron Jalapon · John Benedict J. Bongcac</a:t>
            </a:r>
          </a:p>
          <a:p>
            <a:pPr algn="ctr">
              <a:defRPr sz="1125" b="0" i="0">
                <a:solidFill>
                  <a:srgbClr val="8FA5BA"/>
                </a:solidFill>
                <a:latin typeface="Source Sans 3"/>
                <a:ea typeface="Source Sans 3"/>
                <a:cs typeface="Source Sans 3"/>
              </a:defRPr>
            </a:pPr>
            <a:r>
              <a:rPr sz="1125" b="0" i="0">
                <a:solidFill>
                  <a:srgbClr val="8FA5BA"/>
                </a:solidFill>
                <a:latin typeface="Source Sans 3"/>
                <a:ea typeface="Source Sans 3"/>
                <a:cs typeface="Source Sans 3"/>
              </a:rPr>
              <a:t>Hazel Mae B. Fuerzas · Ana Mae M. Viduya</a:t>
            </a:r>
          </a:p>
        </p:txBody>
      </p:sp>
      <p:sp>
        <p:nvSpPr>
          <p:cNvPr id="26" name="Rectangle 25">
            <a:extLst>
              <a:ext uri="{FF2B5EF4-FFF2-40B4-BE49-F238E27FC236}">
                <a16:creationId xmlns:a16="http://schemas.microsoft.com/office/drawing/2014/main" id="{7F4812C2-EC54-4B2E-AE6F-C2135DFCC5AD}"/>
              </a:ext>
            </a:extLst>
          </p:cNvPr>
          <p:cNvSpPr>
            <a:spLocks noGrp="1"/>
          </p:cNvSpPr>
          <p:nvPr/>
        </p:nvSpPr>
        <p:spPr>
          <a:xfrm>
            <a:off x="590550" y="6210300"/>
            <a:ext cx="3048000" cy="209550"/>
          </a:xfrm>
          <a:prstGeom prst="rect">
            <a:avLst/>
          </a:prstGeom>
          <a:noFill/>
          <a:ln w="0">
            <a:noFill/>
            <a:prstDash val="solid"/>
          </a:ln>
        </p:spPr>
        <p:txBody>
          <a:bodyPr wrap="square" lIns="0" tIns="0" rIns="0" bIns="0" anchor="t">
            <a:normAutofit/>
          </a:bodyPr>
          <a:lstStyle/>
          <a:p>
            <a:pPr algn="l">
              <a:defRPr sz="1050" b="0" i="0">
                <a:solidFill>
                  <a:srgbClr val="8297AD"/>
                </a:solidFill>
                <a:latin typeface="Source Sans 3"/>
                <a:ea typeface="Source Sans 3"/>
                <a:cs typeface="Source Sans 3"/>
              </a:defRPr>
            </a:pPr>
            <a:endParaRPr sz="1050" b="0" i="0" dirty="0">
              <a:solidFill>
                <a:srgbClr val="8297AD"/>
              </a:solidFill>
              <a:latin typeface="Source Sans 3"/>
              <a:ea typeface="Source Sans 3"/>
              <a:cs typeface="Source Sans 3"/>
            </a:endParaRPr>
          </a:p>
        </p:txBody>
      </p:sp>
      <p:pic>
        <p:nvPicPr>
          <p:cNvPr id="55" name="Picture 54"/>
          <p:cNvPicPr>
            <a:picLocks noChangeAspect="1"/>
          </p:cNvPicPr>
          <p:nvPr/>
        </p:nvPicPr>
        <p:blipFill>
          <a:blip r:embed="rId3"/>
          <a:stretch/>
        </p:blipFill>
        <p:spPr>
          <a:xfrm>
            <a:off x="590550" y="457200"/>
            <a:ext cx="514350" cy="514350"/>
          </a:xfrm>
          <a:prstGeom prst="rect">
            <a:avLst/>
          </a:prstGeom>
        </p:spPr>
      </p:pic>
      <p:sp>
        <p:nvSpPr>
          <p:cNvPr id="28" name="Rectangle 27">
            <a:extLst>
              <a:ext uri="{FF2B5EF4-FFF2-40B4-BE49-F238E27FC236}">
                <a16:creationId xmlns:a16="http://schemas.microsoft.com/office/drawing/2014/main" id="{B5D93218-EF2C-4440-A007-F3D864A7E817}"/>
              </a:ext>
            </a:extLst>
          </p:cNvPr>
          <p:cNvSpPr>
            <a:spLocks noGrp="1"/>
          </p:cNvSpPr>
          <p:nvPr/>
        </p:nvSpPr>
        <p:spPr>
          <a:xfrm>
            <a:off x="1200150" y="476250"/>
            <a:ext cx="2000250" cy="381000"/>
          </a:xfrm>
          <a:prstGeom prst="rect">
            <a:avLst/>
          </a:prstGeom>
          <a:noFill/>
          <a:ln w="0">
            <a:noFill/>
            <a:prstDash val="solid"/>
          </a:ln>
        </p:spPr>
        <p:txBody>
          <a:bodyPr wrap="square" lIns="0" tIns="0" rIns="0" bIns="0" anchor="t">
            <a:normAutofit/>
          </a:bodyPr>
          <a:lstStyle/>
          <a:p>
            <a:pPr algn="l">
              <a:defRPr sz="2175" b="1" i="0">
                <a:solidFill>
                  <a:srgbClr val="FFFFFF"/>
                </a:solidFill>
                <a:latin typeface="Lexend"/>
                <a:ea typeface="Lexend"/>
                <a:cs typeface="Lexend"/>
              </a:defRPr>
            </a:pPr>
            <a:r>
              <a:rPr sz="2175" b="1" i="0">
                <a:solidFill>
                  <a:srgbClr val="FFFFFF"/>
                </a:solidFill>
                <a:latin typeface="Lexend"/>
                <a:ea typeface="Lexend"/>
                <a:cs typeface="Lexend"/>
              </a:rPr>
              <a:t>TripSync</a:t>
            </a:r>
          </a:p>
        </p:txBody>
      </p:sp>
      <p:pic>
        <p:nvPicPr>
          <p:cNvPr id="30" name="Picture 29">
            <a:extLst>
              <a:ext uri="{FF2B5EF4-FFF2-40B4-BE49-F238E27FC236}">
                <a16:creationId xmlns:a16="http://schemas.microsoft.com/office/drawing/2014/main" id="{4FA2010F-67DD-FD55-5F7E-3098502EC7BC}"/>
              </a:ext>
            </a:extLst>
          </p:cNvPr>
          <p:cNvPicPr>
            <a:picLocks noChangeAspect="1"/>
          </p:cNvPicPr>
          <p:nvPr/>
        </p:nvPicPr>
        <p:blipFill>
          <a:blip r:embed="rId3"/>
          <a:stretch/>
        </p:blipFill>
        <p:spPr>
          <a:xfrm>
            <a:off x="8262937" y="1309687"/>
            <a:ext cx="2333625" cy="2333625"/>
          </a:xfrm>
          <a:prstGeom prst="rect">
            <a:avLst/>
          </a:prstGeom>
        </p:spPr>
      </p:pic>
    </p:spTree>
    <p:extLst>
      <p:ext uri="{BB962C8B-B14F-4D97-AF65-F5344CB8AC3E}">
        <p14:creationId xmlns:p14="http://schemas.microsoft.com/office/powerpoint/2010/main" val="212925904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3" name="Rounded Rectangle 22">
            <a:extLst>
              <a:ext uri="{FF2B5EF4-FFF2-40B4-BE49-F238E27FC236}">
                <a16:creationId xmlns:a16="http://schemas.microsoft.com/office/drawing/2014/main" id="{B2BC3CD6-819B-41D1-9F2F-3B752DB4C8E7}"/>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HAZEL</a:t>
            </a:r>
          </a:p>
        </p:txBody>
      </p:sp>
      <p:sp>
        <p:nvSpPr>
          <p:cNvPr id="2" name="slide-3-title">
            <a:extLst>
              <a:ext uri="{FF2B5EF4-FFF2-40B4-BE49-F238E27FC236}">
                <a16:creationId xmlns:a16="http://schemas.microsoft.com/office/drawing/2014/main" id="{8CEE14C9-4F35-42D2-964C-EE8CAC066A51}"/>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Global public-transport impact</a:t>
            </a:r>
          </a:p>
        </p:txBody>
      </p:sp>
      <p:sp>
        <p:nvSpPr>
          <p:cNvPr id="3" name="Rectangle 2">
            <a:extLst>
              <a:ext uri="{FF2B5EF4-FFF2-40B4-BE49-F238E27FC236}">
                <a16:creationId xmlns:a16="http://schemas.microsoft.com/office/drawing/2014/main" id="{F881003F-10C4-4B63-AE01-6CCEF57299D1}"/>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One credible number. One clear implication.</a:t>
            </a:r>
          </a:p>
        </p:txBody>
      </p:sp>
      <p:sp>
        <p:nvSpPr>
          <p:cNvPr id="4" name="Rectangle 3">
            <a:extLst>
              <a:ext uri="{FF2B5EF4-FFF2-40B4-BE49-F238E27FC236}">
                <a16:creationId xmlns:a16="http://schemas.microsoft.com/office/drawing/2014/main" id="{FBDCD730-4085-4C4C-BACE-7351A42ED15C}"/>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endParaRPr sz="1125" b="1" i="0" dirty="0">
              <a:solidFill>
                <a:srgbClr val="8C98A8"/>
              </a:solidFill>
              <a:latin typeface="Lexend"/>
              <a:ea typeface="Lexend"/>
              <a:cs typeface="Lexend"/>
            </a:endParaRPr>
          </a:p>
        </p:txBody>
      </p:sp>
      <p:sp>
        <p:nvSpPr>
          <p:cNvPr id="5" name="Rounded Rectangle 4">
            <a:extLst>
              <a:ext uri="{FF2B5EF4-FFF2-40B4-BE49-F238E27FC236}">
                <a16:creationId xmlns:a16="http://schemas.microsoft.com/office/drawing/2014/main" id="{382DB562-16BC-4660-989D-62FBAE892D6D}"/>
              </a:ext>
            </a:extLst>
          </p:cNvPr>
          <p:cNvSpPr>
            <a:spLocks noGrp="1"/>
          </p:cNvSpPr>
          <p:nvPr/>
        </p:nvSpPr>
        <p:spPr>
          <a:xfrm>
            <a:off x="533400" y="1857375"/>
            <a:ext cx="4095750" cy="3733800"/>
          </a:xfrm>
          <a:prstGeom prst="roundRect">
            <a:avLst>
              <a:gd name="adj" fmla="val 6633"/>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6" name="Rectangle 5">
            <a:extLst>
              <a:ext uri="{FF2B5EF4-FFF2-40B4-BE49-F238E27FC236}">
                <a16:creationId xmlns:a16="http://schemas.microsoft.com/office/drawing/2014/main" id="{F50AFADE-EF73-4D62-8A8A-F154BFD0A9C0}"/>
              </a:ext>
            </a:extLst>
          </p:cNvPr>
          <p:cNvSpPr>
            <a:spLocks noGrp="1"/>
          </p:cNvSpPr>
          <p:nvPr/>
        </p:nvSpPr>
        <p:spPr>
          <a:xfrm>
            <a:off x="819150" y="2266950"/>
            <a:ext cx="3524250" cy="1104900"/>
          </a:xfrm>
          <a:prstGeom prst="rect">
            <a:avLst/>
          </a:prstGeom>
          <a:noFill/>
          <a:ln w="0">
            <a:noFill/>
            <a:prstDash val="solid"/>
          </a:ln>
        </p:spPr>
        <p:txBody>
          <a:bodyPr wrap="square" lIns="0" tIns="0" rIns="0" bIns="0" anchor="ctr">
            <a:normAutofit/>
          </a:bodyPr>
          <a:lstStyle/>
          <a:p>
            <a:pPr algn="ctr">
              <a:defRPr sz="5400" b="1" i="0">
                <a:solidFill>
                  <a:srgbClr val="175CD3"/>
                </a:solidFill>
                <a:latin typeface="Lexend"/>
                <a:ea typeface="Lexend"/>
                <a:cs typeface="Lexend"/>
              </a:defRPr>
            </a:pPr>
            <a:r>
              <a:rPr sz="5400" b="1" i="0">
                <a:solidFill>
                  <a:srgbClr val="175CD3"/>
                </a:solidFill>
                <a:latin typeface="Lexend"/>
                <a:ea typeface="Lexend"/>
                <a:cs typeface="Lexend"/>
              </a:rPr>
              <a:t>[ XX% ]</a:t>
            </a:r>
          </a:p>
        </p:txBody>
      </p:sp>
      <p:sp>
        <p:nvSpPr>
          <p:cNvPr id="7" name="Rectangle 6">
            <a:extLst>
              <a:ext uri="{FF2B5EF4-FFF2-40B4-BE49-F238E27FC236}">
                <a16:creationId xmlns:a16="http://schemas.microsoft.com/office/drawing/2014/main" id="{B4633894-3BFD-4493-9D08-0BD35AC5322D}"/>
              </a:ext>
            </a:extLst>
          </p:cNvPr>
          <p:cNvSpPr>
            <a:spLocks noGrp="1"/>
          </p:cNvSpPr>
          <p:nvPr/>
        </p:nvSpPr>
        <p:spPr>
          <a:xfrm>
            <a:off x="1009650" y="3448050"/>
            <a:ext cx="3143250" cy="295275"/>
          </a:xfrm>
          <a:prstGeom prst="rect">
            <a:avLst/>
          </a:prstGeom>
          <a:noFill/>
          <a:ln w="0">
            <a:noFill/>
            <a:prstDash val="solid"/>
          </a:ln>
        </p:spPr>
        <p:txBody>
          <a:bodyPr wrap="square" lIns="0" tIns="0" rIns="0" bIns="0" anchor="t">
            <a:normAutofit/>
          </a:bodyPr>
          <a:lstStyle/>
          <a:p>
            <a:pPr algn="ctr">
              <a:defRPr sz="1650" b="1" i="0">
                <a:solidFill>
                  <a:srgbClr val="132238"/>
                </a:solidFill>
                <a:latin typeface="Lexend"/>
                <a:ea typeface="Lexend"/>
                <a:cs typeface="Lexend"/>
              </a:defRPr>
            </a:pPr>
            <a:r>
              <a:rPr sz="1650" b="1" i="0">
                <a:solidFill>
                  <a:srgbClr val="132238"/>
                </a:solidFill>
                <a:latin typeface="Lexend"/>
                <a:ea typeface="Lexend"/>
                <a:cs typeface="Lexend"/>
              </a:rPr>
              <a:t>Headline percentage</a:t>
            </a:r>
          </a:p>
        </p:txBody>
      </p:sp>
      <p:sp>
        <p:nvSpPr>
          <p:cNvPr id="8" name="Rectangle 7">
            <a:extLst>
              <a:ext uri="{FF2B5EF4-FFF2-40B4-BE49-F238E27FC236}">
                <a16:creationId xmlns:a16="http://schemas.microsoft.com/office/drawing/2014/main" id="{97F7D5E2-6454-4975-AABE-FE39DFBE4A57}"/>
              </a:ext>
            </a:extLst>
          </p:cNvPr>
          <p:cNvSpPr>
            <a:spLocks noGrp="1"/>
          </p:cNvSpPr>
          <p:nvPr/>
        </p:nvSpPr>
        <p:spPr>
          <a:xfrm>
            <a:off x="895350" y="3924300"/>
            <a:ext cx="3333750" cy="800100"/>
          </a:xfrm>
          <a:prstGeom prst="rect">
            <a:avLst/>
          </a:prstGeom>
          <a:noFill/>
          <a:ln w="0">
            <a:noFill/>
            <a:prstDash val="solid"/>
          </a:ln>
        </p:spPr>
        <p:txBody>
          <a:bodyPr wrap="square" lIns="0" tIns="0" rIns="0" bIns="0" anchor="t">
            <a:normAutofit/>
          </a:bodyPr>
          <a:lstStyle/>
          <a:p>
            <a:pPr algn="ctr">
              <a:defRPr sz="1425" b="0" i="0">
                <a:solidFill>
                  <a:srgbClr val="5F6B7A"/>
                </a:solidFill>
                <a:latin typeface="Source Sans 3"/>
                <a:ea typeface="Source Sans 3"/>
                <a:cs typeface="Source Sans 3"/>
              </a:defRPr>
            </a:pPr>
            <a:r>
              <a:rPr sz="1425" b="0" i="0">
                <a:solidFill>
                  <a:srgbClr val="5F6B7A"/>
                </a:solidFill>
                <a:latin typeface="Source Sans 3"/>
                <a:ea typeface="Source Sans 3"/>
                <a:cs typeface="Source Sans 3"/>
              </a:rPr>
              <a:t>State exactly what the percentage measures and the population or geography it covers.</a:t>
            </a:r>
          </a:p>
        </p:txBody>
      </p:sp>
      <p:sp>
        <p:nvSpPr>
          <p:cNvPr id="9" name="Rectangle 8">
            <a:extLst>
              <a:ext uri="{FF2B5EF4-FFF2-40B4-BE49-F238E27FC236}">
                <a16:creationId xmlns:a16="http://schemas.microsoft.com/office/drawing/2014/main" id="{8F94D354-23E7-4D8F-AB15-D4E86F3302FF}"/>
              </a:ext>
            </a:extLst>
          </p:cNvPr>
          <p:cNvSpPr>
            <a:spLocks noGrp="1"/>
          </p:cNvSpPr>
          <p:nvPr/>
        </p:nvSpPr>
        <p:spPr>
          <a:xfrm>
            <a:off x="952500" y="5019675"/>
            <a:ext cx="3219450" cy="228600"/>
          </a:xfrm>
          <a:prstGeom prst="rect">
            <a:avLst/>
          </a:prstGeom>
          <a:noFill/>
          <a:ln w="0">
            <a:noFill/>
            <a:prstDash val="solid"/>
          </a:ln>
        </p:spPr>
        <p:txBody>
          <a:bodyPr wrap="square" lIns="0" tIns="0" rIns="0" bIns="0" anchor="t">
            <a:normAutofit/>
          </a:bodyPr>
          <a:lstStyle/>
          <a:p>
            <a:pPr algn="ctr">
              <a:defRPr sz="1050" b="0" i="0">
                <a:solidFill>
                  <a:srgbClr val="8A96A5"/>
                </a:solidFill>
                <a:latin typeface="Source Sans 3"/>
                <a:ea typeface="Source Sans 3"/>
                <a:cs typeface="Source Sans 3"/>
              </a:defRPr>
            </a:pPr>
            <a:r>
              <a:rPr sz="1050" b="0" i="0">
                <a:solidFill>
                  <a:srgbClr val="8A96A5"/>
                </a:solidFill>
                <a:latin typeface="Source Sans 3"/>
                <a:ea typeface="Source Sans 3"/>
                <a:cs typeface="Source Sans 3"/>
              </a:rPr>
              <a:t>Source · publication date · page or URL</a:t>
            </a:r>
          </a:p>
        </p:txBody>
      </p:sp>
      <p:sp>
        <p:nvSpPr>
          <p:cNvPr id="10" name="Rounded Rectangle 9">
            <a:extLst>
              <a:ext uri="{FF2B5EF4-FFF2-40B4-BE49-F238E27FC236}">
                <a16:creationId xmlns:a16="http://schemas.microsoft.com/office/drawing/2014/main" id="{3935B5E8-8939-4D40-A81C-F825EBDA26E8}"/>
              </a:ext>
            </a:extLst>
          </p:cNvPr>
          <p:cNvSpPr>
            <a:spLocks noGrp="1"/>
          </p:cNvSpPr>
          <p:nvPr/>
        </p:nvSpPr>
        <p:spPr>
          <a:xfrm>
            <a:off x="4972050" y="1857375"/>
            <a:ext cx="6686550" cy="3733800"/>
          </a:xfrm>
          <a:prstGeom prst="roundRect">
            <a:avLst>
              <a:gd name="adj" fmla="val 4592"/>
            </a:avLst>
          </a:prstGeom>
          <a:solidFill>
            <a:srgbClr val="FFF7ED"/>
          </a:solidFill>
          <a:ln w="9525">
            <a:solidFill>
              <a:srgbClr val="FDBA74"/>
            </a:solidFill>
            <a:prstDash val="solid"/>
          </a:ln>
        </p:spPr>
      </p:sp>
      <p:sp>
        <p:nvSpPr>
          <p:cNvPr id="11" name="Rounded Rectangle 10">
            <a:extLst>
              <a:ext uri="{FF2B5EF4-FFF2-40B4-BE49-F238E27FC236}">
                <a16:creationId xmlns:a16="http://schemas.microsoft.com/office/drawing/2014/main" id="{883FA26E-9A1C-43F6-AC8F-FF50067CBFD0}"/>
              </a:ext>
            </a:extLst>
          </p:cNvPr>
          <p:cNvSpPr>
            <a:spLocks noGrp="1"/>
          </p:cNvSpPr>
          <p:nvPr/>
        </p:nvSpPr>
        <p:spPr>
          <a:xfrm>
            <a:off x="5162550" y="2028825"/>
            <a:ext cx="20002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OWNER INPUT REQUIRED</a:t>
            </a:r>
          </a:p>
        </p:txBody>
      </p:sp>
      <p:sp>
        <p:nvSpPr>
          <p:cNvPr id="12" name="Rectangle 11">
            <a:extLst>
              <a:ext uri="{FF2B5EF4-FFF2-40B4-BE49-F238E27FC236}">
                <a16:creationId xmlns:a16="http://schemas.microsoft.com/office/drawing/2014/main" id="{EE837694-DC54-4EB2-9135-559BAC2D6647}"/>
              </a:ext>
            </a:extLst>
          </p:cNvPr>
          <p:cNvSpPr>
            <a:spLocks noGrp="1"/>
          </p:cNvSpPr>
          <p:nvPr/>
        </p:nvSpPr>
        <p:spPr>
          <a:xfrm>
            <a:off x="5181600" y="2409825"/>
            <a:ext cx="6267450" cy="295275"/>
          </a:xfrm>
          <a:prstGeom prst="rect">
            <a:avLst/>
          </a:prstGeom>
          <a:noFill/>
          <a:ln w="0">
            <a:noFill/>
            <a:prstDash val="solid"/>
          </a:ln>
        </p:spPr>
        <p:txBody>
          <a:bodyPr wrap="square" lIns="0" tIns="0" rIns="0" bIns="0" anchor="t">
            <a:normAutofit/>
          </a:bodyPr>
          <a:lstStyle/>
          <a:p>
            <a:pPr algn="l">
              <a:defRPr sz="1500" b="1" i="0">
                <a:solidFill>
                  <a:srgbClr val="132238"/>
                </a:solidFill>
                <a:latin typeface="Lexend"/>
                <a:ea typeface="Lexend"/>
                <a:cs typeface="Lexend"/>
              </a:defRPr>
            </a:pPr>
            <a:r>
              <a:rPr sz="1500" b="1" i="0">
                <a:solidFill>
                  <a:srgbClr val="132238"/>
                </a:solidFill>
                <a:latin typeface="Lexend"/>
                <a:ea typeface="Lexend"/>
                <a:cs typeface="Lexend"/>
              </a:rPr>
              <a:t>Hazel to provide</a:t>
            </a:r>
          </a:p>
        </p:txBody>
      </p:sp>
      <p:sp>
        <p:nvSpPr>
          <p:cNvPr id="13" name="Oval 12">
            <a:extLst>
              <a:ext uri="{FF2B5EF4-FFF2-40B4-BE49-F238E27FC236}">
                <a16:creationId xmlns:a16="http://schemas.microsoft.com/office/drawing/2014/main" id="{3E792CB5-9C1B-45DC-8C36-D4DA0855F5A4}"/>
              </a:ext>
            </a:extLst>
          </p:cNvPr>
          <p:cNvSpPr>
            <a:spLocks noGrp="1"/>
          </p:cNvSpPr>
          <p:nvPr/>
        </p:nvSpPr>
        <p:spPr>
          <a:xfrm>
            <a:off x="5200650" y="2876550"/>
            <a:ext cx="76200" cy="76200"/>
          </a:xfrm>
          <a:prstGeom prst="ellipse">
            <a:avLst/>
          </a:prstGeom>
          <a:solidFill>
            <a:srgbClr val="F97316"/>
          </a:solidFill>
          <a:ln w="0">
            <a:noFill/>
            <a:prstDash val="solid"/>
          </a:ln>
        </p:spPr>
      </p:sp>
      <p:sp>
        <p:nvSpPr>
          <p:cNvPr id="14" name="Rectangle 13">
            <a:extLst>
              <a:ext uri="{FF2B5EF4-FFF2-40B4-BE49-F238E27FC236}">
                <a16:creationId xmlns:a16="http://schemas.microsoft.com/office/drawing/2014/main" id="{470CA60B-5CF8-448A-94B6-3235A7064DC2}"/>
              </a:ext>
            </a:extLst>
          </p:cNvPr>
          <p:cNvSpPr>
            <a:spLocks noGrp="1"/>
          </p:cNvSpPr>
          <p:nvPr/>
        </p:nvSpPr>
        <p:spPr>
          <a:xfrm>
            <a:off x="5391150" y="2809875"/>
            <a:ext cx="603885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One global comparison visual with labeled units</a:t>
            </a:r>
          </a:p>
        </p:txBody>
      </p:sp>
      <p:sp>
        <p:nvSpPr>
          <p:cNvPr id="15" name="Oval 14">
            <a:extLst>
              <a:ext uri="{FF2B5EF4-FFF2-40B4-BE49-F238E27FC236}">
                <a16:creationId xmlns:a16="http://schemas.microsoft.com/office/drawing/2014/main" id="{6FC9EEB4-79AC-4EAC-8E44-4B78447DB617}"/>
              </a:ext>
            </a:extLst>
          </p:cNvPr>
          <p:cNvSpPr>
            <a:spLocks noGrp="1"/>
          </p:cNvSpPr>
          <p:nvPr/>
        </p:nvSpPr>
        <p:spPr>
          <a:xfrm>
            <a:off x="5200650" y="3286125"/>
            <a:ext cx="76200" cy="76200"/>
          </a:xfrm>
          <a:prstGeom prst="ellipse">
            <a:avLst/>
          </a:prstGeom>
          <a:solidFill>
            <a:srgbClr val="F97316"/>
          </a:solidFill>
          <a:ln w="0">
            <a:noFill/>
            <a:prstDash val="solid"/>
          </a:ln>
        </p:spPr>
      </p:sp>
      <p:sp>
        <p:nvSpPr>
          <p:cNvPr id="16" name="Rectangle 15">
            <a:extLst>
              <a:ext uri="{FF2B5EF4-FFF2-40B4-BE49-F238E27FC236}">
                <a16:creationId xmlns:a16="http://schemas.microsoft.com/office/drawing/2014/main" id="{7A1AC05C-F111-42B9-841C-49AFED26592E}"/>
              </a:ext>
            </a:extLst>
          </p:cNvPr>
          <p:cNvSpPr>
            <a:spLocks noGrp="1"/>
          </p:cNvSpPr>
          <p:nvPr/>
        </p:nvSpPr>
        <p:spPr>
          <a:xfrm>
            <a:off x="5391150" y="3219450"/>
            <a:ext cx="603885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A plain-language interpretation of the number</a:t>
            </a:r>
          </a:p>
        </p:txBody>
      </p:sp>
      <p:sp>
        <p:nvSpPr>
          <p:cNvPr id="17" name="Oval 16">
            <a:extLst>
              <a:ext uri="{FF2B5EF4-FFF2-40B4-BE49-F238E27FC236}">
                <a16:creationId xmlns:a16="http://schemas.microsoft.com/office/drawing/2014/main" id="{5E8FD3BB-8DB2-44EB-AD76-49B9597AC05F}"/>
              </a:ext>
            </a:extLst>
          </p:cNvPr>
          <p:cNvSpPr>
            <a:spLocks noGrp="1"/>
          </p:cNvSpPr>
          <p:nvPr/>
        </p:nvSpPr>
        <p:spPr>
          <a:xfrm>
            <a:off x="5200650" y="3695700"/>
            <a:ext cx="76200" cy="76200"/>
          </a:xfrm>
          <a:prstGeom prst="ellipse">
            <a:avLst/>
          </a:prstGeom>
          <a:solidFill>
            <a:srgbClr val="F97316"/>
          </a:solidFill>
          <a:ln w="0">
            <a:noFill/>
            <a:prstDash val="solid"/>
          </a:ln>
        </p:spPr>
      </p:sp>
      <p:sp>
        <p:nvSpPr>
          <p:cNvPr id="18" name="Rectangle 17">
            <a:extLst>
              <a:ext uri="{FF2B5EF4-FFF2-40B4-BE49-F238E27FC236}">
                <a16:creationId xmlns:a16="http://schemas.microsoft.com/office/drawing/2014/main" id="{CF3928EE-7605-4C7D-9C28-44D072AB62C8}"/>
              </a:ext>
            </a:extLst>
          </p:cNvPr>
          <p:cNvSpPr>
            <a:spLocks noGrp="1"/>
          </p:cNvSpPr>
          <p:nvPr/>
        </p:nvSpPr>
        <p:spPr>
          <a:xfrm>
            <a:off x="5391150" y="3629025"/>
            <a:ext cx="603885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Authoritative source and publication date</a:t>
            </a:r>
          </a:p>
        </p:txBody>
      </p:sp>
      <p:sp>
        <p:nvSpPr>
          <p:cNvPr id="19" name="Oval 18">
            <a:extLst>
              <a:ext uri="{FF2B5EF4-FFF2-40B4-BE49-F238E27FC236}">
                <a16:creationId xmlns:a16="http://schemas.microsoft.com/office/drawing/2014/main" id="{28EE71C6-59D1-4E56-83B2-DEAE2A2B414F}"/>
              </a:ext>
            </a:extLst>
          </p:cNvPr>
          <p:cNvSpPr>
            <a:spLocks noGrp="1"/>
          </p:cNvSpPr>
          <p:nvPr/>
        </p:nvSpPr>
        <p:spPr>
          <a:xfrm>
            <a:off x="5200650" y="4105275"/>
            <a:ext cx="76200" cy="76200"/>
          </a:xfrm>
          <a:prstGeom prst="ellipse">
            <a:avLst/>
          </a:prstGeom>
          <a:solidFill>
            <a:srgbClr val="F97316"/>
          </a:solidFill>
          <a:ln w="0">
            <a:noFill/>
            <a:prstDash val="solid"/>
          </a:ln>
        </p:spPr>
      </p:sp>
      <p:sp>
        <p:nvSpPr>
          <p:cNvPr id="20" name="Rectangle 19">
            <a:extLst>
              <a:ext uri="{FF2B5EF4-FFF2-40B4-BE49-F238E27FC236}">
                <a16:creationId xmlns:a16="http://schemas.microsoft.com/office/drawing/2014/main" id="{54258BEC-2548-434F-80E4-466BB9C7693A}"/>
              </a:ext>
            </a:extLst>
          </p:cNvPr>
          <p:cNvSpPr>
            <a:spLocks noGrp="1"/>
          </p:cNvSpPr>
          <p:nvPr/>
        </p:nvSpPr>
        <p:spPr>
          <a:xfrm>
            <a:off x="5391150" y="4038600"/>
            <a:ext cx="603885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One sentence the judges should remember</a:t>
            </a:r>
          </a:p>
        </p:txBody>
      </p:sp>
      <p:sp>
        <p:nvSpPr>
          <p:cNvPr id="21" name="Straight Connector 20">
            <a:extLst>
              <a:ext uri="{FF2B5EF4-FFF2-40B4-BE49-F238E27FC236}">
                <a16:creationId xmlns:a16="http://schemas.microsoft.com/office/drawing/2014/main" id="{E888F020-9056-4790-A6D8-59F1B2D088A6}"/>
              </a:ext>
            </a:extLst>
          </p:cNvPr>
          <p:cNvSpPr>
            <a:spLocks noGrp="1"/>
          </p:cNvSpPr>
          <p:nvPr/>
        </p:nvSpPr>
        <p:spPr>
          <a:xfrm>
            <a:off x="533400" y="6477000"/>
            <a:ext cx="11125200" cy="0"/>
          </a:xfrm>
          <a:prstGeom prst="line">
            <a:avLst/>
          </a:prstGeom>
          <a:noFill/>
          <a:ln w="9525">
            <a:solidFill>
              <a:srgbClr val="D8DEE8"/>
            </a:solidFill>
            <a:prstDash val="solid"/>
          </a:ln>
        </p:spPr>
      </p:sp>
      <p:sp>
        <p:nvSpPr>
          <p:cNvPr id="22" name="Rectangle 21">
            <a:extLst>
              <a:ext uri="{FF2B5EF4-FFF2-40B4-BE49-F238E27FC236}">
                <a16:creationId xmlns:a16="http://schemas.microsoft.com/office/drawing/2014/main" id="{72A5C740-1059-4469-B833-49C0315C006F}"/>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Owner-input shell · No statistic inserted without Hazel’s verified source</a:t>
            </a:r>
          </a:p>
        </p:txBody>
      </p:sp>
    </p:spTree>
    <p:extLst>
      <p:ext uri="{BB962C8B-B14F-4D97-AF65-F5344CB8AC3E}">
        <p14:creationId xmlns:p14="http://schemas.microsoft.com/office/powerpoint/2010/main" val="2135228866"/>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8" name="Rounded Rectangle 37">
            <a:extLst>
              <a:ext uri="{FF2B5EF4-FFF2-40B4-BE49-F238E27FC236}">
                <a16:creationId xmlns:a16="http://schemas.microsoft.com/office/drawing/2014/main" id="{1C3E2DB7-3FE7-43E6-A5E7-AEAC01A7E86D}"/>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BEN</a:t>
            </a:r>
          </a:p>
        </p:txBody>
      </p:sp>
      <p:sp>
        <p:nvSpPr>
          <p:cNvPr id="2" name="slide-4-title">
            <a:extLst>
              <a:ext uri="{FF2B5EF4-FFF2-40B4-BE49-F238E27FC236}">
                <a16:creationId xmlns:a16="http://schemas.microsoft.com/office/drawing/2014/main" id="{B2F4AC00-C6C9-4EF5-BC66-728E4C4C4B07}"/>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The Philippine transportation problem</a:t>
            </a:r>
          </a:p>
        </p:txBody>
      </p:sp>
      <p:sp>
        <p:nvSpPr>
          <p:cNvPr id="3" name="Rectangle 2">
            <a:extLst>
              <a:ext uri="{FF2B5EF4-FFF2-40B4-BE49-F238E27FC236}">
                <a16:creationId xmlns:a16="http://schemas.microsoft.com/office/drawing/2014/main" id="{65147145-612C-4941-9A5A-7F3FFE96EEC5}"/>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Make the local operating problem visible before introducing the product.</a:t>
            </a:r>
          </a:p>
        </p:txBody>
      </p:sp>
      <p:sp>
        <p:nvSpPr>
          <p:cNvPr id="4" name="Rectangle 3">
            <a:extLst>
              <a:ext uri="{FF2B5EF4-FFF2-40B4-BE49-F238E27FC236}">
                <a16:creationId xmlns:a16="http://schemas.microsoft.com/office/drawing/2014/main" id="{E4F0712A-AA4E-4E80-8153-67C2BCC52169}"/>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endParaRPr sz="1125" b="1" i="0" dirty="0">
              <a:solidFill>
                <a:srgbClr val="8C98A8"/>
              </a:solidFill>
              <a:latin typeface="Lexend"/>
              <a:ea typeface="Lexend"/>
              <a:cs typeface="Lexend"/>
            </a:endParaRPr>
          </a:p>
        </p:txBody>
      </p:sp>
      <p:sp>
        <p:nvSpPr>
          <p:cNvPr id="5" name="Rectangle 4">
            <a:extLst>
              <a:ext uri="{FF2B5EF4-FFF2-40B4-BE49-F238E27FC236}">
                <a16:creationId xmlns:a16="http://schemas.microsoft.com/office/drawing/2014/main" id="{B1841913-9D69-4A42-B261-3DC1585FD237}"/>
              </a:ext>
            </a:extLst>
          </p:cNvPr>
          <p:cNvSpPr>
            <a:spLocks noGrp="1"/>
          </p:cNvSpPr>
          <p:nvPr/>
        </p:nvSpPr>
        <p:spPr>
          <a:xfrm>
            <a:off x="533400" y="1847850"/>
            <a:ext cx="3619500" cy="323850"/>
          </a:xfrm>
          <a:prstGeom prst="rect">
            <a:avLst/>
          </a:prstGeom>
          <a:noFill/>
          <a:ln w="0">
            <a:noFill/>
            <a:prstDash val="solid"/>
          </a:ln>
        </p:spPr>
        <p:txBody>
          <a:bodyPr wrap="square" lIns="0" tIns="0" rIns="0" bIns="0" anchor="t">
            <a:normAutofit/>
          </a:bodyPr>
          <a:lstStyle/>
          <a:p>
            <a:pPr algn="l">
              <a:defRPr sz="1650" b="1" i="0">
                <a:solidFill>
                  <a:srgbClr val="132238"/>
                </a:solidFill>
                <a:latin typeface="Lexend"/>
                <a:ea typeface="Lexend"/>
                <a:cs typeface="Lexend"/>
              </a:defRPr>
            </a:pPr>
            <a:r>
              <a:rPr sz="1650" b="1" i="0">
                <a:solidFill>
                  <a:srgbClr val="132238"/>
                </a:solidFill>
                <a:latin typeface="Lexend"/>
                <a:ea typeface="Lexend"/>
                <a:cs typeface="Lexend"/>
              </a:rPr>
              <a:t>Three local pain points</a:t>
            </a:r>
          </a:p>
        </p:txBody>
      </p:sp>
      <p:sp>
        <p:nvSpPr>
          <p:cNvPr id="6" name="Rounded Rectangle 5">
            <a:extLst>
              <a:ext uri="{FF2B5EF4-FFF2-40B4-BE49-F238E27FC236}">
                <a16:creationId xmlns:a16="http://schemas.microsoft.com/office/drawing/2014/main" id="{276062AB-DD9D-458E-BDA0-CE37FF6E5CBF}"/>
              </a:ext>
            </a:extLst>
          </p:cNvPr>
          <p:cNvSpPr>
            <a:spLocks noGrp="1"/>
          </p:cNvSpPr>
          <p:nvPr/>
        </p:nvSpPr>
        <p:spPr>
          <a:xfrm>
            <a:off x="533400" y="2343150"/>
            <a:ext cx="4953000" cy="800100"/>
          </a:xfrm>
          <a:prstGeom prst="roundRect">
            <a:avLst>
              <a:gd name="adj" fmla="val 19048"/>
            </a:avLst>
          </a:prstGeom>
          <a:solidFill>
            <a:srgbClr val="FFFFFF"/>
          </a:solidFill>
          <a:ln w="9525">
            <a:solidFill>
              <a:srgbClr val="D8DEE8"/>
            </a:solidFill>
            <a:prstDash val="solid"/>
          </a:ln>
        </p:spPr>
      </p:sp>
      <p:sp>
        <p:nvSpPr>
          <p:cNvPr id="7" name="Oval 6">
            <a:extLst>
              <a:ext uri="{FF2B5EF4-FFF2-40B4-BE49-F238E27FC236}">
                <a16:creationId xmlns:a16="http://schemas.microsoft.com/office/drawing/2014/main" id="{BFE3A1F2-7784-40B5-8EEC-DCFB1F28BA8E}"/>
              </a:ext>
            </a:extLst>
          </p:cNvPr>
          <p:cNvSpPr>
            <a:spLocks noGrp="1"/>
          </p:cNvSpPr>
          <p:nvPr/>
        </p:nvSpPr>
        <p:spPr>
          <a:xfrm>
            <a:off x="742950" y="2562225"/>
            <a:ext cx="361950" cy="361950"/>
          </a:xfrm>
          <a:prstGeom prst="ellipse">
            <a:avLst/>
          </a:prstGeom>
          <a:solidFill>
            <a:srgbClr val="EAF1FF"/>
          </a:solidFill>
          <a:ln w="9525">
            <a:solidFill>
              <a:srgbClr val="C8D9FF"/>
            </a:solidFill>
            <a:prstDash val="solid"/>
          </a:ln>
        </p:spPr>
      </p:sp>
      <p:sp>
        <p:nvSpPr>
          <p:cNvPr id="8" name="Rectangle 7">
            <a:extLst>
              <a:ext uri="{FF2B5EF4-FFF2-40B4-BE49-F238E27FC236}">
                <a16:creationId xmlns:a16="http://schemas.microsoft.com/office/drawing/2014/main" id="{2091948F-618E-46C2-A197-24D44D4F5A85}"/>
              </a:ext>
            </a:extLst>
          </p:cNvPr>
          <p:cNvSpPr>
            <a:spLocks noGrp="1"/>
          </p:cNvSpPr>
          <p:nvPr/>
        </p:nvSpPr>
        <p:spPr>
          <a:xfrm>
            <a:off x="742950" y="2609850"/>
            <a:ext cx="361950" cy="238125"/>
          </a:xfrm>
          <a:prstGeom prst="rect">
            <a:avLst/>
          </a:prstGeom>
          <a:noFill/>
          <a:ln w="0">
            <a:noFill/>
            <a:prstDash val="solid"/>
          </a:ln>
        </p:spPr>
        <p:txBody>
          <a:bodyPr wrap="square" lIns="0" tIns="0" rIns="0" bIns="0" anchor="t">
            <a:normAutofit/>
          </a:bodyPr>
          <a:lstStyle/>
          <a:p>
            <a:pPr algn="ctr">
              <a:defRPr sz="1275" b="1" i="0">
                <a:solidFill>
                  <a:srgbClr val="175CD3"/>
                </a:solidFill>
                <a:latin typeface="Lexend"/>
                <a:ea typeface="Lexend"/>
                <a:cs typeface="Lexend"/>
              </a:defRPr>
            </a:pPr>
            <a:r>
              <a:rPr sz="1275" b="1" i="0">
                <a:solidFill>
                  <a:srgbClr val="175CD3"/>
                </a:solidFill>
                <a:latin typeface="Lexend"/>
                <a:ea typeface="Lexend"/>
                <a:cs typeface="Lexend"/>
              </a:rPr>
              <a:t>1</a:t>
            </a:r>
          </a:p>
        </p:txBody>
      </p:sp>
      <p:sp>
        <p:nvSpPr>
          <p:cNvPr id="9" name="Rectangle 8">
            <a:extLst>
              <a:ext uri="{FF2B5EF4-FFF2-40B4-BE49-F238E27FC236}">
                <a16:creationId xmlns:a16="http://schemas.microsoft.com/office/drawing/2014/main" id="{388DB517-1C86-433C-9431-CFE27C5C2023}"/>
              </a:ext>
            </a:extLst>
          </p:cNvPr>
          <p:cNvSpPr>
            <a:spLocks noGrp="1"/>
          </p:cNvSpPr>
          <p:nvPr/>
        </p:nvSpPr>
        <p:spPr>
          <a:xfrm>
            <a:off x="1276350" y="2514600"/>
            <a:ext cx="3810000" cy="247650"/>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 PAIN POINT 01 ]</a:t>
            </a:r>
          </a:p>
        </p:txBody>
      </p:sp>
      <p:sp>
        <p:nvSpPr>
          <p:cNvPr id="10" name="Rectangle 9">
            <a:extLst>
              <a:ext uri="{FF2B5EF4-FFF2-40B4-BE49-F238E27FC236}">
                <a16:creationId xmlns:a16="http://schemas.microsoft.com/office/drawing/2014/main" id="{C621F0ED-F869-4362-A298-645D23A9531E}"/>
              </a:ext>
            </a:extLst>
          </p:cNvPr>
          <p:cNvSpPr>
            <a:spLocks noGrp="1"/>
          </p:cNvSpPr>
          <p:nvPr/>
        </p:nvSpPr>
        <p:spPr>
          <a:xfrm>
            <a:off x="1276350" y="2800350"/>
            <a:ext cx="3810000" cy="200025"/>
          </a:xfrm>
          <a:prstGeom prst="rect">
            <a:avLst/>
          </a:prstGeom>
          <a:noFill/>
          <a:ln w="0">
            <a:noFill/>
            <a:prstDash val="solid"/>
          </a:ln>
        </p:spPr>
        <p:txBody>
          <a:bodyPr wrap="square" lIns="0" tIns="0" rIns="0" bIns="0" anchor="t">
            <a:normAutofit/>
          </a:bodyPr>
          <a:lstStyle/>
          <a:p>
            <a:pPr algn="l">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Describe the passenger or operator consequence.</a:t>
            </a:r>
          </a:p>
        </p:txBody>
      </p:sp>
      <p:sp>
        <p:nvSpPr>
          <p:cNvPr id="11" name="Rounded Rectangle 10">
            <a:extLst>
              <a:ext uri="{FF2B5EF4-FFF2-40B4-BE49-F238E27FC236}">
                <a16:creationId xmlns:a16="http://schemas.microsoft.com/office/drawing/2014/main" id="{603B1C88-10BA-48FF-98D0-AC3D7F550545}"/>
              </a:ext>
            </a:extLst>
          </p:cNvPr>
          <p:cNvSpPr>
            <a:spLocks noGrp="1"/>
          </p:cNvSpPr>
          <p:nvPr/>
        </p:nvSpPr>
        <p:spPr>
          <a:xfrm>
            <a:off x="533400" y="3371850"/>
            <a:ext cx="4953000" cy="800100"/>
          </a:xfrm>
          <a:prstGeom prst="roundRect">
            <a:avLst>
              <a:gd name="adj" fmla="val 19048"/>
            </a:avLst>
          </a:prstGeom>
          <a:solidFill>
            <a:srgbClr val="FFFFFF"/>
          </a:solidFill>
          <a:ln w="9525">
            <a:solidFill>
              <a:srgbClr val="D8DEE8"/>
            </a:solidFill>
            <a:prstDash val="solid"/>
          </a:ln>
        </p:spPr>
      </p:sp>
      <p:sp>
        <p:nvSpPr>
          <p:cNvPr id="12" name="Oval 11">
            <a:extLst>
              <a:ext uri="{FF2B5EF4-FFF2-40B4-BE49-F238E27FC236}">
                <a16:creationId xmlns:a16="http://schemas.microsoft.com/office/drawing/2014/main" id="{D06E7605-0EC4-4240-9A66-18DB4716828B}"/>
              </a:ext>
            </a:extLst>
          </p:cNvPr>
          <p:cNvSpPr>
            <a:spLocks noGrp="1"/>
          </p:cNvSpPr>
          <p:nvPr/>
        </p:nvSpPr>
        <p:spPr>
          <a:xfrm>
            <a:off x="742950" y="3590925"/>
            <a:ext cx="361950" cy="361950"/>
          </a:xfrm>
          <a:prstGeom prst="ellipse">
            <a:avLst/>
          </a:prstGeom>
          <a:solidFill>
            <a:srgbClr val="FFF0E7"/>
          </a:solidFill>
          <a:ln w="9525">
            <a:solidFill>
              <a:srgbClr val="FDBA74"/>
            </a:solidFill>
            <a:prstDash val="solid"/>
          </a:ln>
        </p:spPr>
      </p:sp>
      <p:sp>
        <p:nvSpPr>
          <p:cNvPr id="13" name="Rectangle 12">
            <a:extLst>
              <a:ext uri="{FF2B5EF4-FFF2-40B4-BE49-F238E27FC236}">
                <a16:creationId xmlns:a16="http://schemas.microsoft.com/office/drawing/2014/main" id="{7ACAA1FA-407E-4814-9FC4-5D4531912F71}"/>
              </a:ext>
            </a:extLst>
          </p:cNvPr>
          <p:cNvSpPr>
            <a:spLocks noGrp="1"/>
          </p:cNvSpPr>
          <p:nvPr/>
        </p:nvSpPr>
        <p:spPr>
          <a:xfrm>
            <a:off x="742950" y="3638550"/>
            <a:ext cx="361950" cy="238125"/>
          </a:xfrm>
          <a:prstGeom prst="rect">
            <a:avLst/>
          </a:prstGeom>
          <a:noFill/>
          <a:ln w="0">
            <a:noFill/>
            <a:prstDash val="solid"/>
          </a:ln>
        </p:spPr>
        <p:txBody>
          <a:bodyPr wrap="square" lIns="0" tIns="0" rIns="0" bIns="0" anchor="t">
            <a:normAutofit/>
          </a:bodyPr>
          <a:lstStyle/>
          <a:p>
            <a:pPr algn="ctr">
              <a:defRPr sz="1275" b="1" i="0">
                <a:solidFill>
                  <a:srgbClr val="B54708"/>
                </a:solidFill>
                <a:latin typeface="Lexend"/>
                <a:ea typeface="Lexend"/>
                <a:cs typeface="Lexend"/>
              </a:defRPr>
            </a:pPr>
            <a:r>
              <a:rPr sz="1275" b="1" i="0">
                <a:solidFill>
                  <a:srgbClr val="B54708"/>
                </a:solidFill>
                <a:latin typeface="Lexend"/>
                <a:ea typeface="Lexend"/>
                <a:cs typeface="Lexend"/>
              </a:rPr>
              <a:t>2</a:t>
            </a:r>
          </a:p>
        </p:txBody>
      </p:sp>
      <p:sp>
        <p:nvSpPr>
          <p:cNvPr id="14" name="Rectangle 13">
            <a:extLst>
              <a:ext uri="{FF2B5EF4-FFF2-40B4-BE49-F238E27FC236}">
                <a16:creationId xmlns:a16="http://schemas.microsoft.com/office/drawing/2014/main" id="{0452EFBD-15B6-4801-A952-751B3936518D}"/>
              </a:ext>
            </a:extLst>
          </p:cNvPr>
          <p:cNvSpPr>
            <a:spLocks noGrp="1"/>
          </p:cNvSpPr>
          <p:nvPr/>
        </p:nvSpPr>
        <p:spPr>
          <a:xfrm>
            <a:off x="1276350" y="3543300"/>
            <a:ext cx="3810000" cy="247650"/>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 PAIN POINT 02 ]</a:t>
            </a:r>
          </a:p>
        </p:txBody>
      </p:sp>
      <p:sp>
        <p:nvSpPr>
          <p:cNvPr id="15" name="Rectangle 14">
            <a:extLst>
              <a:ext uri="{FF2B5EF4-FFF2-40B4-BE49-F238E27FC236}">
                <a16:creationId xmlns:a16="http://schemas.microsoft.com/office/drawing/2014/main" id="{E8B3492D-7AF0-4895-B764-A73C6FB957F3}"/>
              </a:ext>
            </a:extLst>
          </p:cNvPr>
          <p:cNvSpPr>
            <a:spLocks noGrp="1"/>
          </p:cNvSpPr>
          <p:nvPr/>
        </p:nvSpPr>
        <p:spPr>
          <a:xfrm>
            <a:off x="1276350" y="3829050"/>
            <a:ext cx="3810000" cy="200025"/>
          </a:xfrm>
          <a:prstGeom prst="rect">
            <a:avLst/>
          </a:prstGeom>
          <a:noFill/>
          <a:ln w="0">
            <a:noFill/>
            <a:prstDash val="solid"/>
          </a:ln>
        </p:spPr>
        <p:txBody>
          <a:bodyPr wrap="square" lIns="0" tIns="0" rIns="0" bIns="0" anchor="t">
            <a:normAutofit/>
          </a:bodyPr>
          <a:lstStyle/>
          <a:p>
            <a:pPr algn="l">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Describe the passenger or operator consequence.</a:t>
            </a:r>
          </a:p>
        </p:txBody>
      </p:sp>
      <p:sp>
        <p:nvSpPr>
          <p:cNvPr id="16" name="Rounded Rectangle 15">
            <a:extLst>
              <a:ext uri="{FF2B5EF4-FFF2-40B4-BE49-F238E27FC236}">
                <a16:creationId xmlns:a16="http://schemas.microsoft.com/office/drawing/2014/main" id="{62544FE0-E53A-44D9-B30B-A43D9B566FFD}"/>
              </a:ext>
            </a:extLst>
          </p:cNvPr>
          <p:cNvSpPr>
            <a:spLocks noGrp="1"/>
          </p:cNvSpPr>
          <p:nvPr/>
        </p:nvSpPr>
        <p:spPr>
          <a:xfrm>
            <a:off x="533400" y="4400550"/>
            <a:ext cx="4953000" cy="800100"/>
          </a:xfrm>
          <a:prstGeom prst="roundRect">
            <a:avLst>
              <a:gd name="adj" fmla="val 19048"/>
            </a:avLst>
          </a:prstGeom>
          <a:solidFill>
            <a:srgbClr val="FFFFFF"/>
          </a:solidFill>
          <a:ln w="9525">
            <a:solidFill>
              <a:srgbClr val="D8DEE8"/>
            </a:solidFill>
            <a:prstDash val="solid"/>
          </a:ln>
        </p:spPr>
      </p:sp>
      <p:sp>
        <p:nvSpPr>
          <p:cNvPr id="17" name="Oval 16">
            <a:extLst>
              <a:ext uri="{FF2B5EF4-FFF2-40B4-BE49-F238E27FC236}">
                <a16:creationId xmlns:a16="http://schemas.microsoft.com/office/drawing/2014/main" id="{8958EB1B-D95E-44CA-AF89-C2247CB07235}"/>
              </a:ext>
            </a:extLst>
          </p:cNvPr>
          <p:cNvSpPr>
            <a:spLocks noGrp="1"/>
          </p:cNvSpPr>
          <p:nvPr/>
        </p:nvSpPr>
        <p:spPr>
          <a:xfrm>
            <a:off x="742950" y="4619625"/>
            <a:ext cx="361950" cy="361950"/>
          </a:xfrm>
          <a:prstGeom prst="ellipse">
            <a:avLst/>
          </a:prstGeom>
          <a:solidFill>
            <a:srgbClr val="EAF1FF"/>
          </a:solidFill>
          <a:ln w="9525">
            <a:solidFill>
              <a:srgbClr val="C8D9FF"/>
            </a:solidFill>
            <a:prstDash val="solid"/>
          </a:ln>
        </p:spPr>
      </p:sp>
      <p:sp>
        <p:nvSpPr>
          <p:cNvPr id="18" name="Rectangle 17">
            <a:extLst>
              <a:ext uri="{FF2B5EF4-FFF2-40B4-BE49-F238E27FC236}">
                <a16:creationId xmlns:a16="http://schemas.microsoft.com/office/drawing/2014/main" id="{DD646382-FF5D-4D76-AB14-50B1BDBAD426}"/>
              </a:ext>
            </a:extLst>
          </p:cNvPr>
          <p:cNvSpPr>
            <a:spLocks noGrp="1"/>
          </p:cNvSpPr>
          <p:nvPr/>
        </p:nvSpPr>
        <p:spPr>
          <a:xfrm>
            <a:off x="742950" y="4667250"/>
            <a:ext cx="361950" cy="238125"/>
          </a:xfrm>
          <a:prstGeom prst="rect">
            <a:avLst/>
          </a:prstGeom>
          <a:noFill/>
          <a:ln w="0">
            <a:noFill/>
            <a:prstDash val="solid"/>
          </a:ln>
        </p:spPr>
        <p:txBody>
          <a:bodyPr wrap="square" lIns="0" tIns="0" rIns="0" bIns="0" anchor="t">
            <a:normAutofit/>
          </a:bodyPr>
          <a:lstStyle/>
          <a:p>
            <a:pPr algn="ctr">
              <a:defRPr sz="1275" b="1" i="0">
                <a:solidFill>
                  <a:srgbClr val="175CD3"/>
                </a:solidFill>
                <a:latin typeface="Lexend"/>
                <a:ea typeface="Lexend"/>
                <a:cs typeface="Lexend"/>
              </a:defRPr>
            </a:pPr>
            <a:r>
              <a:rPr sz="1275" b="1" i="0">
                <a:solidFill>
                  <a:srgbClr val="175CD3"/>
                </a:solidFill>
                <a:latin typeface="Lexend"/>
                <a:ea typeface="Lexend"/>
                <a:cs typeface="Lexend"/>
              </a:rPr>
              <a:t>3</a:t>
            </a:r>
          </a:p>
        </p:txBody>
      </p:sp>
      <p:sp>
        <p:nvSpPr>
          <p:cNvPr id="19" name="Rectangle 18">
            <a:extLst>
              <a:ext uri="{FF2B5EF4-FFF2-40B4-BE49-F238E27FC236}">
                <a16:creationId xmlns:a16="http://schemas.microsoft.com/office/drawing/2014/main" id="{EEE17119-8E6D-4D47-8D40-309E7A873ED1}"/>
              </a:ext>
            </a:extLst>
          </p:cNvPr>
          <p:cNvSpPr>
            <a:spLocks noGrp="1"/>
          </p:cNvSpPr>
          <p:nvPr/>
        </p:nvSpPr>
        <p:spPr>
          <a:xfrm>
            <a:off x="1276350" y="4572000"/>
            <a:ext cx="3810000" cy="247650"/>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 PAIN POINT 03 ]</a:t>
            </a:r>
          </a:p>
        </p:txBody>
      </p:sp>
      <p:sp>
        <p:nvSpPr>
          <p:cNvPr id="20" name="Rectangle 19">
            <a:extLst>
              <a:ext uri="{FF2B5EF4-FFF2-40B4-BE49-F238E27FC236}">
                <a16:creationId xmlns:a16="http://schemas.microsoft.com/office/drawing/2014/main" id="{BB34932C-2AA6-4F06-9BD8-C8DDD9CC996E}"/>
              </a:ext>
            </a:extLst>
          </p:cNvPr>
          <p:cNvSpPr>
            <a:spLocks noGrp="1"/>
          </p:cNvSpPr>
          <p:nvPr/>
        </p:nvSpPr>
        <p:spPr>
          <a:xfrm>
            <a:off x="1276350" y="4857750"/>
            <a:ext cx="3810000" cy="200025"/>
          </a:xfrm>
          <a:prstGeom prst="rect">
            <a:avLst/>
          </a:prstGeom>
          <a:noFill/>
          <a:ln w="0">
            <a:noFill/>
            <a:prstDash val="solid"/>
          </a:ln>
        </p:spPr>
        <p:txBody>
          <a:bodyPr wrap="square" lIns="0" tIns="0" rIns="0" bIns="0" anchor="t">
            <a:normAutofit/>
          </a:bodyPr>
          <a:lstStyle/>
          <a:p>
            <a:pPr algn="l">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Describe the passenger or operator consequence.</a:t>
            </a:r>
          </a:p>
        </p:txBody>
      </p:sp>
      <p:sp>
        <p:nvSpPr>
          <p:cNvPr id="21" name="Rounded Rectangle 20">
            <a:extLst>
              <a:ext uri="{FF2B5EF4-FFF2-40B4-BE49-F238E27FC236}">
                <a16:creationId xmlns:a16="http://schemas.microsoft.com/office/drawing/2014/main" id="{3B0AED87-CDDA-4278-A95B-648B13F82EB5}"/>
              </a:ext>
            </a:extLst>
          </p:cNvPr>
          <p:cNvSpPr>
            <a:spLocks noGrp="1"/>
          </p:cNvSpPr>
          <p:nvPr/>
        </p:nvSpPr>
        <p:spPr>
          <a:xfrm>
            <a:off x="5905500" y="1847850"/>
            <a:ext cx="5753100" cy="3352800"/>
          </a:xfrm>
          <a:prstGeom prst="roundRect">
            <a:avLst>
              <a:gd name="adj" fmla="val 5114"/>
            </a:avLst>
          </a:prstGeom>
          <a:solidFill>
            <a:srgbClr val="FFF7ED"/>
          </a:solidFill>
          <a:ln w="9525">
            <a:solidFill>
              <a:srgbClr val="FDBA74"/>
            </a:solidFill>
            <a:prstDash val="solid"/>
          </a:ln>
        </p:spPr>
      </p:sp>
      <p:sp>
        <p:nvSpPr>
          <p:cNvPr id="22" name="Rounded Rectangle 21">
            <a:extLst>
              <a:ext uri="{FF2B5EF4-FFF2-40B4-BE49-F238E27FC236}">
                <a16:creationId xmlns:a16="http://schemas.microsoft.com/office/drawing/2014/main" id="{E5B6E2C0-62D2-495A-B679-F35CB6EA31FE}"/>
              </a:ext>
            </a:extLst>
          </p:cNvPr>
          <p:cNvSpPr>
            <a:spLocks noGrp="1"/>
          </p:cNvSpPr>
          <p:nvPr/>
        </p:nvSpPr>
        <p:spPr>
          <a:xfrm>
            <a:off x="6096000" y="2019300"/>
            <a:ext cx="20002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OWNER INPUT REQUIRED</a:t>
            </a:r>
          </a:p>
        </p:txBody>
      </p:sp>
      <p:sp>
        <p:nvSpPr>
          <p:cNvPr id="23" name="Rectangle 22">
            <a:extLst>
              <a:ext uri="{FF2B5EF4-FFF2-40B4-BE49-F238E27FC236}">
                <a16:creationId xmlns:a16="http://schemas.microsoft.com/office/drawing/2014/main" id="{83A609AA-DD3B-4C56-99E0-3EAC83DB624F}"/>
              </a:ext>
            </a:extLst>
          </p:cNvPr>
          <p:cNvSpPr>
            <a:spLocks noGrp="1"/>
          </p:cNvSpPr>
          <p:nvPr/>
        </p:nvSpPr>
        <p:spPr>
          <a:xfrm>
            <a:off x="6115050" y="2400300"/>
            <a:ext cx="5334000" cy="295275"/>
          </a:xfrm>
          <a:prstGeom prst="rect">
            <a:avLst/>
          </a:prstGeom>
          <a:noFill/>
          <a:ln w="0">
            <a:noFill/>
            <a:prstDash val="solid"/>
          </a:ln>
        </p:spPr>
        <p:txBody>
          <a:bodyPr wrap="square" lIns="0" tIns="0" rIns="0" bIns="0" anchor="t">
            <a:normAutofit/>
          </a:bodyPr>
          <a:lstStyle/>
          <a:p>
            <a:pPr algn="l">
              <a:defRPr sz="1500" b="1" i="0">
                <a:solidFill>
                  <a:srgbClr val="132238"/>
                </a:solidFill>
                <a:latin typeface="Lexend"/>
                <a:ea typeface="Lexend"/>
                <a:cs typeface="Lexend"/>
              </a:defRPr>
            </a:pPr>
            <a:r>
              <a:rPr sz="1500" b="1" i="0">
                <a:solidFill>
                  <a:srgbClr val="132238"/>
                </a:solidFill>
                <a:latin typeface="Lexend"/>
                <a:ea typeface="Lexend"/>
                <a:cs typeface="Lexend"/>
              </a:rPr>
              <a:t>Ben to provide</a:t>
            </a:r>
          </a:p>
        </p:txBody>
      </p:sp>
      <p:sp>
        <p:nvSpPr>
          <p:cNvPr id="24" name="Oval 23">
            <a:extLst>
              <a:ext uri="{FF2B5EF4-FFF2-40B4-BE49-F238E27FC236}">
                <a16:creationId xmlns:a16="http://schemas.microsoft.com/office/drawing/2014/main" id="{8A724F8E-E4B7-42C1-808C-192713964B64}"/>
              </a:ext>
            </a:extLst>
          </p:cNvPr>
          <p:cNvSpPr>
            <a:spLocks noGrp="1"/>
          </p:cNvSpPr>
          <p:nvPr/>
        </p:nvSpPr>
        <p:spPr>
          <a:xfrm>
            <a:off x="6134100" y="2867025"/>
            <a:ext cx="76200" cy="76200"/>
          </a:xfrm>
          <a:prstGeom prst="ellipse">
            <a:avLst/>
          </a:prstGeom>
          <a:solidFill>
            <a:srgbClr val="F97316"/>
          </a:solidFill>
          <a:ln w="0">
            <a:noFill/>
            <a:prstDash val="solid"/>
          </a:ln>
        </p:spPr>
      </p:sp>
      <p:sp>
        <p:nvSpPr>
          <p:cNvPr id="25" name="Rectangle 24">
            <a:extLst>
              <a:ext uri="{FF2B5EF4-FFF2-40B4-BE49-F238E27FC236}">
                <a16:creationId xmlns:a16="http://schemas.microsoft.com/office/drawing/2014/main" id="{4775F578-FA6E-47B0-9EEC-32A139B4B5D4}"/>
              </a:ext>
            </a:extLst>
          </p:cNvPr>
          <p:cNvSpPr>
            <a:spLocks noGrp="1"/>
          </p:cNvSpPr>
          <p:nvPr/>
        </p:nvSpPr>
        <p:spPr>
          <a:xfrm>
            <a:off x="6324600" y="2800350"/>
            <a:ext cx="51054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One contextual Philippine visual</a:t>
            </a:r>
          </a:p>
        </p:txBody>
      </p:sp>
      <p:sp>
        <p:nvSpPr>
          <p:cNvPr id="26" name="Oval 25">
            <a:extLst>
              <a:ext uri="{FF2B5EF4-FFF2-40B4-BE49-F238E27FC236}">
                <a16:creationId xmlns:a16="http://schemas.microsoft.com/office/drawing/2014/main" id="{B8C5FF07-6BB3-4CAC-854E-DE33502E53E9}"/>
              </a:ext>
            </a:extLst>
          </p:cNvPr>
          <p:cNvSpPr>
            <a:spLocks noGrp="1"/>
          </p:cNvSpPr>
          <p:nvPr/>
        </p:nvSpPr>
        <p:spPr>
          <a:xfrm>
            <a:off x="6134100" y="3276600"/>
            <a:ext cx="76200" cy="76200"/>
          </a:xfrm>
          <a:prstGeom prst="ellipse">
            <a:avLst/>
          </a:prstGeom>
          <a:solidFill>
            <a:srgbClr val="F97316"/>
          </a:solidFill>
          <a:ln w="0">
            <a:noFill/>
            <a:prstDash val="solid"/>
          </a:ln>
        </p:spPr>
      </p:sp>
      <p:sp>
        <p:nvSpPr>
          <p:cNvPr id="27" name="Rectangle 26">
            <a:extLst>
              <a:ext uri="{FF2B5EF4-FFF2-40B4-BE49-F238E27FC236}">
                <a16:creationId xmlns:a16="http://schemas.microsoft.com/office/drawing/2014/main" id="{E41495DD-597D-46F1-B78D-B683EA11FD9D}"/>
              </a:ext>
            </a:extLst>
          </p:cNvPr>
          <p:cNvSpPr>
            <a:spLocks noGrp="1"/>
          </p:cNvSpPr>
          <p:nvPr/>
        </p:nvSpPr>
        <p:spPr>
          <a:xfrm>
            <a:off x="6324600" y="3209925"/>
            <a:ext cx="51054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Three concise, non-overlapping pain points</a:t>
            </a:r>
          </a:p>
        </p:txBody>
      </p:sp>
      <p:sp>
        <p:nvSpPr>
          <p:cNvPr id="28" name="Oval 27">
            <a:extLst>
              <a:ext uri="{FF2B5EF4-FFF2-40B4-BE49-F238E27FC236}">
                <a16:creationId xmlns:a16="http://schemas.microsoft.com/office/drawing/2014/main" id="{596158D8-A2DD-4D5F-9DF6-23AE9860D47C}"/>
              </a:ext>
            </a:extLst>
          </p:cNvPr>
          <p:cNvSpPr>
            <a:spLocks noGrp="1"/>
          </p:cNvSpPr>
          <p:nvPr/>
        </p:nvSpPr>
        <p:spPr>
          <a:xfrm>
            <a:off x="6134100" y="3686175"/>
            <a:ext cx="76200" cy="76200"/>
          </a:xfrm>
          <a:prstGeom prst="ellipse">
            <a:avLst/>
          </a:prstGeom>
          <a:solidFill>
            <a:srgbClr val="F97316"/>
          </a:solidFill>
          <a:ln w="0">
            <a:noFill/>
            <a:prstDash val="solid"/>
          </a:ln>
        </p:spPr>
      </p:sp>
      <p:sp>
        <p:nvSpPr>
          <p:cNvPr id="29" name="Rectangle 28">
            <a:extLst>
              <a:ext uri="{FF2B5EF4-FFF2-40B4-BE49-F238E27FC236}">
                <a16:creationId xmlns:a16="http://schemas.microsoft.com/office/drawing/2014/main" id="{87560646-4574-46AC-8BBA-DEDFC558996A}"/>
              </a:ext>
            </a:extLst>
          </p:cNvPr>
          <p:cNvSpPr>
            <a:spLocks noGrp="1"/>
          </p:cNvSpPr>
          <p:nvPr/>
        </p:nvSpPr>
        <p:spPr>
          <a:xfrm>
            <a:off x="6324600" y="3619500"/>
            <a:ext cx="51054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Authoritative Philippine sources</a:t>
            </a:r>
          </a:p>
        </p:txBody>
      </p:sp>
      <p:sp>
        <p:nvSpPr>
          <p:cNvPr id="30" name="Oval 29">
            <a:extLst>
              <a:ext uri="{FF2B5EF4-FFF2-40B4-BE49-F238E27FC236}">
                <a16:creationId xmlns:a16="http://schemas.microsoft.com/office/drawing/2014/main" id="{7747717B-FEDE-42C2-A450-5D15F8F2AF02}"/>
              </a:ext>
            </a:extLst>
          </p:cNvPr>
          <p:cNvSpPr>
            <a:spLocks noGrp="1"/>
          </p:cNvSpPr>
          <p:nvPr/>
        </p:nvSpPr>
        <p:spPr>
          <a:xfrm>
            <a:off x="6134100" y="4095750"/>
            <a:ext cx="76200" cy="76200"/>
          </a:xfrm>
          <a:prstGeom prst="ellipse">
            <a:avLst/>
          </a:prstGeom>
          <a:solidFill>
            <a:srgbClr val="F97316"/>
          </a:solidFill>
          <a:ln w="0">
            <a:noFill/>
            <a:prstDash val="solid"/>
          </a:ln>
        </p:spPr>
      </p:sp>
      <p:sp>
        <p:nvSpPr>
          <p:cNvPr id="31" name="Rectangle 30">
            <a:extLst>
              <a:ext uri="{FF2B5EF4-FFF2-40B4-BE49-F238E27FC236}">
                <a16:creationId xmlns:a16="http://schemas.microsoft.com/office/drawing/2014/main" id="{103F0562-8EB2-4E72-A55A-8447CFD87663}"/>
              </a:ext>
            </a:extLst>
          </p:cNvPr>
          <p:cNvSpPr>
            <a:spLocks noGrp="1"/>
          </p:cNvSpPr>
          <p:nvPr/>
        </p:nvSpPr>
        <p:spPr>
          <a:xfrm>
            <a:off x="6324600" y="4029075"/>
            <a:ext cx="51054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A bridge from the problem to Ana’s experience</a:t>
            </a:r>
          </a:p>
        </p:txBody>
      </p:sp>
      <p:sp>
        <p:nvSpPr>
          <p:cNvPr id="32" name="Rectangle 31">
            <a:extLst>
              <a:ext uri="{FF2B5EF4-FFF2-40B4-BE49-F238E27FC236}">
                <a16:creationId xmlns:a16="http://schemas.microsoft.com/office/drawing/2014/main" id="{70DB92DE-46B6-41F1-9292-186808181F56}"/>
              </a:ext>
            </a:extLst>
          </p:cNvPr>
          <p:cNvSpPr>
            <a:spLocks noGrp="1"/>
          </p:cNvSpPr>
          <p:nvPr/>
        </p:nvSpPr>
        <p:spPr>
          <a:xfrm>
            <a:off x="5905500" y="5429250"/>
            <a:ext cx="2095500" cy="247650"/>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Suggested source types</a:t>
            </a:r>
          </a:p>
        </p:txBody>
      </p:sp>
      <p:sp>
        <p:nvSpPr>
          <p:cNvPr id="33" name="Rounded Rectangle 32">
            <a:extLst>
              <a:ext uri="{FF2B5EF4-FFF2-40B4-BE49-F238E27FC236}">
                <a16:creationId xmlns:a16="http://schemas.microsoft.com/office/drawing/2014/main" id="{27D6D413-B354-42B1-B60B-8D3780A38AE3}"/>
              </a:ext>
            </a:extLst>
          </p:cNvPr>
          <p:cNvSpPr>
            <a:spLocks noGrp="1"/>
          </p:cNvSpPr>
          <p:nvPr/>
        </p:nvSpPr>
        <p:spPr>
          <a:xfrm>
            <a:off x="5905500" y="5810250"/>
            <a:ext cx="1428750" cy="266700"/>
          </a:xfrm>
          <a:prstGeom prst="roundRect">
            <a:avLst>
              <a:gd name="adj" fmla="val 50000"/>
            </a:avLst>
          </a:prstGeom>
          <a:solidFill>
            <a:srgbClr val="EDF1F5"/>
          </a:solidFill>
          <a:ln w="9525">
            <a:solidFill>
              <a:srgbClr val="D8DEE8"/>
            </a:solidFill>
            <a:prstDash val="solid"/>
          </a:ln>
        </p:spPr>
        <p:txBody>
          <a:bodyPr wrap="square" lIns="76200" tIns="19050" rIns="76200" bIns="19050" anchor="ctr">
            <a:normAutofit/>
          </a:bodyPr>
          <a:lstStyle/>
          <a:p>
            <a:pPr algn="ctr">
              <a:defRPr sz="900" b="1" i="0">
                <a:solidFill>
                  <a:srgbClr val="132238"/>
                </a:solidFill>
                <a:latin typeface="Lexend"/>
                <a:ea typeface="Lexend"/>
                <a:cs typeface="Lexend"/>
              </a:defRPr>
            </a:pPr>
            <a:r>
              <a:rPr sz="900" b="1" i="0">
                <a:solidFill>
                  <a:srgbClr val="132238"/>
                </a:solidFill>
                <a:latin typeface="Lexend"/>
                <a:ea typeface="Lexend"/>
                <a:cs typeface="Lexend"/>
              </a:rPr>
              <a:t>DOTr / LTFRB</a:t>
            </a:r>
          </a:p>
        </p:txBody>
      </p:sp>
      <p:sp>
        <p:nvSpPr>
          <p:cNvPr id="34" name="Rounded Rectangle 33">
            <a:extLst>
              <a:ext uri="{FF2B5EF4-FFF2-40B4-BE49-F238E27FC236}">
                <a16:creationId xmlns:a16="http://schemas.microsoft.com/office/drawing/2014/main" id="{56122056-B6F1-4D7A-BA21-5FB733475934}"/>
              </a:ext>
            </a:extLst>
          </p:cNvPr>
          <p:cNvSpPr>
            <a:spLocks noGrp="1"/>
          </p:cNvSpPr>
          <p:nvPr/>
        </p:nvSpPr>
        <p:spPr>
          <a:xfrm>
            <a:off x="7467600" y="5810250"/>
            <a:ext cx="838200" cy="266700"/>
          </a:xfrm>
          <a:prstGeom prst="roundRect">
            <a:avLst>
              <a:gd name="adj" fmla="val 50000"/>
            </a:avLst>
          </a:prstGeom>
          <a:solidFill>
            <a:srgbClr val="EDF1F5"/>
          </a:solidFill>
          <a:ln w="9525">
            <a:solidFill>
              <a:srgbClr val="D8DEE8"/>
            </a:solidFill>
            <a:prstDash val="solid"/>
          </a:ln>
        </p:spPr>
        <p:txBody>
          <a:bodyPr wrap="square" lIns="76200" tIns="19050" rIns="76200" bIns="19050" anchor="ctr">
            <a:normAutofit/>
          </a:bodyPr>
          <a:lstStyle/>
          <a:p>
            <a:pPr algn="ctr">
              <a:defRPr sz="900" b="1" i="0">
                <a:solidFill>
                  <a:srgbClr val="132238"/>
                </a:solidFill>
                <a:latin typeface="Lexend"/>
                <a:ea typeface="Lexend"/>
                <a:cs typeface="Lexend"/>
              </a:defRPr>
            </a:pPr>
            <a:r>
              <a:rPr sz="900" b="1" i="0">
                <a:solidFill>
                  <a:srgbClr val="132238"/>
                </a:solidFill>
                <a:latin typeface="Lexend"/>
                <a:ea typeface="Lexend"/>
                <a:cs typeface="Lexend"/>
              </a:rPr>
              <a:t>PSA</a:t>
            </a:r>
          </a:p>
        </p:txBody>
      </p:sp>
      <p:sp>
        <p:nvSpPr>
          <p:cNvPr id="35" name="Rounded Rectangle 34">
            <a:extLst>
              <a:ext uri="{FF2B5EF4-FFF2-40B4-BE49-F238E27FC236}">
                <a16:creationId xmlns:a16="http://schemas.microsoft.com/office/drawing/2014/main" id="{9E49F2F0-69E6-4D09-8BCC-961F20E933CC}"/>
              </a:ext>
            </a:extLst>
          </p:cNvPr>
          <p:cNvSpPr>
            <a:spLocks noGrp="1"/>
          </p:cNvSpPr>
          <p:nvPr/>
        </p:nvSpPr>
        <p:spPr>
          <a:xfrm>
            <a:off x="8439150" y="5810250"/>
            <a:ext cx="1428750" cy="266700"/>
          </a:xfrm>
          <a:prstGeom prst="roundRect">
            <a:avLst>
              <a:gd name="adj" fmla="val 50000"/>
            </a:avLst>
          </a:prstGeom>
          <a:solidFill>
            <a:srgbClr val="EDF1F5"/>
          </a:solidFill>
          <a:ln w="9525">
            <a:solidFill>
              <a:srgbClr val="D8DEE8"/>
            </a:solidFill>
            <a:prstDash val="solid"/>
          </a:ln>
        </p:spPr>
        <p:txBody>
          <a:bodyPr wrap="square" lIns="76200" tIns="19050" rIns="76200" bIns="19050" anchor="ctr">
            <a:normAutofit/>
          </a:bodyPr>
          <a:lstStyle/>
          <a:p>
            <a:pPr algn="ctr">
              <a:defRPr sz="900" b="1" i="0">
                <a:solidFill>
                  <a:srgbClr val="132238"/>
                </a:solidFill>
                <a:latin typeface="Lexend"/>
                <a:ea typeface="Lexend"/>
                <a:cs typeface="Lexend"/>
              </a:defRPr>
            </a:pPr>
            <a:r>
              <a:rPr sz="900" b="1" i="0">
                <a:solidFill>
                  <a:srgbClr val="132238"/>
                </a:solidFill>
                <a:latin typeface="Lexend"/>
                <a:ea typeface="Lexend"/>
                <a:cs typeface="Lexend"/>
              </a:rPr>
              <a:t>Peer-reviewed</a:t>
            </a:r>
          </a:p>
        </p:txBody>
      </p:sp>
      <p:sp>
        <p:nvSpPr>
          <p:cNvPr id="36" name="Straight Connector 35">
            <a:extLst>
              <a:ext uri="{FF2B5EF4-FFF2-40B4-BE49-F238E27FC236}">
                <a16:creationId xmlns:a16="http://schemas.microsoft.com/office/drawing/2014/main" id="{DF8F99CB-B1F7-46FC-943C-956F563BF1E6}"/>
              </a:ext>
            </a:extLst>
          </p:cNvPr>
          <p:cNvSpPr>
            <a:spLocks noGrp="1"/>
          </p:cNvSpPr>
          <p:nvPr/>
        </p:nvSpPr>
        <p:spPr>
          <a:xfrm>
            <a:off x="533400" y="6477000"/>
            <a:ext cx="11125200" cy="0"/>
          </a:xfrm>
          <a:prstGeom prst="line">
            <a:avLst/>
          </a:prstGeom>
          <a:noFill/>
          <a:ln w="9525">
            <a:solidFill>
              <a:srgbClr val="D8DEE8"/>
            </a:solidFill>
            <a:prstDash val="solid"/>
          </a:ln>
        </p:spPr>
      </p:sp>
      <p:sp>
        <p:nvSpPr>
          <p:cNvPr id="37" name="Rectangle 36">
            <a:extLst>
              <a:ext uri="{FF2B5EF4-FFF2-40B4-BE49-F238E27FC236}">
                <a16:creationId xmlns:a16="http://schemas.microsoft.com/office/drawing/2014/main" id="{6F7508D2-786E-4BEF-ACE3-AFCB3E088B6E}"/>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Owner-input shell · Keep units, geography, and publication dates visible</a:t>
            </a:r>
          </a:p>
        </p:txBody>
      </p:sp>
    </p:spTree>
    <p:extLst>
      <p:ext uri="{BB962C8B-B14F-4D97-AF65-F5344CB8AC3E}">
        <p14:creationId xmlns:p14="http://schemas.microsoft.com/office/powerpoint/2010/main" val="97552929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4" name="Rounded Rectangle 23">
            <a:extLst>
              <a:ext uri="{FF2B5EF4-FFF2-40B4-BE49-F238E27FC236}">
                <a16:creationId xmlns:a16="http://schemas.microsoft.com/office/drawing/2014/main" id="{EC20E3B5-EC82-444D-B13C-5FCDDB591787}"/>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ANA</a:t>
            </a:r>
          </a:p>
        </p:txBody>
      </p:sp>
      <p:sp>
        <p:nvSpPr>
          <p:cNvPr id="2" name="slide-5-title">
            <a:extLst>
              <a:ext uri="{FF2B5EF4-FFF2-40B4-BE49-F238E27FC236}">
                <a16:creationId xmlns:a16="http://schemas.microsoft.com/office/drawing/2014/main" id="{7B84FD79-C485-4DBE-B39E-D9AD323F5435}"/>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Personal experience and survey</a:t>
            </a:r>
          </a:p>
        </p:txBody>
      </p:sp>
      <p:sp>
        <p:nvSpPr>
          <p:cNvPr id="3" name="Rectangle 2">
            <a:extLst>
              <a:ext uri="{FF2B5EF4-FFF2-40B4-BE49-F238E27FC236}">
                <a16:creationId xmlns:a16="http://schemas.microsoft.com/office/drawing/2014/main" id="{8B878DAF-6B89-467E-9D4C-0ABBF6136D7B}"/>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Turn lived experience into a transparent evidence story.</a:t>
            </a:r>
          </a:p>
        </p:txBody>
      </p:sp>
      <p:sp>
        <p:nvSpPr>
          <p:cNvPr id="5" name="Rounded Rectangle 4">
            <a:extLst>
              <a:ext uri="{FF2B5EF4-FFF2-40B4-BE49-F238E27FC236}">
                <a16:creationId xmlns:a16="http://schemas.microsoft.com/office/drawing/2014/main" id="{445201B8-A40D-4C03-9463-0551F6B67D27}"/>
              </a:ext>
            </a:extLst>
          </p:cNvPr>
          <p:cNvSpPr>
            <a:spLocks noGrp="1"/>
          </p:cNvSpPr>
          <p:nvPr/>
        </p:nvSpPr>
        <p:spPr>
          <a:xfrm>
            <a:off x="533400" y="1847850"/>
            <a:ext cx="4191000" cy="3943350"/>
          </a:xfrm>
          <a:prstGeom prst="roundRect">
            <a:avLst>
              <a:gd name="adj" fmla="val 5797"/>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6" name="Rounded Rectangle 5">
            <a:extLst>
              <a:ext uri="{FF2B5EF4-FFF2-40B4-BE49-F238E27FC236}">
                <a16:creationId xmlns:a16="http://schemas.microsoft.com/office/drawing/2014/main" id="{B384F7E8-E425-45BA-A2B1-79B297CBFD32}"/>
              </a:ext>
            </a:extLst>
          </p:cNvPr>
          <p:cNvSpPr>
            <a:spLocks noGrp="1"/>
          </p:cNvSpPr>
          <p:nvPr/>
        </p:nvSpPr>
        <p:spPr>
          <a:xfrm>
            <a:off x="762000" y="2076450"/>
            <a:ext cx="161925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00" b="1" i="0">
                <a:solidFill>
                  <a:srgbClr val="175CD3"/>
                </a:solidFill>
                <a:latin typeface="Lexend"/>
                <a:ea typeface="Lexend"/>
                <a:cs typeface="Lexend"/>
              </a:defRPr>
            </a:pPr>
            <a:r>
              <a:rPr sz="900" b="1" i="0">
                <a:solidFill>
                  <a:srgbClr val="175CD3"/>
                </a:solidFill>
                <a:latin typeface="Lexend"/>
                <a:ea typeface="Lexend"/>
                <a:cs typeface="Lexend"/>
              </a:rPr>
              <a:t>PERSONAL OPENING</a:t>
            </a:r>
          </a:p>
        </p:txBody>
      </p:sp>
      <p:sp>
        <p:nvSpPr>
          <p:cNvPr id="7" name="Rectangle 6">
            <a:extLst>
              <a:ext uri="{FF2B5EF4-FFF2-40B4-BE49-F238E27FC236}">
                <a16:creationId xmlns:a16="http://schemas.microsoft.com/office/drawing/2014/main" id="{98A3944A-93B5-4094-9D43-59FD58690A88}"/>
              </a:ext>
            </a:extLst>
          </p:cNvPr>
          <p:cNvSpPr>
            <a:spLocks noGrp="1"/>
          </p:cNvSpPr>
          <p:nvPr/>
        </p:nvSpPr>
        <p:spPr>
          <a:xfrm>
            <a:off x="781050" y="2667000"/>
            <a:ext cx="3676650" cy="1428750"/>
          </a:xfrm>
          <a:prstGeom prst="rect">
            <a:avLst/>
          </a:prstGeom>
          <a:noFill/>
          <a:ln w="0">
            <a:noFill/>
            <a:prstDash val="solid"/>
          </a:ln>
        </p:spPr>
        <p:txBody>
          <a:bodyPr wrap="square" lIns="0" tIns="0" rIns="0" bIns="0" anchor="ctr">
            <a:normAutofit/>
          </a:bodyPr>
          <a:lstStyle/>
          <a:p>
            <a:pPr algn="l">
              <a:defRPr sz="1950" b="1" i="0">
                <a:solidFill>
                  <a:srgbClr val="132238"/>
                </a:solidFill>
                <a:latin typeface="Lexend"/>
                <a:ea typeface="Lexend"/>
                <a:cs typeface="Lexend"/>
              </a:defRPr>
            </a:pPr>
            <a:r>
              <a:rPr sz="1950" b="1" i="0">
                <a:solidFill>
                  <a:srgbClr val="132238"/>
                </a:solidFill>
                <a:latin typeface="Lexend"/>
                <a:ea typeface="Lexend"/>
                <a:cs typeface="Lexend"/>
              </a:rPr>
              <a:t>“[ One short, specific experience that explains why this problem matters. ]”</a:t>
            </a:r>
          </a:p>
        </p:txBody>
      </p:sp>
      <p:sp>
        <p:nvSpPr>
          <p:cNvPr id="8" name="Rectangle 7">
            <a:extLst>
              <a:ext uri="{FF2B5EF4-FFF2-40B4-BE49-F238E27FC236}">
                <a16:creationId xmlns:a16="http://schemas.microsoft.com/office/drawing/2014/main" id="{575BBCFB-4044-49D6-90BA-C12F0593329A}"/>
              </a:ext>
            </a:extLst>
          </p:cNvPr>
          <p:cNvSpPr>
            <a:spLocks noGrp="1"/>
          </p:cNvSpPr>
          <p:nvPr/>
        </p:nvSpPr>
        <p:spPr>
          <a:xfrm>
            <a:off x="781050" y="4819650"/>
            <a:ext cx="3619500" cy="457200"/>
          </a:xfrm>
          <a:prstGeom prst="rect">
            <a:avLst/>
          </a:prstGeom>
          <a:noFill/>
          <a:ln w="0">
            <a:noFill/>
            <a:prstDash val="solid"/>
          </a:ln>
        </p:spPr>
        <p:txBody>
          <a:bodyPr wrap="square" lIns="0" tIns="0" rIns="0" bIns="0" anchor="t">
            <a:normAutofit/>
          </a:bodyPr>
          <a:lstStyle/>
          <a:p>
            <a:pPr algn="l">
              <a:defRPr sz="1275" b="0" i="0">
                <a:solidFill>
                  <a:srgbClr val="5F6B7A"/>
                </a:solidFill>
                <a:latin typeface="Source Sans 3"/>
                <a:ea typeface="Source Sans 3"/>
                <a:cs typeface="Source Sans 3"/>
              </a:defRPr>
            </a:pPr>
            <a:r>
              <a:rPr sz="1275" b="0" i="0">
                <a:solidFill>
                  <a:srgbClr val="5F6B7A"/>
                </a:solidFill>
                <a:latin typeface="Source Sans 3"/>
                <a:ea typeface="Source Sans 3"/>
                <a:cs typeface="Source Sans 3"/>
              </a:rPr>
              <a:t>Keep the story concrete: route, moment, consequence.</a:t>
            </a:r>
          </a:p>
        </p:txBody>
      </p:sp>
      <p:sp>
        <p:nvSpPr>
          <p:cNvPr id="9" name="Rounded Rectangle 8">
            <a:extLst>
              <a:ext uri="{FF2B5EF4-FFF2-40B4-BE49-F238E27FC236}">
                <a16:creationId xmlns:a16="http://schemas.microsoft.com/office/drawing/2014/main" id="{984B1027-FB44-49B5-9A81-4892596FC0AB}"/>
              </a:ext>
            </a:extLst>
          </p:cNvPr>
          <p:cNvSpPr>
            <a:spLocks noGrp="1"/>
          </p:cNvSpPr>
          <p:nvPr/>
        </p:nvSpPr>
        <p:spPr>
          <a:xfrm>
            <a:off x="5067300" y="1847850"/>
            <a:ext cx="6591300" cy="3943350"/>
          </a:xfrm>
          <a:prstGeom prst="roundRect">
            <a:avLst>
              <a:gd name="adj" fmla="val 4348"/>
            </a:avLst>
          </a:prstGeom>
          <a:solidFill>
            <a:srgbClr val="FFF7ED"/>
          </a:solidFill>
          <a:ln w="9525">
            <a:solidFill>
              <a:srgbClr val="FDBA74"/>
            </a:solidFill>
            <a:prstDash val="solid"/>
          </a:ln>
        </p:spPr>
      </p:sp>
      <p:sp>
        <p:nvSpPr>
          <p:cNvPr id="10" name="Rounded Rectangle 9">
            <a:extLst>
              <a:ext uri="{FF2B5EF4-FFF2-40B4-BE49-F238E27FC236}">
                <a16:creationId xmlns:a16="http://schemas.microsoft.com/office/drawing/2014/main" id="{9F6A8781-554A-4184-8389-05A65C74F83C}"/>
              </a:ext>
            </a:extLst>
          </p:cNvPr>
          <p:cNvSpPr>
            <a:spLocks noGrp="1"/>
          </p:cNvSpPr>
          <p:nvPr/>
        </p:nvSpPr>
        <p:spPr>
          <a:xfrm>
            <a:off x="5257800" y="2019300"/>
            <a:ext cx="20002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OWNER INPUT REQUIRED</a:t>
            </a:r>
          </a:p>
        </p:txBody>
      </p:sp>
      <p:sp>
        <p:nvSpPr>
          <p:cNvPr id="11" name="Rectangle 10">
            <a:extLst>
              <a:ext uri="{FF2B5EF4-FFF2-40B4-BE49-F238E27FC236}">
                <a16:creationId xmlns:a16="http://schemas.microsoft.com/office/drawing/2014/main" id="{BF4E5E4F-DD44-4181-9C08-26D17CBD8AC5}"/>
              </a:ext>
            </a:extLst>
          </p:cNvPr>
          <p:cNvSpPr>
            <a:spLocks noGrp="1"/>
          </p:cNvSpPr>
          <p:nvPr/>
        </p:nvSpPr>
        <p:spPr>
          <a:xfrm>
            <a:off x="5276850" y="2400300"/>
            <a:ext cx="6172200" cy="295275"/>
          </a:xfrm>
          <a:prstGeom prst="rect">
            <a:avLst/>
          </a:prstGeom>
          <a:noFill/>
          <a:ln w="0">
            <a:noFill/>
            <a:prstDash val="solid"/>
          </a:ln>
        </p:spPr>
        <p:txBody>
          <a:bodyPr wrap="square" lIns="0" tIns="0" rIns="0" bIns="0" anchor="t">
            <a:normAutofit/>
          </a:bodyPr>
          <a:lstStyle/>
          <a:p>
            <a:pPr algn="l">
              <a:defRPr sz="1500" b="1" i="0">
                <a:solidFill>
                  <a:srgbClr val="132238"/>
                </a:solidFill>
                <a:latin typeface="Lexend"/>
                <a:ea typeface="Lexend"/>
                <a:cs typeface="Lexend"/>
              </a:defRPr>
            </a:pPr>
            <a:r>
              <a:rPr sz="1500" b="1" i="0">
                <a:solidFill>
                  <a:srgbClr val="132238"/>
                </a:solidFill>
                <a:latin typeface="Lexend"/>
                <a:ea typeface="Lexend"/>
                <a:cs typeface="Lexend"/>
              </a:rPr>
              <a:t>Ana to provide</a:t>
            </a:r>
          </a:p>
        </p:txBody>
      </p:sp>
      <p:sp>
        <p:nvSpPr>
          <p:cNvPr id="12" name="Oval 11">
            <a:extLst>
              <a:ext uri="{FF2B5EF4-FFF2-40B4-BE49-F238E27FC236}">
                <a16:creationId xmlns:a16="http://schemas.microsoft.com/office/drawing/2014/main" id="{238581BA-3710-43EF-9804-17F4C3260D86}"/>
              </a:ext>
            </a:extLst>
          </p:cNvPr>
          <p:cNvSpPr>
            <a:spLocks noGrp="1"/>
          </p:cNvSpPr>
          <p:nvPr/>
        </p:nvSpPr>
        <p:spPr>
          <a:xfrm>
            <a:off x="5295900" y="2867025"/>
            <a:ext cx="76200" cy="76200"/>
          </a:xfrm>
          <a:prstGeom prst="ellipse">
            <a:avLst/>
          </a:prstGeom>
          <a:solidFill>
            <a:srgbClr val="F97316"/>
          </a:solidFill>
          <a:ln w="0">
            <a:noFill/>
            <a:prstDash val="solid"/>
          </a:ln>
        </p:spPr>
      </p:sp>
      <p:sp>
        <p:nvSpPr>
          <p:cNvPr id="13" name="Rectangle 12">
            <a:extLst>
              <a:ext uri="{FF2B5EF4-FFF2-40B4-BE49-F238E27FC236}">
                <a16:creationId xmlns:a16="http://schemas.microsoft.com/office/drawing/2014/main" id="{2D07C5F9-A841-463A-BAE3-5BE474CF2037}"/>
              </a:ext>
            </a:extLst>
          </p:cNvPr>
          <p:cNvSpPr>
            <a:spLocks noGrp="1"/>
          </p:cNvSpPr>
          <p:nvPr/>
        </p:nvSpPr>
        <p:spPr>
          <a:xfrm>
            <a:off x="5486400" y="2800350"/>
            <a:ext cx="59436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Survey method and collection dates</a:t>
            </a:r>
          </a:p>
        </p:txBody>
      </p:sp>
      <p:sp>
        <p:nvSpPr>
          <p:cNvPr id="14" name="Oval 13">
            <a:extLst>
              <a:ext uri="{FF2B5EF4-FFF2-40B4-BE49-F238E27FC236}">
                <a16:creationId xmlns:a16="http://schemas.microsoft.com/office/drawing/2014/main" id="{A2D98CE3-1358-441B-B14D-30F4AEB3FEE9}"/>
              </a:ext>
            </a:extLst>
          </p:cNvPr>
          <p:cNvSpPr>
            <a:spLocks noGrp="1"/>
          </p:cNvSpPr>
          <p:nvPr/>
        </p:nvSpPr>
        <p:spPr>
          <a:xfrm>
            <a:off x="5295900" y="3276600"/>
            <a:ext cx="76200" cy="76200"/>
          </a:xfrm>
          <a:prstGeom prst="ellipse">
            <a:avLst/>
          </a:prstGeom>
          <a:solidFill>
            <a:srgbClr val="F97316"/>
          </a:solidFill>
          <a:ln w="0">
            <a:noFill/>
            <a:prstDash val="solid"/>
          </a:ln>
        </p:spPr>
      </p:sp>
      <p:sp>
        <p:nvSpPr>
          <p:cNvPr id="15" name="Rectangle 14">
            <a:extLst>
              <a:ext uri="{FF2B5EF4-FFF2-40B4-BE49-F238E27FC236}">
                <a16:creationId xmlns:a16="http://schemas.microsoft.com/office/drawing/2014/main" id="{BE4B973E-84E9-408D-93EB-1FB36C110E18}"/>
              </a:ext>
            </a:extLst>
          </p:cNvPr>
          <p:cNvSpPr>
            <a:spLocks noGrp="1"/>
          </p:cNvSpPr>
          <p:nvPr/>
        </p:nvSpPr>
        <p:spPr>
          <a:xfrm>
            <a:off x="5486400" y="3209925"/>
            <a:ext cx="59436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Sample size and respondent profile</a:t>
            </a:r>
          </a:p>
        </p:txBody>
      </p:sp>
      <p:sp>
        <p:nvSpPr>
          <p:cNvPr id="16" name="Oval 15">
            <a:extLst>
              <a:ext uri="{FF2B5EF4-FFF2-40B4-BE49-F238E27FC236}">
                <a16:creationId xmlns:a16="http://schemas.microsoft.com/office/drawing/2014/main" id="{CA0239FF-8F91-4E97-BC7C-CE21EDD05932}"/>
              </a:ext>
            </a:extLst>
          </p:cNvPr>
          <p:cNvSpPr>
            <a:spLocks noGrp="1"/>
          </p:cNvSpPr>
          <p:nvPr/>
        </p:nvSpPr>
        <p:spPr>
          <a:xfrm>
            <a:off x="5295900" y="3686175"/>
            <a:ext cx="76200" cy="76200"/>
          </a:xfrm>
          <a:prstGeom prst="ellipse">
            <a:avLst/>
          </a:prstGeom>
          <a:solidFill>
            <a:srgbClr val="F97316"/>
          </a:solidFill>
          <a:ln w="0">
            <a:noFill/>
            <a:prstDash val="solid"/>
          </a:ln>
        </p:spPr>
      </p:sp>
      <p:sp>
        <p:nvSpPr>
          <p:cNvPr id="17" name="Rectangle 16">
            <a:extLst>
              <a:ext uri="{FF2B5EF4-FFF2-40B4-BE49-F238E27FC236}">
                <a16:creationId xmlns:a16="http://schemas.microsoft.com/office/drawing/2014/main" id="{601B217C-D9DF-4B05-95AF-3A7F45E061FC}"/>
              </a:ext>
            </a:extLst>
          </p:cNvPr>
          <p:cNvSpPr>
            <a:spLocks noGrp="1"/>
          </p:cNvSpPr>
          <p:nvPr/>
        </p:nvSpPr>
        <p:spPr>
          <a:xfrm>
            <a:off x="5486400" y="3619500"/>
            <a:ext cx="59436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Two or three selected findings with exact wording</a:t>
            </a:r>
          </a:p>
        </p:txBody>
      </p:sp>
      <p:sp>
        <p:nvSpPr>
          <p:cNvPr id="18" name="Oval 17">
            <a:extLst>
              <a:ext uri="{FF2B5EF4-FFF2-40B4-BE49-F238E27FC236}">
                <a16:creationId xmlns:a16="http://schemas.microsoft.com/office/drawing/2014/main" id="{93110D91-A221-4DA2-9F1C-1F341F457073}"/>
              </a:ext>
            </a:extLst>
          </p:cNvPr>
          <p:cNvSpPr>
            <a:spLocks noGrp="1"/>
          </p:cNvSpPr>
          <p:nvPr/>
        </p:nvSpPr>
        <p:spPr>
          <a:xfrm>
            <a:off x="5295900" y="4095750"/>
            <a:ext cx="76200" cy="76200"/>
          </a:xfrm>
          <a:prstGeom prst="ellipse">
            <a:avLst/>
          </a:prstGeom>
          <a:solidFill>
            <a:srgbClr val="F97316"/>
          </a:solidFill>
          <a:ln w="0">
            <a:noFill/>
            <a:prstDash val="solid"/>
          </a:ln>
        </p:spPr>
      </p:sp>
      <p:sp>
        <p:nvSpPr>
          <p:cNvPr id="19" name="Rectangle 18">
            <a:extLst>
              <a:ext uri="{FF2B5EF4-FFF2-40B4-BE49-F238E27FC236}">
                <a16:creationId xmlns:a16="http://schemas.microsoft.com/office/drawing/2014/main" id="{FF758639-9B82-4A60-8B9F-AFF9E42447D9}"/>
              </a:ext>
            </a:extLst>
          </p:cNvPr>
          <p:cNvSpPr>
            <a:spLocks noGrp="1"/>
          </p:cNvSpPr>
          <p:nvPr/>
        </p:nvSpPr>
        <p:spPr>
          <a:xfrm>
            <a:off x="5486400" y="4029075"/>
            <a:ext cx="59436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Source location for the complete survey output</a:t>
            </a:r>
          </a:p>
        </p:txBody>
      </p:sp>
      <p:sp>
        <p:nvSpPr>
          <p:cNvPr id="20" name="Oval 19">
            <a:extLst>
              <a:ext uri="{FF2B5EF4-FFF2-40B4-BE49-F238E27FC236}">
                <a16:creationId xmlns:a16="http://schemas.microsoft.com/office/drawing/2014/main" id="{B5DD10D2-404E-4536-98B0-222388402B8F}"/>
              </a:ext>
            </a:extLst>
          </p:cNvPr>
          <p:cNvSpPr>
            <a:spLocks noGrp="1"/>
          </p:cNvSpPr>
          <p:nvPr/>
        </p:nvSpPr>
        <p:spPr>
          <a:xfrm>
            <a:off x="5295900" y="4505325"/>
            <a:ext cx="76200" cy="76200"/>
          </a:xfrm>
          <a:prstGeom prst="ellipse">
            <a:avLst/>
          </a:prstGeom>
          <a:solidFill>
            <a:srgbClr val="F97316"/>
          </a:solidFill>
          <a:ln w="0">
            <a:noFill/>
            <a:prstDash val="solid"/>
          </a:ln>
        </p:spPr>
      </p:sp>
      <p:sp>
        <p:nvSpPr>
          <p:cNvPr id="21" name="Rectangle 20">
            <a:extLst>
              <a:ext uri="{FF2B5EF4-FFF2-40B4-BE49-F238E27FC236}">
                <a16:creationId xmlns:a16="http://schemas.microsoft.com/office/drawing/2014/main" id="{F5530AF4-3223-4BD7-9A43-9AD9A86746E4}"/>
              </a:ext>
            </a:extLst>
          </p:cNvPr>
          <p:cNvSpPr>
            <a:spLocks noGrp="1"/>
          </p:cNvSpPr>
          <p:nvPr/>
        </p:nvSpPr>
        <p:spPr>
          <a:xfrm>
            <a:off x="5486400" y="4438650"/>
            <a:ext cx="59436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One careful takeaway—no overgeneralization</a:t>
            </a:r>
          </a:p>
        </p:txBody>
      </p:sp>
      <p:sp>
        <p:nvSpPr>
          <p:cNvPr id="22" name="Straight Connector 21">
            <a:extLst>
              <a:ext uri="{FF2B5EF4-FFF2-40B4-BE49-F238E27FC236}">
                <a16:creationId xmlns:a16="http://schemas.microsoft.com/office/drawing/2014/main" id="{E1A9B5AE-D285-4EF7-B3E5-DE83AFBC08FE}"/>
              </a:ext>
            </a:extLst>
          </p:cNvPr>
          <p:cNvSpPr>
            <a:spLocks noGrp="1"/>
          </p:cNvSpPr>
          <p:nvPr/>
        </p:nvSpPr>
        <p:spPr>
          <a:xfrm>
            <a:off x="533400" y="6477000"/>
            <a:ext cx="11125200" cy="0"/>
          </a:xfrm>
          <a:prstGeom prst="line">
            <a:avLst/>
          </a:prstGeom>
          <a:noFill/>
          <a:ln w="9525">
            <a:solidFill>
              <a:srgbClr val="D8DEE8"/>
            </a:solidFill>
            <a:prstDash val="solid"/>
          </a:ln>
        </p:spPr>
      </p:sp>
      <p:sp>
        <p:nvSpPr>
          <p:cNvPr id="23" name="Rectangle 22">
            <a:extLst>
              <a:ext uri="{FF2B5EF4-FFF2-40B4-BE49-F238E27FC236}">
                <a16:creationId xmlns:a16="http://schemas.microsoft.com/office/drawing/2014/main" id="{8C7B2AE0-68F3-4E7E-9C64-F088B666AB0A}"/>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Owner-input shell · Survey percentages intentionally omitted pending Ana’s approved selection</a:t>
            </a:r>
          </a:p>
        </p:txBody>
      </p:sp>
    </p:spTree>
    <p:extLst>
      <p:ext uri="{BB962C8B-B14F-4D97-AF65-F5344CB8AC3E}">
        <p14:creationId xmlns:p14="http://schemas.microsoft.com/office/powerpoint/2010/main" val="89391331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5" name="Rounded Rectangle 34">
            <a:extLst>
              <a:ext uri="{FF2B5EF4-FFF2-40B4-BE49-F238E27FC236}">
                <a16:creationId xmlns:a16="http://schemas.microsoft.com/office/drawing/2014/main" id="{C92B442C-8FF6-47A5-9DAD-CF424FE09EA4}"/>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AARON</a:t>
            </a:r>
          </a:p>
        </p:txBody>
      </p:sp>
      <p:sp>
        <p:nvSpPr>
          <p:cNvPr id="2" name="slide-6-title">
            <a:extLst>
              <a:ext uri="{FF2B5EF4-FFF2-40B4-BE49-F238E27FC236}">
                <a16:creationId xmlns:a16="http://schemas.microsoft.com/office/drawing/2014/main" id="{541A7CB3-3AD0-445B-8722-8F65FB11E029}"/>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TripSync connects boarding into one governed journey</a:t>
            </a:r>
          </a:p>
        </p:txBody>
      </p:sp>
      <p:sp>
        <p:nvSpPr>
          <p:cNvPr id="3" name="Rectangle 2">
            <a:extLst>
              <a:ext uri="{FF2B5EF4-FFF2-40B4-BE49-F238E27FC236}">
                <a16:creationId xmlns:a16="http://schemas.microsoft.com/office/drawing/2014/main" id="{5D66C73E-6B02-4141-8D82-9BF656D69E31}"/>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The system supports staff decisions from demand planning to verified boarding.</a:t>
            </a:r>
          </a:p>
        </p:txBody>
      </p:sp>
      <p:sp>
        <p:nvSpPr>
          <p:cNvPr id="5" name="Rounded Rectangle 4">
            <a:extLst>
              <a:ext uri="{FF2B5EF4-FFF2-40B4-BE49-F238E27FC236}">
                <a16:creationId xmlns:a16="http://schemas.microsoft.com/office/drawing/2014/main" id="{65300B24-642A-4A2C-8E36-3C40FA74570B}"/>
              </a:ext>
            </a:extLst>
          </p:cNvPr>
          <p:cNvSpPr>
            <a:spLocks noGrp="1"/>
          </p:cNvSpPr>
          <p:nvPr/>
        </p:nvSpPr>
        <p:spPr>
          <a:xfrm>
            <a:off x="533400" y="1771650"/>
            <a:ext cx="228600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CURRENT STATE · PROTOTYPE</a:t>
            </a:r>
          </a:p>
        </p:txBody>
      </p:sp>
      <p:sp>
        <p:nvSpPr>
          <p:cNvPr id="6" name="Straight Connector 5">
            <a:extLst>
              <a:ext uri="{FF2B5EF4-FFF2-40B4-BE49-F238E27FC236}">
                <a16:creationId xmlns:a16="http://schemas.microsoft.com/office/drawing/2014/main" id="{A2F4373D-3D7A-4381-AA27-E9B196CB7A34}"/>
              </a:ext>
            </a:extLst>
          </p:cNvPr>
          <p:cNvSpPr>
            <a:spLocks noGrp="1"/>
          </p:cNvSpPr>
          <p:nvPr/>
        </p:nvSpPr>
        <p:spPr>
          <a:xfrm>
            <a:off x="1143000" y="3143250"/>
            <a:ext cx="9906000" cy="0"/>
          </a:xfrm>
          <a:prstGeom prst="line">
            <a:avLst/>
          </a:prstGeom>
          <a:noFill/>
          <a:ln w="28575">
            <a:solidFill>
              <a:srgbClr val="C8D4E2"/>
            </a:solidFill>
            <a:prstDash val="solid"/>
          </a:ln>
        </p:spPr>
      </p:sp>
      <p:sp>
        <p:nvSpPr>
          <p:cNvPr id="7" name="Oval 6">
            <a:extLst>
              <a:ext uri="{FF2B5EF4-FFF2-40B4-BE49-F238E27FC236}">
                <a16:creationId xmlns:a16="http://schemas.microsoft.com/office/drawing/2014/main" id="{F51E6A0F-5BC9-490D-9EB5-4ED2159C0C02}"/>
              </a:ext>
            </a:extLst>
          </p:cNvPr>
          <p:cNvSpPr>
            <a:spLocks noGrp="1"/>
          </p:cNvSpPr>
          <p:nvPr/>
        </p:nvSpPr>
        <p:spPr>
          <a:xfrm>
            <a:off x="1057275" y="3057525"/>
            <a:ext cx="171450" cy="171450"/>
          </a:xfrm>
          <a:prstGeom prst="ellipse">
            <a:avLst/>
          </a:prstGeom>
          <a:solidFill>
            <a:srgbClr val="F97316"/>
          </a:solidFill>
          <a:ln w="28575">
            <a:solidFill>
              <a:srgbClr val="FFFFFF"/>
            </a:solidFill>
            <a:prstDash val="solid"/>
          </a:ln>
        </p:spPr>
      </p:sp>
      <p:sp>
        <p:nvSpPr>
          <p:cNvPr id="8" name="Rectangle 7">
            <a:extLst>
              <a:ext uri="{FF2B5EF4-FFF2-40B4-BE49-F238E27FC236}">
                <a16:creationId xmlns:a16="http://schemas.microsoft.com/office/drawing/2014/main" id="{3A4902A7-CC38-4EB3-A808-AD239B4118C0}"/>
              </a:ext>
            </a:extLst>
          </p:cNvPr>
          <p:cNvSpPr>
            <a:spLocks noGrp="1"/>
          </p:cNvSpPr>
          <p:nvPr/>
        </p:nvSpPr>
        <p:spPr>
          <a:xfrm>
            <a:off x="552450" y="330517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Demand planning</a:t>
            </a:r>
          </a:p>
        </p:txBody>
      </p:sp>
      <p:sp>
        <p:nvSpPr>
          <p:cNvPr id="9" name="Oval 8">
            <a:extLst>
              <a:ext uri="{FF2B5EF4-FFF2-40B4-BE49-F238E27FC236}">
                <a16:creationId xmlns:a16="http://schemas.microsoft.com/office/drawing/2014/main" id="{7CD71A1C-861E-4B8A-AD19-E2FE432AB862}"/>
              </a:ext>
            </a:extLst>
          </p:cNvPr>
          <p:cNvSpPr>
            <a:spLocks noGrp="1"/>
          </p:cNvSpPr>
          <p:nvPr/>
        </p:nvSpPr>
        <p:spPr>
          <a:xfrm>
            <a:off x="4359275" y="3057525"/>
            <a:ext cx="171450" cy="171450"/>
          </a:xfrm>
          <a:prstGeom prst="ellipse">
            <a:avLst/>
          </a:prstGeom>
          <a:solidFill>
            <a:srgbClr val="175CD3"/>
          </a:solidFill>
          <a:ln w="28575">
            <a:solidFill>
              <a:srgbClr val="FFFFFF"/>
            </a:solidFill>
            <a:prstDash val="solid"/>
          </a:ln>
        </p:spPr>
      </p:sp>
      <p:sp>
        <p:nvSpPr>
          <p:cNvPr id="10" name="Rectangle 9">
            <a:extLst>
              <a:ext uri="{FF2B5EF4-FFF2-40B4-BE49-F238E27FC236}">
                <a16:creationId xmlns:a16="http://schemas.microsoft.com/office/drawing/2014/main" id="{A3205355-93C0-4674-B24F-398C986FA39E}"/>
              </a:ext>
            </a:extLst>
          </p:cNvPr>
          <p:cNvSpPr>
            <a:spLocks noGrp="1"/>
          </p:cNvSpPr>
          <p:nvPr/>
        </p:nvSpPr>
        <p:spPr>
          <a:xfrm>
            <a:off x="3854450" y="330517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Accessible seating</a:t>
            </a:r>
          </a:p>
        </p:txBody>
      </p:sp>
      <p:sp>
        <p:nvSpPr>
          <p:cNvPr id="11" name="Oval 10">
            <a:extLst>
              <a:ext uri="{FF2B5EF4-FFF2-40B4-BE49-F238E27FC236}">
                <a16:creationId xmlns:a16="http://schemas.microsoft.com/office/drawing/2014/main" id="{5F1003E3-3D0A-4BBF-A626-0D92C54DE001}"/>
              </a:ext>
            </a:extLst>
          </p:cNvPr>
          <p:cNvSpPr>
            <a:spLocks noGrp="1"/>
          </p:cNvSpPr>
          <p:nvPr/>
        </p:nvSpPr>
        <p:spPr>
          <a:xfrm>
            <a:off x="7661275" y="3057525"/>
            <a:ext cx="171450" cy="171450"/>
          </a:xfrm>
          <a:prstGeom prst="ellipse">
            <a:avLst/>
          </a:prstGeom>
          <a:solidFill>
            <a:srgbClr val="175CD3"/>
          </a:solidFill>
          <a:ln w="28575">
            <a:solidFill>
              <a:srgbClr val="FFFFFF"/>
            </a:solidFill>
            <a:prstDash val="solid"/>
          </a:ln>
        </p:spPr>
      </p:sp>
      <p:sp>
        <p:nvSpPr>
          <p:cNvPr id="12" name="Rectangle 11">
            <a:extLst>
              <a:ext uri="{FF2B5EF4-FFF2-40B4-BE49-F238E27FC236}">
                <a16:creationId xmlns:a16="http://schemas.microsoft.com/office/drawing/2014/main" id="{C04345D3-AB43-48F2-8E68-E8D4E4F13019}"/>
              </a:ext>
            </a:extLst>
          </p:cNvPr>
          <p:cNvSpPr>
            <a:spLocks noGrp="1"/>
          </p:cNvSpPr>
          <p:nvPr/>
        </p:nvSpPr>
        <p:spPr>
          <a:xfrm>
            <a:off x="7156450" y="330517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Passenger guidance</a:t>
            </a:r>
          </a:p>
        </p:txBody>
      </p:sp>
      <p:sp>
        <p:nvSpPr>
          <p:cNvPr id="13" name="Oval 12">
            <a:extLst>
              <a:ext uri="{FF2B5EF4-FFF2-40B4-BE49-F238E27FC236}">
                <a16:creationId xmlns:a16="http://schemas.microsoft.com/office/drawing/2014/main" id="{940557B5-0D47-48A5-AC06-BB31FCD2FBD9}"/>
              </a:ext>
            </a:extLst>
          </p:cNvPr>
          <p:cNvSpPr>
            <a:spLocks noGrp="1"/>
          </p:cNvSpPr>
          <p:nvPr/>
        </p:nvSpPr>
        <p:spPr>
          <a:xfrm>
            <a:off x="10963275" y="3057525"/>
            <a:ext cx="171450" cy="171450"/>
          </a:xfrm>
          <a:prstGeom prst="ellipse">
            <a:avLst/>
          </a:prstGeom>
          <a:solidFill>
            <a:srgbClr val="087A55"/>
          </a:solidFill>
          <a:ln w="28575">
            <a:solidFill>
              <a:srgbClr val="FFFFFF"/>
            </a:solidFill>
            <a:prstDash val="solid"/>
          </a:ln>
        </p:spPr>
      </p:sp>
      <p:sp>
        <p:nvSpPr>
          <p:cNvPr id="14" name="Rectangle 13">
            <a:extLst>
              <a:ext uri="{FF2B5EF4-FFF2-40B4-BE49-F238E27FC236}">
                <a16:creationId xmlns:a16="http://schemas.microsoft.com/office/drawing/2014/main" id="{13FBA4DB-AE3E-4079-9DCB-984A6A9026A1}"/>
              </a:ext>
            </a:extLst>
          </p:cNvPr>
          <p:cNvSpPr>
            <a:spLocks noGrp="1"/>
          </p:cNvSpPr>
          <p:nvPr/>
        </p:nvSpPr>
        <p:spPr>
          <a:xfrm>
            <a:off x="10458450" y="330517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Verified boarding</a:t>
            </a:r>
          </a:p>
        </p:txBody>
      </p:sp>
      <p:sp>
        <p:nvSpPr>
          <p:cNvPr id="15" name="Rounded Rectangle 14">
            <a:extLst>
              <a:ext uri="{FF2B5EF4-FFF2-40B4-BE49-F238E27FC236}">
                <a16:creationId xmlns:a16="http://schemas.microsoft.com/office/drawing/2014/main" id="{9B9171E1-1662-4C9E-90DE-A4522471910C}"/>
              </a:ext>
            </a:extLst>
          </p:cNvPr>
          <p:cNvSpPr>
            <a:spLocks noGrp="1"/>
          </p:cNvSpPr>
          <p:nvPr/>
        </p:nvSpPr>
        <p:spPr>
          <a:xfrm>
            <a:off x="628650" y="3829050"/>
            <a:ext cx="2286000" cy="1600200"/>
          </a:xfrm>
          <a:prstGeom prst="roundRect">
            <a:avLst>
              <a:gd name="adj" fmla="val 10714"/>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16" name="Rectangle 15">
            <a:extLst>
              <a:ext uri="{FF2B5EF4-FFF2-40B4-BE49-F238E27FC236}">
                <a16:creationId xmlns:a16="http://schemas.microsoft.com/office/drawing/2014/main" id="{9FB127D9-660C-4A0B-83E1-6A54CFDA1012}"/>
              </a:ext>
            </a:extLst>
          </p:cNvPr>
          <p:cNvSpPr>
            <a:spLocks noGrp="1"/>
          </p:cNvSpPr>
          <p:nvPr/>
        </p:nvSpPr>
        <p:spPr>
          <a:xfrm>
            <a:off x="800100" y="4000500"/>
            <a:ext cx="381000" cy="228600"/>
          </a:xfrm>
          <a:prstGeom prst="rect">
            <a:avLst/>
          </a:prstGeom>
          <a:noFill/>
          <a:ln w="0">
            <a:noFill/>
            <a:prstDash val="solid"/>
          </a:ln>
        </p:spPr>
        <p:txBody>
          <a:bodyPr wrap="square" lIns="0" tIns="0" rIns="0" bIns="0" anchor="t">
            <a:normAutofit/>
          </a:bodyPr>
          <a:lstStyle/>
          <a:p>
            <a:pPr algn="l">
              <a:defRPr sz="1050" b="1" i="0">
                <a:solidFill>
                  <a:srgbClr val="F97316"/>
                </a:solidFill>
                <a:latin typeface="Lexend"/>
                <a:ea typeface="Lexend"/>
                <a:cs typeface="Lexend"/>
              </a:defRPr>
            </a:pPr>
            <a:r>
              <a:rPr sz="1050" b="1" i="0">
                <a:solidFill>
                  <a:srgbClr val="F97316"/>
                </a:solidFill>
                <a:latin typeface="Lexend"/>
                <a:ea typeface="Lexend"/>
                <a:cs typeface="Lexend"/>
              </a:rPr>
              <a:t>01</a:t>
            </a:r>
          </a:p>
        </p:txBody>
      </p:sp>
      <p:sp>
        <p:nvSpPr>
          <p:cNvPr id="17" name="Rectangle 16">
            <a:extLst>
              <a:ext uri="{FF2B5EF4-FFF2-40B4-BE49-F238E27FC236}">
                <a16:creationId xmlns:a16="http://schemas.microsoft.com/office/drawing/2014/main" id="{8F8B45DE-551B-4AA0-8235-9FD9979AFA86}"/>
              </a:ext>
            </a:extLst>
          </p:cNvPr>
          <p:cNvSpPr>
            <a:spLocks noGrp="1"/>
          </p:cNvSpPr>
          <p:nvPr/>
        </p:nvSpPr>
        <p:spPr>
          <a:xfrm>
            <a:off x="800100" y="4333875"/>
            <a:ext cx="1809750" cy="285750"/>
          </a:xfrm>
          <a:prstGeom prst="rect">
            <a:avLst/>
          </a:prstGeom>
          <a:noFill/>
          <a:ln w="0">
            <a:noFill/>
            <a:prstDash val="solid"/>
          </a:ln>
        </p:spPr>
        <p:txBody>
          <a:bodyPr wrap="square" lIns="0" tIns="0" rIns="0" bIns="0" anchor="t">
            <a:normAutofit/>
          </a:bodyPr>
          <a:lstStyle/>
          <a:p>
            <a:pPr algn="l">
              <a:defRPr sz="1650" b="1" i="0">
                <a:solidFill>
                  <a:srgbClr val="132238"/>
                </a:solidFill>
                <a:latin typeface="Lexend"/>
                <a:ea typeface="Lexend"/>
                <a:cs typeface="Lexend"/>
              </a:defRPr>
            </a:pPr>
            <a:r>
              <a:rPr sz="1650" b="1" i="0">
                <a:solidFill>
                  <a:srgbClr val="132238"/>
                </a:solidFill>
                <a:latin typeface="Lexend"/>
                <a:ea typeface="Lexend"/>
                <a:cs typeface="Lexend"/>
              </a:rPr>
              <a:t>Plan</a:t>
            </a:r>
          </a:p>
        </p:txBody>
      </p:sp>
      <p:sp>
        <p:nvSpPr>
          <p:cNvPr id="18" name="Rectangle 17">
            <a:extLst>
              <a:ext uri="{FF2B5EF4-FFF2-40B4-BE49-F238E27FC236}">
                <a16:creationId xmlns:a16="http://schemas.microsoft.com/office/drawing/2014/main" id="{8D0065AB-3D5B-4F63-AE30-6F88042F8AAF}"/>
              </a:ext>
            </a:extLst>
          </p:cNvPr>
          <p:cNvSpPr>
            <a:spLocks noGrp="1"/>
          </p:cNvSpPr>
          <p:nvPr/>
        </p:nvSpPr>
        <p:spPr>
          <a:xfrm>
            <a:off x="800100" y="4714875"/>
            <a:ext cx="1943100" cy="533400"/>
          </a:xfrm>
          <a:prstGeom prst="rect">
            <a:avLst/>
          </a:prstGeom>
          <a:noFill/>
          <a:ln w="0">
            <a:noFill/>
            <a:prstDash val="solid"/>
          </a:ln>
        </p:spPr>
        <p:txBody>
          <a:bodyPr wrap="square" lIns="0" tIns="0" rIns="0" bIns="0" anchor="t">
            <a:normAutofit/>
          </a:bodyPr>
          <a:lstStyle/>
          <a:p>
            <a:pPr algn="l">
              <a:defRPr sz="1200" b="0" i="0">
                <a:solidFill>
                  <a:srgbClr val="5F6B7A"/>
                </a:solidFill>
                <a:latin typeface="Source Sans 3"/>
                <a:ea typeface="Source Sans 3"/>
                <a:cs typeface="Source Sans 3"/>
              </a:defRPr>
            </a:pPr>
            <a:r>
              <a:rPr sz="1200" b="0" i="0">
                <a:solidFill>
                  <a:srgbClr val="5F6B7A"/>
                </a:solidFill>
                <a:latin typeface="Source Sans 3"/>
                <a:ea typeface="Source Sans 3"/>
                <a:cs typeface="Source Sans 3"/>
              </a:rPr>
              <a:t>Seven-day demand context for operator review.</a:t>
            </a:r>
          </a:p>
        </p:txBody>
      </p:sp>
      <p:sp>
        <p:nvSpPr>
          <p:cNvPr id="19" name="Rounded Rectangle 18">
            <a:extLst>
              <a:ext uri="{FF2B5EF4-FFF2-40B4-BE49-F238E27FC236}">
                <a16:creationId xmlns:a16="http://schemas.microsoft.com/office/drawing/2014/main" id="{FE52319F-D514-46FB-8CEC-5DF7F266685E}"/>
              </a:ext>
            </a:extLst>
          </p:cNvPr>
          <p:cNvSpPr>
            <a:spLocks noGrp="1"/>
          </p:cNvSpPr>
          <p:nvPr/>
        </p:nvSpPr>
        <p:spPr>
          <a:xfrm>
            <a:off x="3333750" y="3829050"/>
            <a:ext cx="2286000" cy="1600200"/>
          </a:xfrm>
          <a:prstGeom prst="roundRect">
            <a:avLst>
              <a:gd name="adj" fmla="val 10714"/>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20" name="Rectangle 19">
            <a:extLst>
              <a:ext uri="{FF2B5EF4-FFF2-40B4-BE49-F238E27FC236}">
                <a16:creationId xmlns:a16="http://schemas.microsoft.com/office/drawing/2014/main" id="{3CD20F6A-D922-4CC7-B8FE-EC50D00E3696}"/>
              </a:ext>
            </a:extLst>
          </p:cNvPr>
          <p:cNvSpPr>
            <a:spLocks noGrp="1"/>
          </p:cNvSpPr>
          <p:nvPr/>
        </p:nvSpPr>
        <p:spPr>
          <a:xfrm>
            <a:off x="3505200" y="4000500"/>
            <a:ext cx="381000" cy="228600"/>
          </a:xfrm>
          <a:prstGeom prst="rect">
            <a:avLst/>
          </a:prstGeom>
          <a:noFill/>
          <a:ln w="0">
            <a:noFill/>
            <a:prstDash val="solid"/>
          </a:ln>
        </p:spPr>
        <p:txBody>
          <a:bodyPr wrap="square" lIns="0" tIns="0" rIns="0" bIns="0" anchor="t">
            <a:normAutofit/>
          </a:bodyPr>
          <a:lstStyle/>
          <a:p>
            <a:pPr algn="l">
              <a:defRPr sz="1050" b="1" i="0">
                <a:solidFill>
                  <a:srgbClr val="F97316"/>
                </a:solidFill>
                <a:latin typeface="Lexend"/>
                <a:ea typeface="Lexend"/>
                <a:cs typeface="Lexend"/>
              </a:defRPr>
            </a:pPr>
            <a:r>
              <a:rPr sz="1050" b="1" i="0">
                <a:solidFill>
                  <a:srgbClr val="F97316"/>
                </a:solidFill>
                <a:latin typeface="Lexend"/>
                <a:ea typeface="Lexend"/>
                <a:cs typeface="Lexend"/>
              </a:rPr>
              <a:t>02</a:t>
            </a:r>
          </a:p>
        </p:txBody>
      </p:sp>
      <p:sp>
        <p:nvSpPr>
          <p:cNvPr id="21" name="Rectangle 20">
            <a:extLst>
              <a:ext uri="{FF2B5EF4-FFF2-40B4-BE49-F238E27FC236}">
                <a16:creationId xmlns:a16="http://schemas.microsoft.com/office/drawing/2014/main" id="{0A5409AB-0315-4D48-B994-76956474CCFC}"/>
              </a:ext>
            </a:extLst>
          </p:cNvPr>
          <p:cNvSpPr>
            <a:spLocks noGrp="1"/>
          </p:cNvSpPr>
          <p:nvPr/>
        </p:nvSpPr>
        <p:spPr>
          <a:xfrm>
            <a:off x="3505200" y="4333875"/>
            <a:ext cx="1809750" cy="285750"/>
          </a:xfrm>
          <a:prstGeom prst="rect">
            <a:avLst/>
          </a:prstGeom>
          <a:noFill/>
          <a:ln w="0">
            <a:noFill/>
            <a:prstDash val="solid"/>
          </a:ln>
        </p:spPr>
        <p:txBody>
          <a:bodyPr wrap="square" lIns="0" tIns="0" rIns="0" bIns="0" anchor="t">
            <a:normAutofit/>
          </a:bodyPr>
          <a:lstStyle/>
          <a:p>
            <a:pPr algn="l">
              <a:defRPr sz="1650" b="1" i="0">
                <a:solidFill>
                  <a:srgbClr val="132238"/>
                </a:solidFill>
                <a:latin typeface="Lexend"/>
                <a:ea typeface="Lexend"/>
                <a:cs typeface="Lexend"/>
              </a:defRPr>
            </a:pPr>
            <a:r>
              <a:rPr sz="1650" b="1" i="0">
                <a:solidFill>
                  <a:srgbClr val="132238"/>
                </a:solidFill>
                <a:latin typeface="Lexend"/>
                <a:ea typeface="Lexend"/>
                <a:cs typeface="Lexend"/>
              </a:rPr>
              <a:t>Seat</a:t>
            </a:r>
          </a:p>
        </p:txBody>
      </p:sp>
      <p:sp>
        <p:nvSpPr>
          <p:cNvPr id="22" name="Rectangle 21">
            <a:extLst>
              <a:ext uri="{FF2B5EF4-FFF2-40B4-BE49-F238E27FC236}">
                <a16:creationId xmlns:a16="http://schemas.microsoft.com/office/drawing/2014/main" id="{6133F5D6-DCE3-4CE0-AC7B-8609340BE8CC}"/>
              </a:ext>
            </a:extLst>
          </p:cNvPr>
          <p:cNvSpPr>
            <a:spLocks noGrp="1"/>
          </p:cNvSpPr>
          <p:nvPr/>
        </p:nvSpPr>
        <p:spPr>
          <a:xfrm>
            <a:off x="3505200" y="4714875"/>
            <a:ext cx="1943100" cy="533400"/>
          </a:xfrm>
          <a:prstGeom prst="rect">
            <a:avLst/>
          </a:prstGeom>
          <a:noFill/>
          <a:ln w="0">
            <a:noFill/>
            <a:prstDash val="solid"/>
          </a:ln>
        </p:spPr>
        <p:txBody>
          <a:bodyPr wrap="square" lIns="0" tIns="0" rIns="0" bIns="0" anchor="t">
            <a:normAutofit fontScale="97222"/>
          </a:bodyPr>
          <a:lstStyle/>
          <a:p>
            <a:pPr algn="l">
              <a:defRPr sz="1200" b="0" i="0">
                <a:solidFill>
                  <a:srgbClr val="5F6B7A"/>
                </a:solidFill>
                <a:latin typeface="Source Sans 3"/>
                <a:ea typeface="Source Sans 3"/>
                <a:cs typeface="Source Sans 3"/>
              </a:defRPr>
            </a:pPr>
            <a:r>
              <a:rPr sz="1200" b="0" i="0">
                <a:solidFill>
                  <a:srgbClr val="5F6B7A"/>
                </a:solidFill>
                <a:latin typeface="Source Sans 3"/>
                <a:ea typeface="Source Sans 3"/>
                <a:cs typeface="Source Sans 3"/>
              </a:rPr>
              <a:t>Explainable recommendations with accessibility first.</a:t>
            </a:r>
          </a:p>
        </p:txBody>
      </p:sp>
      <p:sp>
        <p:nvSpPr>
          <p:cNvPr id="23" name="Rounded Rectangle 22">
            <a:extLst>
              <a:ext uri="{FF2B5EF4-FFF2-40B4-BE49-F238E27FC236}">
                <a16:creationId xmlns:a16="http://schemas.microsoft.com/office/drawing/2014/main" id="{A34C1DB8-3E0C-413E-9C71-4F92098BC0CD}"/>
              </a:ext>
            </a:extLst>
          </p:cNvPr>
          <p:cNvSpPr>
            <a:spLocks noGrp="1"/>
          </p:cNvSpPr>
          <p:nvPr/>
        </p:nvSpPr>
        <p:spPr>
          <a:xfrm>
            <a:off x="6038850" y="3829050"/>
            <a:ext cx="2286000" cy="1600200"/>
          </a:xfrm>
          <a:prstGeom prst="roundRect">
            <a:avLst>
              <a:gd name="adj" fmla="val 10714"/>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24" name="Rectangle 23">
            <a:extLst>
              <a:ext uri="{FF2B5EF4-FFF2-40B4-BE49-F238E27FC236}">
                <a16:creationId xmlns:a16="http://schemas.microsoft.com/office/drawing/2014/main" id="{9A425349-5427-4543-951B-A1AC3C5EDF1F}"/>
              </a:ext>
            </a:extLst>
          </p:cNvPr>
          <p:cNvSpPr>
            <a:spLocks noGrp="1"/>
          </p:cNvSpPr>
          <p:nvPr/>
        </p:nvSpPr>
        <p:spPr>
          <a:xfrm>
            <a:off x="6210300" y="4000500"/>
            <a:ext cx="381000" cy="228600"/>
          </a:xfrm>
          <a:prstGeom prst="rect">
            <a:avLst/>
          </a:prstGeom>
          <a:noFill/>
          <a:ln w="0">
            <a:noFill/>
            <a:prstDash val="solid"/>
          </a:ln>
        </p:spPr>
        <p:txBody>
          <a:bodyPr wrap="square" lIns="0" tIns="0" rIns="0" bIns="0" anchor="t">
            <a:normAutofit/>
          </a:bodyPr>
          <a:lstStyle/>
          <a:p>
            <a:pPr algn="l">
              <a:defRPr sz="1050" b="1" i="0">
                <a:solidFill>
                  <a:srgbClr val="F97316"/>
                </a:solidFill>
                <a:latin typeface="Lexend"/>
                <a:ea typeface="Lexend"/>
                <a:cs typeface="Lexend"/>
              </a:defRPr>
            </a:pPr>
            <a:r>
              <a:rPr sz="1050" b="1" i="0">
                <a:solidFill>
                  <a:srgbClr val="F97316"/>
                </a:solidFill>
                <a:latin typeface="Lexend"/>
                <a:ea typeface="Lexend"/>
                <a:cs typeface="Lexend"/>
              </a:rPr>
              <a:t>03</a:t>
            </a:r>
          </a:p>
        </p:txBody>
      </p:sp>
      <p:sp>
        <p:nvSpPr>
          <p:cNvPr id="25" name="Rectangle 24">
            <a:extLst>
              <a:ext uri="{FF2B5EF4-FFF2-40B4-BE49-F238E27FC236}">
                <a16:creationId xmlns:a16="http://schemas.microsoft.com/office/drawing/2014/main" id="{49E4CE18-DC92-4744-938E-F4229B4B21FB}"/>
              </a:ext>
            </a:extLst>
          </p:cNvPr>
          <p:cNvSpPr>
            <a:spLocks noGrp="1"/>
          </p:cNvSpPr>
          <p:nvPr/>
        </p:nvSpPr>
        <p:spPr>
          <a:xfrm>
            <a:off x="6210300" y="4333875"/>
            <a:ext cx="1809750" cy="285750"/>
          </a:xfrm>
          <a:prstGeom prst="rect">
            <a:avLst/>
          </a:prstGeom>
          <a:noFill/>
          <a:ln w="0">
            <a:noFill/>
            <a:prstDash val="solid"/>
          </a:ln>
        </p:spPr>
        <p:txBody>
          <a:bodyPr wrap="square" lIns="0" tIns="0" rIns="0" bIns="0" anchor="t">
            <a:normAutofit/>
          </a:bodyPr>
          <a:lstStyle/>
          <a:p>
            <a:pPr algn="l">
              <a:defRPr sz="1650" b="1" i="0">
                <a:solidFill>
                  <a:srgbClr val="132238"/>
                </a:solidFill>
                <a:latin typeface="Lexend"/>
                <a:ea typeface="Lexend"/>
                <a:cs typeface="Lexend"/>
              </a:defRPr>
            </a:pPr>
            <a:r>
              <a:rPr sz="1650" b="1" i="0">
                <a:solidFill>
                  <a:srgbClr val="132238"/>
                </a:solidFill>
                <a:latin typeface="Lexend"/>
                <a:ea typeface="Lexend"/>
                <a:cs typeface="Lexend"/>
              </a:rPr>
              <a:t>Guide</a:t>
            </a:r>
          </a:p>
        </p:txBody>
      </p:sp>
      <p:sp>
        <p:nvSpPr>
          <p:cNvPr id="26" name="Rectangle 25">
            <a:extLst>
              <a:ext uri="{FF2B5EF4-FFF2-40B4-BE49-F238E27FC236}">
                <a16:creationId xmlns:a16="http://schemas.microsoft.com/office/drawing/2014/main" id="{1EE6E9EF-028E-437E-A492-76D5E3A0D37F}"/>
              </a:ext>
            </a:extLst>
          </p:cNvPr>
          <p:cNvSpPr>
            <a:spLocks noGrp="1"/>
          </p:cNvSpPr>
          <p:nvPr/>
        </p:nvSpPr>
        <p:spPr>
          <a:xfrm>
            <a:off x="6210300" y="4714875"/>
            <a:ext cx="1943100" cy="533400"/>
          </a:xfrm>
          <a:prstGeom prst="rect">
            <a:avLst/>
          </a:prstGeom>
          <a:noFill/>
          <a:ln w="0">
            <a:noFill/>
            <a:prstDash val="solid"/>
          </a:ln>
        </p:spPr>
        <p:txBody>
          <a:bodyPr wrap="square" lIns="0" tIns="0" rIns="0" bIns="0" anchor="t">
            <a:normAutofit/>
          </a:bodyPr>
          <a:lstStyle/>
          <a:p>
            <a:pPr algn="l">
              <a:defRPr sz="1200" b="0" i="0">
                <a:solidFill>
                  <a:srgbClr val="5F6B7A"/>
                </a:solidFill>
                <a:latin typeface="Source Sans 3"/>
                <a:ea typeface="Source Sans 3"/>
                <a:cs typeface="Source Sans 3"/>
              </a:defRPr>
            </a:pPr>
            <a:r>
              <a:rPr sz="1200" b="0" i="0">
                <a:solidFill>
                  <a:srgbClr val="5F6B7A"/>
                </a:solidFill>
                <a:latin typeface="Source Sans 3"/>
                <a:ea typeface="Source Sans 3"/>
                <a:cs typeface="Source Sans 3"/>
              </a:rPr>
              <a:t>Clear passenger steps across the booking journey.</a:t>
            </a:r>
          </a:p>
        </p:txBody>
      </p:sp>
      <p:sp>
        <p:nvSpPr>
          <p:cNvPr id="27" name="Rounded Rectangle 26">
            <a:extLst>
              <a:ext uri="{FF2B5EF4-FFF2-40B4-BE49-F238E27FC236}">
                <a16:creationId xmlns:a16="http://schemas.microsoft.com/office/drawing/2014/main" id="{0984C492-214E-486E-9C97-B20F5DB5735C}"/>
              </a:ext>
            </a:extLst>
          </p:cNvPr>
          <p:cNvSpPr>
            <a:spLocks noGrp="1"/>
          </p:cNvSpPr>
          <p:nvPr/>
        </p:nvSpPr>
        <p:spPr>
          <a:xfrm>
            <a:off x="8743950" y="3829050"/>
            <a:ext cx="2286000" cy="1600200"/>
          </a:xfrm>
          <a:prstGeom prst="roundRect">
            <a:avLst>
              <a:gd name="adj" fmla="val 10714"/>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28" name="Rectangle 27">
            <a:extLst>
              <a:ext uri="{FF2B5EF4-FFF2-40B4-BE49-F238E27FC236}">
                <a16:creationId xmlns:a16="http://schemas.microsoft.com/office/drawing/2014/main" id="{7A216BF3-4878-44AC-9DC9-D8796D6F68A5}"/>
              </a:ext>
            </a:extLst>
          </p:cNvPr>
          <p:cNvSpPr>
            <a:spLocks noGrp="1"/>
          </p:cNvSpPr>
          <p:nvPr/>
        </p:nvSpPr>
        <p:spPr>
          <a:xfrm>
            <a:off x="8915400" y="4000500"/>
            <a:ext cx="381000" cy="228600"/>
          </a:xfrm>
          <a:prstGeom prst="rect">
            <a:avLst/>
          </a:prstGeom>
          <a:noFill/>
          <a:ln w="0">
            <a:noFill/>
            <a:prstDash val="solid"/>
          </a:ln>
        </p:spPr>
        <p:txBody>
          <a:bodyPr wrap="square" lIns="0" tIns="0" rIns="0" bIns="0" anchor="t">
            <a:normAutofit/>
          </a:bodyPr>
          <a:lstStyle/>
          <a:p>
            <a:pPr algn="l">
              <a:defRPr sz="1050" b="1" i="0">
                <a:solidFill>
                  <a:srgbClr val="F97316"/>
                </a:solidFill>
                <a:latin typeface="Lexend"/>
                <a:ea typeface="Lexend"/>
                <a:cs typeface="Lexend"/>
              </a:defRPr>
            </a:pPr>
            <a:r>
              <a:rPr sz="1050" b="1" i="0">
                <a:solidFill>
                  <a:srgbClr val="F97316"/>
                </a:solidFill>
                <a:latin typeface="Lexend"/>
                <a:ea typeface="Lexend"/>
                <a:cs typeface="Lexend"/>
              </a:rPr>
              <a:t>04</a:t>
            </a:r>
          </a:p>
        </p:txBody>
      </p:sp>
      <p:sp>
        <p:nvSpPr>
          <p:cNvPr id="29" name="Rectangle 28">
            <a:extLst>
              <a:ext uri="{FF2B5EF4-FFF2-40B4-BE49-F238E27FC236}">
                <a16:creationId xmlns:a16="http://schemas.microsoft.com/office/drawing/2014/main" id="{065D7144-EA75-4DA8-9D9D-A84FB81783A1}"/>
              </a:ext>
            </a:extLst>
          </p:cNvPr>
          <p:cNvSpPr>
            <a:spLocks noGrp="1"/>
          </p:cNvSpPr>
          <p:nvPr/>
        </p:nvSpPr>
        <p:spPr>
          <a:xfrm>
            <a:off x="8915400" y="4333875"/>
            <a:ext cx="1809750" cy="285750"/>
          </a:xfrm>
          <a:prstGeom prst="rect">
            <a:avLst/>
          </a:prstGeom>
          <a:noFill/>
          <a:ln w="0">
            <a:noFill/>
            <a:prstDash val="solid"/>
          </a:ln>
        </p:spPr>
        <p:txBody>
          <a:bodyPr wrap="square" lIns="0" tIns="0" rIns="0" bIns="0" anchor="t">
            <a:normAutofit/>
          </a:bodyPr>
          <a:lstStyle/>
          <a:p>
            <a:pPr algn="l">
              <a:defRPr sz="1650" b="1" i="0">
                <a:solidFill>
                  <a:srgbClr val="132238"/>
                </a:solidFill>
                <a:latin typeface="Lexend"/>
                <a:ea typeface="Lexend"/>
                <a:cs typeface="Lexend"/>
              </a:defRPr>
            </a:pPr>
            <a:r>
              <a:rPr sz="1650" b="1" i="0">
                <a:solidFill>
                  <a:srgbClr val="132238"/>
                </a:solidFill>
                <a:latin typeface="Lexend"/>
                <a:ea typeface="Lexend"/>
                <a:cs typeface="Lexend"/>
              </a:rPr>
              <a:t>Board</a:t>
            </a:r>
          </a:p>
        </p:txBody>
      </p:sp>
      <p:sp>
        <p:nvSpPr>
          <p:cNvPr id="30" name="Rectangle 29">
            <a:extLst>
              <a:ext uri="{FF2B5EF4-FFF2-40B4-BE49-F238E27FC236}">
                <a16:creationId xmlns:a16="http://schemas.microsoft.com/office/drawing/2014/main" id="{FE37CC13-9972-44B4-A371-D2ED47F3ED27}"/>
              </a:ext>
            </a:extLst>
          </p:cNvPr>
          <p:cNvSpPr>
            <a:spLocks noGrp="1"/>
          </p:cNvSpPr>
          <p:nvPr/>
        </p:nvSpPr>
        <p:spPr>
          <a:xfrm>
            <a:off x="8915400" y="4714875"/>
            <a:ext cx="1943100" cy="533400"/>
          </a:xfrm>
          <a:prstGeom prst="rect">
            <a:avLst/>
          </a:prstGeom>
          <a:noFill/>
          <a:ln w="0">
            <a:noFill/>
            <a:prstDash val="solid"/>
          </a:ln>
        </p:spPr>
        <p:txBody>
          <a:bodyPr wrap="square" lIns="0" tIns="0" rIns="0" bIns="0" anchor="t">
            <a:normAutofit/>
          </a:bodyPr>
          <a:lstStyle/>
          <a:p>
            <a:pPr algn="l">
              <a:defRPr sz="1200" b="0" i="0">
                <a:solidFill>
                  <a:srgbClr val="5F6B7A"/>
                </a:solidFill>
                <a:latin typeface="Source Sans 3"/>
                <a:ea typeface="Source Sans 3"/>
                <a:cs typeface="Source Sans 3"/>
              </a:defRPr>
            </a:pPr>
            <a:r>
              <a:rPr sz="1200" b="0" i="0">
                <a:solidFill>
                  <a:srgbClr val="5F6B7A"/>
                </a:solidFill>
                <a:latin typeface="Source Sans 3"/>
                <a:ea typeface="Source Sans 3"/>
                <a:cs typeface="Source Sans 3"/>
              </a:rPr>
              <a:t>Signed QR passes designed for offline verification.</a:t>
            </a:r>
          </a:p>
        </p:txBody>
      </p:sp>
      <p:sp>
        <p:nvSpPr>
          <p:cNvPr id="31" name="Rounded Rectangle 30">
            <a:extLst>
              <a:ext uri="{FF2B5EF4-FFF2-40B4-BE49-F238E27FC236}">
                <a16:creationId xmlns:a16="http://schemas.microsoft.com/office/drawing/2014/main" id="{4A4A9DDC-437E-4A7E-8949-2B7D1D35A38E}"/>
              </a:ext>
            </a:extLst>
          </p:cNvPr>
          <p:cNvSpPr>
            <a:spLocks noGrp="1"/>
          </p:cNvSpPr>
          <p:nvPr/>
        </p:nvSpPr>
        <p:spPr>
          <a:xfrm>
            <a:off x="2057400" y="5715000"/>
            <a:ext cx="8077200" cy="457200"/>
          </a:xfrm>
          <a:prstGeom prst="roundRect">
            <a:avLst>
              <a:gd name="adj" fmla="val 33333"/>
            </a:avLst>
          </a:prstGeom>
          <a:solidFill>
            <a:srgbClr val="E8F6F1"/>
          </a:solidFill>
          <a:ln w="9525">
            <a:solidFill>
              <a:srgbClr val="A7E0CC"/>
            </a:solidFill>
            <a:prstDash val="solid"/>
          </a:ln>
        </p:spPr>
      </p:sp>
      <p:sp>
        <p:nvSpPr>
          <p:cNvPr id="32" name="Rectangle 31">
            <a:extLst>
              <a:ext uri="{FF2B5EF4-FFF2-40B4-BE49-F238E27FC236}">
                <a16:creationId xmlns:a16="http://schemas.microsoft.com/office/drawing/2014/main" id="{A5D1C111-0732-40D8-A0F7-96CB8C08905B}"/>
              </a:ext>
            </a:extLst>
          </p:cNvPr>
          <p:cNvSpPr>
            <a:spLocks noGrp="1"/>
          </p:cNvSpPr>
          <p:nvPr/>
        </p:nvSpPr>
        <p:spPr>
          <a:xfrm>
            <a:off x="2247900" y="5810250"/>
            <a:ext cx="7696200" cy="257175"/>
          </a:xfrm>
          <a:prstGeom prst="rect">
            <a:avLst/>
          </a:prstGeom>
          <a:noFill/>
          <a:ln w="0">
            <a:noFill/>
            <a:prstDash val="solid"/>
          </a:ln>
        </p:spPr>
        <p:txBody>
          <a:bodyPr wrap="square" lIns="0" tIns="0" rIns="0" bIns="0" anchor="t">
            <a:normAutofit/>
          </a:bodyPr>
          <a:lstStyle/>
          <a:p>
            <a:pPr algn="ctr">
              <a:defRPr sz="1350" b="1" i="0">
                <a:solidFill>
                  <a:srgbClr val="087A55"/>
                </a:solidFill>
                <a:latin typeface="Lexend"/>
                <a:ea typeface="Lexend"/>
                <a:cs typeface="Lexend"/>
              </a:defRPr>
            </a:pPr>
            <a:r>
              <a:rPr sz="1350" b="1" i="0">
                <a:solidFill>
                  <a:srgbClr val="087A55"/>
                </a:solidFill>
                <a:latin typeface="Lexend"/>
                <a:ea typeface="Lexend"/>
                <a:cs typeface="Lexend"/>
              </a:rPr>
              <a:t>Staff remain in control: accept, modify, or reject system recommendations.</a:t>
            </a:r>
          </a:p>
        </p:txBody>
      </p:sp>
      <p:sp>
        <p:nvSpPr>
          <p:cNvPr id="33" name="Straight Connector 32">
            <a:extLst>
              <a:ext uri="{FF2B5EF4-FFF2-40B4-BE49-F238E27FC236}">
                <a16:creationId xmlns:a16="http://schemas.microsoft.com/office/drawing/2014/main" id="{B22F508D-5D4A-40D2-B716-FB78B6ED7180}"/>
              </a:ext>
            </a:extLst>
          </p:cNvPr>
          <p:cNvSpPr>
            <a:spLocks noGrp="1"/>
          </p:cNvSpPr>
          <p:nvPr/>
        </p:nvSpPr>
        <p:spPr>
          <a:xfrm>
            <a:off x="533400" y="6477000"/>
            <a:ext cx="11125200" cy="0"/>
          </a:xfrm>
          <a:prstGeom prst="line">
            <a:avLst/>
          </a:prstGeom>
          <a:noFill/>
          <a:ln w="9525">
            <a:solidFill>
              <a:srgbClr val="D8DEE8"/>
            </a:solidFill>
            <a:prstDash val="solid"/>
          </a:ln>
        </p:spPr>
      </p:sp>
      <p:sp>
        <p:nvSpPr>
          <p:cNvPr id="34" name="Rectangle 33">
            <a:extLst>
              <a:ext uri="{FF2B5EF4-FFF2-40B4-BE49-F238E27FC236}">
                <a16:creationId xmlns:a16="http://schemas.microsoft.com/office/drawing/2014/main" id="{624FFD3D-3FEF-4A8A-B51B-068157A16E8B}"/>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Source: TripSync business plan · Current prototype uses demo or synthetic operational evidence</a:t>
            </a:r>
          </a:p>
        </p:txBody>
      </p:sp>
    </p:spTree>
    <p:extLst>
      <p:ext uri="{BB962C8B-B14F-4D97-AF65-F5344CB8AC3E}">
        <p14:creationId xmlns:p14="http://schemas.microsoft.com/office/powerpoint/2010/main" val="196672664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D6BD012C-E0B0-48EA-8B3C-AC14C4668938}"/>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TEAM</a:t>
            </a:r>
          </a:p>
        </p:txBody>
      </p:sp>
      <p:sp>
        <p:nvSpPr>
          <p:cNvPr id="2" name="slide-2-title">
            <a:extLst>
              <a:ext uri="{FF2B5EF4-FFF2-40B4-BE49-F238E27FC236}">
                <a16:creationId xmlns:a16="http://schemas.microsoft.com/office/drawing/2014/main" id="{05650238-A939-4980-A0D8-1F8F8AB764DB}"/>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Meet the people building TripSync</a:t>
            </a:r>
          </a:p>
        </p:txBody>
      </p:sp>
      <p:sp>
        <p:nvSpPr>
          <p:cNvPr id="3" name="Rectangle 2">
            <a:extLst>
              <a:ext uri="{FF2B5EF4-FFF2-40B4-BE49-F238E27FC236}">
                <a16:creationId xmlns:a16="http://schemas.microsoft.com/office/drawing/2014/main" id="{66BBC7DC-93CD-424D-954A-5E8B8EFCCF08}"/>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Four founders, one governed passenger-and-operator journey.</a:t>
            </a:r>
          </a:p>
        </p:txBody>
      </p:sp>
      <p:sp>
        <p:nvSpPr>
          <p:cNvPr id="4" name="Rectangle 3">
            <a:extLst>
              <a:ext uri="{FF2B5EF4-FFF2-40B4-BE49-F238E27FC236}">
                <a16:creationId xmlns:a16="http://schemas.microsoft.com/office/drawing/2014/main" id="{E76FE06C-F7F3-42D3-B472-C5B8085A1C8F}"/>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endParaRPr sz="1125" b="1" i="0" dirty="0">
              <a:solidFill>
                <a:srgbClr val="8C98A8"/>
              </a:solidFill>
              <a:latin typeface="Lexend"/>
              <a:ea typeface="Lexend"/>
              <a:cs typeface="Lexend"/>
            </a:endParaRPr>
          </a:p>
        </p:txBody>
      </p:sp>
      <p:sp>
        <p:nvSpPr>
          <p:cNvPr id="5" name="Rounded Rectangle 4">
            <a:extLst>
              <a:ext uri="{FF2B5EF4-FFF2-40B4-BE49-F238E27FC236}">
                <a16:creationId xmlns:a16="http://schemas.microsoft.com/office/drawing/2014/main" id="{FA3709D4-9471-4721-BC9F-BB2313088CEA}"/>
              </a:ext>
            </a:extLst>
          </p:cNvPr>
          <p:cNvSpPr>
            <a:spLocks noGrp="1"/>
          </p:cNvSpPr>
          <p:nvPr/>
        </p:nvSpPr>
        <p:spPr>
          <a:xfrm>
            <a:off x="552450" y="1809750"/>
            <a:ext cx="2381250" cy="3238500"/>
          </a:xfrm>
          <a:prstGeom prst="roundRect">
            <a:avLst>
              <a:gd name="adj" fmla="val 8800"/>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pic>
        <p:nvPicPr>
          <p:cNvPr id="31" name="Picture 30"/>
          <p:cNvPicPr>
            <a:picLocks noChangeAspect="1"/>
          </p:cNvPicPr>
          <p:nvPr/>
        </p:nvPicPr>
        <p:blipFill>
          <a:blip r:embed="rId3"/>
          <a:srcRect t="901" b="901"/>
          <a:stretch>
            <a:fillRect/>
          </a:stretch>
        </p:blipFill>
        <p:spPr>
          <a:xfrm>
            <a:off x="685800" y="1943100"/>
            <a:ext cx="2114550" cy="2076450"/>
          </a:xfrm>
          <a:prstGeom prst="roundRect">
            <a:avLst>
              <a:gd name="adj" fmla="val 7339"/>
            </a:avLst>
          </a:prstGeom>
        </p:spPr>
      </p:pic>
      <p:sp>
        <p:nvSpPr>
          <p:cNvPr id="7" name="Rectangle 6">
            <a:extLst>
              <a:ext uri="{FF2B5EF4-FFF2-40B4-BE49-F238E27FC236}">
                <a16:creationId xmlns:a16="http://schemas.microsoft.com/office/drawing/2014/main" id="{065D0EA6-D025-419E-BCBD-8E98FE8E4D71}"/>
              </a:ext>
            </a:extLst>
          </p:cNvPr>
          <p:cNvSpPr>
            <a:spLocks noGrp="1"/>
          </p:cNvSpPr>
          <p:nvPr/>
        </p:nvSpPr>
        <p:spPr>
          <a:xfrm>
            <a:off x="704850" y="4191000"/>
            <a:ext cx="2076450" cy="409575"/>
          </a:xfrm>
          <a:prstGeom prst="rect">
            <a:avLst/>
          </a:prstGeom>
          <a:noFill/>
          <a:ln w="0">
            <a:noFill/>
            <a:prstDash val="solid"/>
          </a:ln>
        </p:spPr>
        <p:txBody>
          <a:bodyPr wrap="square" lIns="0" tIns="0" rIns="0" bIns="0" anchor="ctr">
            <a:normAutofit/>
          </a:bodyPr>
          <a:lstStyle/>
          <a:p>
            <a:pPr algn="ctr">
              <a:defRPr sz="1350" b="1" i="0">
                <a:solidFill>
                  <a:srgbClr val="132238"/>
                </a:solidFill>
                <a:latin typeface="Lexend"/>
                <a:ea typeface="Lexend"/>
                <a:cs typeface="Lexend"/>
              </a:defRPr>
            </a:pPr>
            <a:r>
              <a:rPr sz="1350" b="1" i="0">
                <a:solidFill>
                  <a:srgbClr val="132238"/>
                </a:solidFill>
                <a:latin typeface="Lexend"/>
                <a:ea typeface="Lexend"/>
                <a:cs typeface="Lexend"/>
              </a:rPr>
              <a:t>Aaron Jalapon</a:t>
            </a:r>
          </a:p>
        </p:txBody>
      </p:sp>
      <p:sp>
        <p:nvSpPr>
          <p:cNvPr id="8" name="Rectangle 7">
            <a:extLst>
              <a:ext uri="{FF2B5EF4-FFF2-40B4-BE49-F238E27FC236}">
                <a16:creationId xmlns:a16="http://schemas.microsoft.com/office/drawing/2014/main" id="{66AD08C7-B625-4CDC-9589-AE021D89D5E5}"/>
              </a:ext>
            </a:extLst>
          </p:cNvPr>
          <p:cNvSpPr>
            <a:spLocks noGrp="1"/>
          </p:cNvSpPr>
          <p:nvPr/>
        </p:nvSpPr>
        <p:spPr>
          <a:xfrm>
            <a:off x="742950" y="4629150"/>
            <a:ext cx="2000250" cy="285750"/>
          </a:xfrm>
          <a:prstGeom prst="rect">
            <a:avLst/>
          </a:prstGeom>
          <a:noFill/>
          <a:ln w="0">
            <a:noFill/>
            <a:prstDash val="solid"/>
          </a:ln>
        </p:spPr>
        <p:txBody>
          <a:bodyPr wrap="square" lIns="0" tIns="0" rIns="0" bIns="0" anchor="t">
            <a:normAutofit/>
          </a:bodyPr>
          <a:lstStyle/>
          <a:p>
            <a:pPr algn="ctr">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Chief Executive Officer</a:t>
            </a:r>
          </a:p>
        </p:txBody>
      </p:sp>
      <p:sp>
        <p:nvSpPr>
          <p:cNvPr id="9" name="Rounded Rectangle 8">
            <a:extLst>
              <a:ext uri="{FF2B5EF4-FFF2-40B4-BE49-F238E27FC236}">
                <a16:creationId xmlns:a16="http://schemas.microsoft.com/office/drawing/2014/main" id="{C9498919-EE64-4509-B52E-EDD079030764}"/>
              </a:ext>
            </a:extLst>
          </p:cNvPr>
          <p:cNvSpPr>
            <a:spLocks noGrp="1"/>
          </p:cNvSpPr>
          <p:nvPr/>
        </p:nvSpPr>
        <p:spPr>
          <a:xfrm>
            <a:off x="3162300" y="1809750"/>
            <a:ext cx="2381250" cy="3238500"/>
          </a:xfrm>
          <a:prstGeom prst="roundRect">
            <a:avLst>
              <a:gd name="adj" fmla="val 8800"/>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pic>
        <p:nvPicPr>
          <p:cNvPr id="35" name="Picture 34"/>
          <p:cNvPicPr>
            <a:picLocks noChangeAspect="1"/>
          </p:cNvPicPr>
          <p:nvPr/>
        </p:nvPicPr>
        <p:blipFill>
          <a:blip r:embed="rId4"/>
          <a:srcRect t="13137" b="13137"/>
          <a:stretch>
            <a:fillRect/>
          </a:stretch>
        </p:blipFill>
        <p:spPr>
          <a:xfrm>
            <a:off x="3295650" y="1943100"/>
            <a:ext cx="2114550" cy="2076450"/>
          </a:xfrm>
          <a:prstGeom prst="roundRect">
            <a:avLst>
              <a:gd name="adj" fmla="val 7339"/>
            </a:avLst>
          </a:prstGeom>
        </p:spPr>
      </p:pic>
      <p:sp>
        <p:nvSpPr>
          <p:cNvPr id="11" name="Rectangle 10">
            <a:extLst>
              <a:ext uri="{FF2B5EF4-FFF2-40B4-BE49-F238E27FC236}">
                <a16:creationId xmlns:a16="http://schemas.microsoft.com/office/drawing/2014/main" id="{703D3F6F-C4FB-4028-8073-1E6F53F73C6D}"/>
              </a:ext>
            </a:extLst>
          </p:cNvPr>
          <p:cNvSpPr>
            <a:spLocks noGrp="1"/>
          </p:cNvSpPr>
          <p:nvPr/>
        </p:nvSpPr>
        <p:spPr>
          <a:xfrm>
            <a:off x="3314700" y="4191000"/>
            <a:ext cx="2076450" cy="409575"/>
          </a:xfrm>
          <a:prstGeom prst="rect">
            <a:avLst/>
          </a:prstGeom>
          <a:noFill/>
          <a:ln w="0">
            <a:noFill/>
            <a:prstDash val="solid"/>
          </a:ln>
        </p:spPr>
        <p:txBody>
          <a:bodyPr wrap="square" lIns="0" tIns="0" rIns="0" bIns="0" anchor="ctr">
            <a:normAutofit fontScale="99537"/>
          </a:bodyPr>
          <a:lstStyle/>
          <a:p>
            <a:pPr algn="ctr">
              <a:defRPr sz="1350" b="1" i="0">
                <a:solidFill>
                  <a:srgbClr val="132238"/>
                </a:solidFill>
                <a:latin typeface="Lexend"/>
                <a:ea typeface="Lexend"/>
                <a:cs typeface="Lexend"/>
              </a:defRPr>
            </a:pPr>
            <a:r>
              <a:rPr sz="1350" b="1" i="0">
                <a:solidFill>
                  <a:srgbClr val="132238"/>
                </a:solidFill>
                <a:latin typeface="Lexend"/>
                <a:ea typeface="Lexend"/>
                <a:cs typeface="Lexend"/>
              </a:rPr>
              <a:t>John Benedict J. Bongcac</a:t>
            </a:r>
          </a:p>
        </p:txBody>
      </p:sp>
      <p:sp>
        <p:nvSpPr>
          <p:cNvPr id="12" name="Rectangle 11">
            <a:extLst>
              <a:ext uri="{FF2B5EF4-FFF2-40B4-BE49-F238E27FC236}">
                <a16:creationId xmlns:a16="http://schemas.microsoft.com/office/drawing/2014/main" id="{78D30AD2-8B73-41B5-B048-493B75B15DEC}"/>
              </a:ext>
            </a:extLst>
          </p:cNvPr>
          <p:cNvSpPr>
            <a:spLocks noGrp="1"/>
          </p:cNvSpPr>
          <p:nvPr/>
        </p:nvSpPr>
        <p:spPr>
          <a:xfrm>
            <a:off x="3352800" y="4629150"/>
            <a:ext cx="2000250" cy="285750"/>
          </a:xfrm>
          <a:prstGeom prst="rect">
            <a:avLst/>
          </a:prstGeom>
          <a:noFill/>
          <a:ln w="0">
            <a:noFill/>
            <a:prstDash val="solid"/>
          </a:ln>
        </p:spPr>
        <p:txBody>
          <a:bodyPr wrap="square" lIns="0" tIns="0" rIns="0" bIns="0" anchor="t">
            <a:normAutofit/>
          </a:bodyPr>
          <a:lstStyle/>
          <a:p>
            <a:pPr algn="ctr">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Chief Technology Officer</a:t>
            </a:r>
          </a:p>
        </p:txBody>
      </p:sp>
      <p:sp>
        <p:nvSpPr>
          <p:cNvPr id="13" name="Rounded Rectangle 12">
            <a:extLst>
              <a:ext uri="{FF2B5EF4-FFF2-40B4-BE49-F238E27FC236}">
                <a16:creationId xmlns:a16="http://schemas.microsoft.com/office/drawing/2014/main" id="{500862C7-F0F0-4D74-850E-9A5F5D772AC3}"/>
              </a:ext>
            </a:extLst>
          </p:cNvPr>
          <p:cNvSpPr>
            <a:spLocks noGrp="1"/>
          </p:cNvSpPr>
          <p:nvPr/>
        </p:nvSpPr>
        <p:spPr>
          <a:xfrm>
            <a:off x="5772150" y="1809750"/>
            <a:ext cx="2381250" cy="3238500"/>
          </a:xfrm>
          <a:prstGeom prst="roundRect">
            <a:avLst>
              <a:gd name="adj" fmla="val 8800"/>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pic>
        <p:nvPicPr>
          <p:cNvPr id="39" name="Picture 38"/>
          <p:cNvPicPr>
            <a:picLocks noChangeAspect="1"/>
          </p:cNvPicPr>
          <p:nvPr/>
        </p:nvPicPr>
        <p:blipFill>
          <a:blip r:embed="rId5"/>
          <a:srcRect t="17267" b="17267"/>
          <a:stretch>
            <a:fillRect/>
          </a:stretch>
        </p:blipFill>
        <p:spPr>
          <a:xfrm>
            <a:off x="5905500" y="1943100"/>
            <a:ext cx="2114550" cy="2076450"/>
          </a:xfrm>
          <a:prstGeom prst="roundRect">
            <a:avLst>
              <a:gd name="adj" fmla="val 7339"/>
            </a:avLst>
          </a:prstGeom>
        </p:spPr>
      </p:pic>
      <p:sp>
        <p:nvSpPr>
          <p:cNvPr id="15" name="Rectangle 14">
            <a:extLst>
              <a:ext uri="{FF2B5EF4-FFF2-40B4-BE49-F238E27FC236}">
                <a16:creationId xmlns:a16="http://schemas.microsoft.com/office/drawing/2014/main" id="{A52C1FAB-9A8A-46C5-A690-F88DF2032E25}"/>
              </a:ext>
            </a:extLst>
          </p:cNvPr>
          <p:cNvSpPr>
            <a:spLocks noGrp="1"/>
          </p:cNvSpPr>
          <p:nvPr/>
        </p:nvSpPr>
        <p:spPr>
          <a:xfrm>
            <a:off x="5924550" y="4191000"/>
            <a:ext cx="2076450" cy="409575"/>
          </a:xfrm>
          <a:prstGeom prst="rect">
            <a:avLst/>
          </a:prstGeom>
          <a:noFill/>
          <a:ln w="0">
            <a:noFill/>
            <a:prstDash val="solid"/>
          </a:ln>
        </p:spPr>
        <p:txBody>
          <a:bodyPr wrap="square" lIns="0" tIns="0" rIns="0" bIns="0" anchor="ctr">
            <a:normAutofit/>
          </a:bodyPr>
          <a:lstStyle/>
          <a:p>
            <a:pPr algn="ctr">
              <a:defRPr sz="1350" b="1" i="0">
                <a:solidFill>
                  <a:srgbClr val="132238"/>
                </a:solidFill>
                <a:latin typeface="Lexend"/>
                <a:ea typeface="Lexend"/>
                <a:cs typeface="Lexend"/>
              </a:defRPr>
            </a:pPr>
            <a:r>
              <a:rPr sz="1350" b="1" i="0">
                <a:solidFill>
                  <a:srgbClr val="132238"/>
                </a:solidFill>
                <a:latin typeface="Lexend"/>
                <a:ea typeface="Lexend"/>
                <a:cs typeface="Lexend"/>
              </a:rPr>
              <a:t>Hazel Mae B. Fuerzas</a:t>
            </a:r>
          </a:p>
        </p:txBody>
      </p:sp>
      <p:sp>
        <p:nvSpPr>
          <p:cNvPr id="16" name="Rectangle 15">
            <a:extLst>
              <a:ext uri="{FF2B5EF4-FFF2-40B4-BE49-F238E27FC236}">
                <a16:creationId xmlns:a16="http://schemas.microsoft.com/office/drawing/2014/main" id="{DBA38ED2-9DBB-4E0B-AA43-22DD0304638F}"/>
              </a:ext>
            </a:extLst>
          </p:cNvPr>
          <p:cNvSpPr>
            <a:spLocks noGrp="1"/>
          </p:cNvSpPr>
          <p:nvPr/>
        </p:nvSpPr>
        <p:spPr>
          <a:xfrm>
            <a:off x="5962650" y="4629150"/>
            <a:ext cx="2000250" cy="285750"/>
          </a:xfrm>
          <a:prstGeom prst="rect">
            <a:avLst/>
          </a:prstGeom>
          <a:noFill/>
          <a:ln w="0">
            <a:noFill/>
            <a:prstDash val="solid"/>
          </a:ln>
        </p:spPr>
        <p:txBody>
          <a:bodyPr wrap="square" lIns="0" tIns="0" rIns="0" bIns="0" anchor="t">
            <a:normAutofit/>
          </a:bodyPr>
          <a:lstStyle/>
          <a:p>
            <a:pPr algn="ctr">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Chief Marketing Officer</a:t>
            </a:r>
          </a:p>
        </p:txBody>
      </p:sp>
      <p:sp>
        <p:nvSpPr>
          <p:cNvPr id="17" name="Rounded Rectangle 16">
            <a:extLst>
              <a:ext uri="{FF2B5EF4-FFF2-40B4-BE49-F238E27FC236}">
                <a16:creationId xmlns:a16="http://schemas.microsoft.com/office/drawing/2014/main" id="{E125DB2D-6C1B-412B-92B3-5D24E402B781}"/>
              </a:ext>
            </a:extLst>
          </p:cNvPr>
          <p:cNvSpPr>
            <a:spLocks noGrp="1"/>
          </p:cNvSpPr>
          <p:nvPr/>
        </p:nvSpPr>
        <p:spPr>
          <a:xfrm>
            <a:off x="8382000" y="1809750"/>
            <a:ext cx="2381250" cy="3238500"/>
          </a:xfrm>
          <a:prstGeom prst="roundRect">
            <a:avLst>
              <a:gd name="adj" fmla="val 8800"/>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pic>
        <p:nvPicPr>
          <p:cNvPr id="43" name="Picture 42"/>
          <p:cNvPicPr>
            <a:picLocks noChangeAspect="1"/>
          </p:cNvPicPr>
          <p:nvPr/>
        </p:nvPicPr>
        <p:blipFill>
          <a:blip r:embed="rId6"/>
          <a:srcRect l="5746" r="5746"/>
          <a:stretch>
            <a:fillRect/>
          </a:stretch>
        </p:blipFill>
        <p:spPr>
          <a:xfrm>
            <a:off x="8515350" y="1943100"/>
            <a:ext cx="2114550" cy="2076450"/>
          </a:xfrm>
          <a:prstGeom prst="roundRect">
            <a:avLst>
              <a:gd name="adj" fmla="val 7339"/>
            </a:avLst>
          </a:prstGeom>
        </p:spPr>
      </p:pic>
      <p:sp>
        <p:nvSpPr>
          <p:cNvPr id="19" name="Rectangle 18">
            <a:extLst>
              <a:ext uri="{FF2B5EF4-FFF2-40B4-BE49-F238E27FC236}">
                <a16:creationId xmlns:a16="http://schemas.microsoft.com/office/drawing/2014/main" id="{4BB936A9-F0F4-48A1-8272-F1ADD3126DA1}"/>
              </a:ext>
            </a:extLst>
          </p:cNvPr>
          <p:cNvSpPr>
            <a:spLocks noGrp="1"/>
          </p:cNvSpPr>
          <p:nvPr/>
        </p:nvSpPr>
        <p:spPr>
          <a:xfrm>
            <a:off x="8534400" y="4191000"/>
            <a:ext cx="2076450" cy="409575"/>
          </a:xfrm>
          <a:prstGeom prst="rect">
            <a:avLst/>
          </a:prstGeom>
          <a:noFill/>
          <a:ln w="0">
            <a:noFill/>
            <a:prstDash val="solid"/>
          </a:ln>
        </p:spPr>
        <p:txBody>
          <a:bodyPr wrap="square" lIns="0" tIns="0" rIns="0" bIns="0" anchor="ctr">
            <a:normAutofit/>
          </a:bodyPr>
          <a:lstStyle/>
          <a:p>
            <a:pPr algn="ctr">
              <a:defRPr sz="1350" b="1" i="0">
                <a:solidFill>
                  <a:srgbClr val="132238"/>
                </a:solidFill>
                <a:latin typeface="Lexend"/>
                <a:ea typeface="Lexend"/>
                <a:cs typeface="Lexend"/>
              </a:defRPr>
            </a:pPr>
            <a:r>
              <a:rPr sz="1350" b="1" i="0">
                <a:solidFill>
                  <a:srgbClr val="132238"/>
                </a:solidFill>
                <a:latin typeface="Lexend"/>
                <a:ea typeface="Lexend"/>
                <a:cs typeface="Lexend"/>
              </a:rPr>
              <a:t>Ana Mae M. Viduya</a:t>
            </a:r>
          </a:p>
        </p:txBody>
      </p:sp>
      <p:sp>
        <p:nvSpPr>
          <p:cNvPr id="20" name="Rectangle 19">
            <a:extLst>
              <a:ext uri="{FF2B5EF4-FFF2-40B4-BE49-F238E27FC236}">
                <a16:creationId xmlns:a16="http://schemas.microsoft.com/office/drawing/2014/main" id="{FCFDF932-6270-43D8-835C-A07AA76BC15B}"/>
              </a:ext>
            </a:extLst>
          </p:cNvPr>
          <p:cNvSpPr>
            <a:spLocks noGrp="1"/>
          </p:cNvSpPr>
          <p:nvPr/>
        </p:nvSpPr>
        <p:spPr>
          <a:xfrm>
            <a:off x="8572500" y="4629150"/>
            <a:ext cx="2000250" cy="285750"/>
          </a:xfrm>
          <a:prstGeom prst="rect">
            <a:avLst/>
          </a:prstGeom>
          <a:noFill/>
          <a:ln w="0">
            <a:noFill/>
            <a:prstDash val="solid"/>
          </a:ln>
        </p:spPr>
        <p:txBody>
          <a:bodyPr wrap="square" lIns="0" tIns="0" rIns="0" bIns="0" anchor="t">
            <a:normAutofit/>
          </a:bodyPr>
          <a:lstStyle/>
          <a:p>
            <a:pPr algn="ctr">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Chief Financial Officer</a:t>
            </a:r>
          </a:p>
        </p:txBody>
      </p:sp>
      <p:sp>
        <p:nvSpPr>
          <p:cNvPr id="21" name="Straight Connector 20">
            <a:extLst>
              <a:ext uri="{FF2B5EF4-FFF2-40B4-BE49-F238E27FC236}">
                <a16:creationId xmlns:a16="http://schemas.microsoft.com/office/drawing/2014/main" id="{748D7FAB-13EC-447E-96A0-175FE62CD504}"/>
              </a:ext>
            </a:extLst>
          </p:cNvPr>
          <p:cNvSpPr>
            <a:spLocks noGrp="1"/>
          </p:cNvSpPr>
          <p:nvPr/>
        </p:nvSpPr>
        <p:spPr>
          <a:xfrm>
            <a:off x="685800" y="5486400"/>
            <a:ext cx="10820400" cy="0"/>
          </a:xfrm>
          <a:prstGeom prst="line">
            <a:avLst/>
          </a:prstGeom>
          <a:noFill/>
          <a:ln w="9525">
            <a:solidFill>
              <a:srgbClr val="D8DEE8"/>
            </a:solidFill>
            <a:prstDash val="solid"/>
          </a:ln>
        </p:spPr>
      </p:sp>
      <p:pic>
        <p:nvPicPr>
          <p:cNvPr id="47" name="Picture 46"/>
          <p:cNvPicPr>
            <a:picLocks noChangeAspect="1"/>
          </p:cNvPicPr>
          <p:nvPr/>
        </p:nvPicPr>
        <p:blipFill>
          <a:blip r:embed="rId7"/>
          <a:srcRect l="1123" r="1123"/>
          <a:stretch>
            <a:fillRect/>
          </a:stretch>
        </p:blipFill>
        <p:spPr>
          <a:xfrm>
            <a:off x="4476750" y="5619750"/>
            <a:ext cx="609600" cy="609600"/>
          </a:xfrm>
          <a:prstGeom prst="ellipse">
            <a:avLst/>
          </a:prstGeom>
        </p:spPr>
      </p:pic>
      <p:sp>
        <p:nvSpPr>
          <p:cNvPr id="23" name="Rectangle 22">
            <a:extLst>
              <a:ext uri="{FF2B5EF4-FFF2-40B4-BE49-F238E27FC236}">
                <a16:creationId xmlns:a16="http://schemas.microsoft.com/office/drawing/2014/main" id="{4284002B-48C6-4E51-AF31-EF26165EA081}"/>
              </a:ext>
            </a:extLst>
          </p:cNvPr>
          <p:cNvSpPr>
            <a:spLocks noGrp="1"/>
          </p:cNvSpPr>
          <p:nvPr/>
        </p:nvSpPr>
        <p:spPr>
          <a:xfrm>
            <a:off x="5257800" y="5629275"/>
            <a:ext cx="2476500" cy="276225"/>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Clyde Abner Valdez</a:t>
            </a:r>
          </a:p>
        </p:txBody>
      </p:sp>
      <p:sp>
        <p:nvSpPr>
          <p:cNvPr id="24" name="Rectangle 23">
            <a:extLst>
              <a:ext uri="{FF2B5EF4-FFF2-40B4-BE49-F238E27FC236}">
                <a16:creationId xmlns:a16="http://schemas.microsoft.com/office/drawing/2014/main" id="{7D281AE9-0AC1-455A-AB75-A99C39285533}"/>
              </a:ext>
            </a:extLst>
          </p:cNvPr>
          <p:cNvSpPr>
            <a:spLocks noGrp="1"/>
          </p:cNvSpPr>
          <p:nvPr/>
        </p:nvSpPr>
        <p:spPr>
          <a:xfrm>
            <a:off x="5257800" y="5943600"/>
            <a:ext cx="2476500" cy="228600"/>
          </a:xfrm>
          <a:prstGeom prst="rect">
            <a:avLst/>
          </a:prstGeom>
          <a:noFill/>
          <a:ln w="0">
            <a:noFill/>
            <a:prstDash val="solid"/>
          </a:ln>
        </p:spPr>
        <p:txBody>
          <a:bodyPr wrap="square" lIns="0" tIns="0" rIns="0" bIns="0" anchor="t">
            <a:normAutofit/>
          </a:bodyPr>
          <a:lstStyle/>
          <a:p>
            <a:pPr algn="l">
              <a:defRPr sz="1200" b="0" i="0">
                <a:solidFill>
                  <a:srgbClr val="5F6B7A"/>
                </a:solidFill>
                <a:latin typeface="Source Sans 3"/>
                <a:ea typeface="Source Sans 3"/>
                <a:cs typeface="Source Sans 3"/>
              </a:defRPr>
            </a:pPr>
            <a:r>
              <a:rPr sz="1200" b="0" i="0">
                <a:solidFill>
                  <a:srgbClr val="5F6B7A"/>
                </a:solidFill>
                <a:latin typeface="Source Sans 3"/>
                <a:ea typeface="Source Sans 3"/>
                <a:cs typeface="Source Sans 3"/>
              </a:rPr>
              <a:t>External Faculty Adviser</a:t>
            </a:r>
          </a:p>
        </p:txBody>
      </p:sp>
      <p:sp>
        <p:nvSpPr>
          <p:cNvPr id="25" name="Rounded Rectangle 24">
            <a:extLst>
              <a:ext uri="{FF2B5EF4-FFF2-40B4-BE49-F238E27FC236}">
                <a16:creationId xmlns:a16="http://schemas.microsoft.com/office/drawing/2014/main" id="{4BFBD54F-C089-4F65-B320-6F4C036DB230}"/>
              </a:ext>
            </a:extLst>
          </p:cNvPr>
          <p:cNvSpPr>
            <a:spLocks noGrp="1"/>
          </p:cNvSpPr>
          <p:nvPr/>
        </p:nvSpPr>
        <p:spPr>
          <a:xfrm>
            <a:off x="8115300" y="5743575"/>
            <a:ext cx="2571750" cy="266700"/>
          </a:xfrm>
          <a:prstGeom prst="roundRect">
            <a:avLst>
              <a:gd name="adj" fmla="val 50000"/>
            </a:avLst>
          </a:prstGeom>
          <a:solidFill>
            <a:srgbClr val="EDF1F5"/>
          </a:solidFill>
          <a:ln w="9525">
            <a:solidFill>
              <a:srgbClr val="D8DEE8"/>
            </a:solidFill>
            <a:prstDash val="solid"/>
          </a:ln>
        </p:spPr>
        <p:txBody>
          <a:bodyPr wrap="square" lIns="76200" tIns="19050" rIns="76200" bIns="19050" anchor="ctr">
            <a:normAutofit/>
          </a:bodyPr>
          <a:lstStyle/>
          <a:p>
            <a:pPr algn="ctr">
              <a:defRPr sz="900" b="1" i="0">
                <a:solidFill>
                  <a:srgbClr val="132238"/>
                </a:solidFill>
                <a:latin typeface="Lexend"/>
                <a:ea typeface="Lexend"/>
                <a:cs typeface="Lexend"/>
              </a:defRPr>
            </a:pPr>
            <a:r>
              <a:rPr sz="900" b="1" i="0">
                <a:solidFill>
                  <a:srgbClr val="132238"/>
                </a:solidFill>
                <a:latin typeface="Lexend"/>
                <a:ea typeface="Lexend"/>
                <a:cs typeface="Lexend"/>
              </a:rPr>
              <a:t>ADVISER · OUTSIDE MANAGEMENT</a:t>
            </a:r>
          </a:p>
        </p:txBody>
      </p:sp>
    </p:spTree>
    <p:extLst>
      <p:ext uri="{BB962C8B-B14F-4D97-AF65-F5344CB8AC3E}">
        <p14:creationId xmlns:p14="http://schemas.microsoft.com/office/powerpoint/2010/main" val="161367431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B8ACDA64-3F73-47C4-AD35-D5C6BA07ADDF}"/>
              </a:ext>
            </a:extLst>
          </p:cNvPr>
          <p:cNvSpPr>
            <a:spLocks noGrp="1"/>
          </p:cNvSpPr>
          <p:nvPr/>
        </p:nvSpPr>
        <p:spPr>
          <a:xfrm>
            <a:off x="533400" y="361950"/>
            <a:ext cx="1257300" cy="266700"/>
          </a:xfrm>
          <a:prstGeom prst="roundRect">
            <a:avLst>
              <a:gd name="adj" fmla="val 50000"/>
            </a:avLst>
          </a:prstGeom>
          <a:solidFill>
            <a:srgbClr val="17304A"/>
          </a:solidFill>
          <a:ln w="9525">
            <a:solidFill>
              <a:srgbClr val="284966"/>
            </a:solidFill>
            <a:prstDash val="solid"/>
          </a:ln>
        </p:spPr>
        <p:txBody>
          <a:bodyPr wrap="square" lIns="76200" tIns="19050" rIns="76200" bIns="19050" anchor="ctr">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BEN</a:t>
            </a:r>
          </a:p>
        </p:txBody>
      </p:sp>
      <p:sp>
        <p:nvSpPr>
          <p:cNvPr id="2" name="slide-7-title">
            <a:extLst>
              <a:ext uri="{FF2B5EF4-FFF2-40B4-BE49-F238E27FC236}">
                <a16:creationId xmlns:a16="http://schemas.microsoft.com/office/drawing/2014/main" id="{277AAF5C-1993-4AFF-B471-39D062E4AFCA}"/>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FFFFFF"/>
                </a:solidFill>
                <a:latin typeface="Lexend"/>
                <a:ea typeface="Lexend"/>
                <a:cs typeface="Lexend"/>
              </a:defRPr>
            </a:pPr>
            <a:r>
              <a:rPr sz="2550" b="1" i="0">
                <a:solidFill>
                  <a:srgbClr val="FFFFFF"/>
                </a:solidFill>
                <a:latin typeface="Lexend"/>
                <a:ea typeface="Lexend"/>
                <a:cs typeface="Lexend"/>
              </a:rPr>
              <a:t>Passenger walkthrough: search and preferences</a:t>
            </a:r>
          </a:p>
        </p:txBody>
      </p:sp>
      <p:sp>
        <p:nvSpPr>
          <p:cNvPr id="3" name="Rectangle 2">
            <a:extLst>
              <a:ext uri="{FF2B5EF4-FFF2-40B4-BE49-F238E27FC236}">
                <a16:creationId xmlns:a16="http://schemas.microsoft.com/office/drawing/2014/main" id="{AD847458-A0B8-42A1-A469-FD40360998A0}"/>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A9B8CB"/>
                </a:solidFill>
                <a:latin typeface="Source Sans 3"/>
                <a:ea typeface="Source Sans 3"/>
                <a:cs typeface="Source Sans 3"/>
              </a:defRPr>
            </a:pPr>
            <a:r>
              <a:rPr sz="1350" b="0" i="0">
                <a:solidFill>
                  <a:srgbClr val="A9B8CB"/>
                </a:solidFill>
                <a:latin typeface="Source Sans 3"/>
                <a:ea typeface="Source Sans 3"/>
                <a:cs typeface="Source Sans 3"/>
              </a:rPr>
              <a:t>Fresh prototype views · Demo data · Owner-controlled callouts</a:t>
            </a:r>
          </a:p>
        </p:txBody>
      </p:sp>
      <p:sp>
        <p:nvSpPr>
          <p:cNvPr id="4" name="Rectangle 3">
            <a:extLst>
              <a:ext uri="{FF2B5EF4-FFF2-40B4-BE49-F238E27FC236}">
                <a16:creationId xmlns:a16="http://schemas.microsoft.com/office/drawing/2014/main" id="{3572EA30-1962-4501-810F-3B49285E4E66}"/>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7E94AB"/>
                </a:solidFill>
                <a:latin typeface="Lexend"/>
                <a:ea typeface="Lexend"/>
                <a:cs typeface="Lexend"/>
              </a:defRPr>
            </a:pPr>
            <a:endParaRPr sz="1125" b="1" i="0" dirty="0">
              <a:solidFill>
                <a:srgbClr val="7E94AB"/>
              </a:solidFill>
              <a:latin typeface="Lexend"/>
              <a:ea typeface="Lexend"/>
              <a:cs typeface="Lexend"/>
            </a:endParaRPr>
          </a:p>
        </p:txBody>
      </p:sp>
      <p:sp>
        <p:nvSpPr>
          <p:cNvPr id="5" name="Rounded Rectangle 4">
            <a:extLst>
              <a:ext uri="{FF2B5EF4-FFF2-40B4-BE49-F238E27FC236}">
                <a16:creationId xmlns:a16="http://schemas.microsoft.com/office/drawing/2014/main" id="{B9AA8999-8056-4C8B-87CC-2D99D1188242}"/>
              </a:ext>
            </a:extLst>
          </p:cNvPr>
          <p:cNvSpPr>
            <a:spLocks noGrp="1"/>
          </p:cNvSpPr>
          <p:nvPr/>
        </p:nvSpPr>
        <p:spPr>
          <a:xfrm>
            <a:off x="714375" y="1724025"/>
            <a:ext cx="2695575" cy="4267200"/>
          </a:xfrm>
          <a:prstGeom prst="roundRect">
            <a:avLst>
              <a:gd name="adj" fmla="val 9894"/>
            </a:avLst>
          </a:prstGeom>
          <a:solidFill>
            <a:srgbClr val="050A11"/>
          </a:solidFill>
          <a:ln w="19050">
            <a:solidFill>
              <a:srgbClr val="384B61"/>
            </a:solidFill>
            <a:prstDash val="solid"/>
          </a:ln>
        </p:spPr>
      </p:sp>
      <p:sp>
        <p:nvSpPr>
          <p:cNvPr id="6" name="Rounded Rectangle 5">
            <a:extLst>
              <a:ext uri="{FF2B5EF4-FFF2-40B4-BE49-F238E27FC236}">
                <a16:creationId xmlns:a16="http://schemas.microsoft.com/office/drawing/2014/main" id="{913013D0-89F2-45FA-9DFA-44EC8DFF2D5C}"/>
              </a:ext>
            </a:extLst>
          </p:cNvPr>
          <p:cNvSpPr>
            <a:spLocks noGrp="1"/>
          </p:cNvSpPr>
          <p:nvPr/>
        </p:nvSpPr>
        <p:spPr>
          <a:xfrm>
            <a:off x="1658303" y="1781175"/>
            <a:ext cx="807720" cy="114300"/>
          </a:xfrm>
          <a:prstGeom prst="roundRect">
            <a:avLst>
              <a:gd name="adj" fmla="val 50000"/>
            </a:avLst>
          </a:prstGeom>
          <a:solidFill>
            <a:srgbClr val="050A11"/>
          </a:solidFill>
          <a:ln w="0">
            <a:noFill/>
            <a:prstDash val="solid"/>
          </a:ln>
        </p:spPr>
      </p:sp>
      <p:pic>
        <p:nvPicPr>
          <p:cNvPr id="35" name="Picture 34"/>
          <p:cNvPicPr>
            <a:picLocks noChangeAspect="1"/>
          </p:cNvPicPr>
          <p:nvPr/>
        </p:nvPicPr>
        <p:blipFill>
          <a:blip r:embed="rId3"/>
          <a:srcRect t="22091" b="22091"/>
          <a:stretch>
            <a:fillRect/>
          </a:stretch>
        </p:blipFill>
        <p:spPr>
          <a:xfrm>
            <a:off x="800100" y="1809750"/>
            <a:ext cx="2524125" cy="4095750"/>
          </a:xfrm>
          <a:prstGeom prst="roundRect">
            <a:avLst>
              <a:gd name="adj" fmla="val 7547"/>
            </a:avLst>
          </a:prstGeom>
        </p:spPr>
      </p:pic>
      <p:sp>
        <p:nvSpPr>
          <p:cNvPr id="8" name="Rounded Rectangle 7">
            <a:extLst>
              <a:ext uri="{FF2B5EF4-FFF2-40B4-BE49-F238E27FC236}">
                <a16:creationId xmlns:a16="http://schemas.microsoft.com/office/drawing/2014/main" id="{451ACC83-830B-4BC8-B0F4-7A2AAB666CE4}"/>
              </a:ext>
            </a:extLst>
          </p:cNvPr>
          <p:cNvSpPr>
            <a:spLocks noGrp="1"/>
          </p:cNvSpPr>
          <p:nvPr/>
        </p:nvSpPr>
        <p:spPr>
          <a:xfrm>
            <a:off x="1143000" y="5962650"/>
            <a:ext cx="1847850" cy="304800"/>
          </a:xfrm>
          <a:prstGeom prst="roundRect">
            <a:avLst>
              <a:gd name="adj" fmla="val 50000"/>
            </a:avLst>
          </a:prstGeom>
          <a:solidFill>
            <a:srgbClr val="17304A"/>
          </a:solidFill>
          <a:ln w="9525">
            <a:solidFill>
              <a:srgbClr val="284966"/>
            </a:solidFill>
            <a:prstDash val="solid"/>
          </a:ln>
        </p:spPr>
        <p:txBody>
          <a:bodyPr wrap="square" lIns="57150" tIns="28575" rIns="57150" bIns="28575" anchor="ctr">
            <a:normAutofit fontScale="98973"/>
          </a:bodyPr>
          <a:lstStyle/>
          <a:p>
            <a:pPr algn="ctr">
              <a:defRPr sz="1050" b="1" i="0">
                <a:solidFill>
                  <a:srgbClr val="CFE0F5"/>
                </a:solidFill>
                <a:latin typeface="Lexend"/>
                <a:ea typeface="Lexend"/>
                <a:cs typeface="Lexend"/>
              </a:defRPr>
            </a:pPr>
            <a:r>
              <a:rPr sz="1050" b="1" i="0">
                <a:solidFill>
                  <a:srgbClr val="CFE0F5"/>
                </a:solidFill>
                <a:latin typeface="Lexend"/>
                <a:ea typeface="Lexend"/>
                <a:cs typeface="Lexend"/>
              </a:rPr>
              <a:t>1 · SEARCH</a:t>
            </a:r>
          </a:p>
        </p:txBody>
      </p:sp>
      <p:sp>
        <p:nvSpPr>
          <p:cNvPr id="9" name="Rounded Rectangle 8">
            <a:extLst>
              <a:ext uri="{FF2B5EF4-FFF2-40B4-BE49-F238E27FC236}">
                <a16:creationId xmlns:a16="http://schemas.microsoft.com/office/drawing/2014/main" id="{E92EB319-FD9E-4DED-B0DB-82F68B325101}"/>
              </a:ext>
            </a:extLst>
          </p:cNvPr>
          <p:cNvSpPr>
            <a:spLocks noGrp="1"/>
          </p:cNvSpPr>
          <p:nvPr/>
        </p:nvSpPr>
        <p:spPr>
          <a:xfrm>
            <a:off x="3914775" y="1724025"/>
            <a:ext cx="2695575" cy="4267200"/>
          </a:xfrm>
          <a:prstGeom prst="roundRect">
            <a:avLst>
              <a:gd name="adj" fmla="val 9894"/>
            </a:avLst>
          </a:prstGeom>
          <a:solidFill>
            <a:srgbClr val="050A11"/>
          </a:solidFill>
          <a:ln w="19050">
            <a:solidFill>
              <a:srgbClr val="384B61"/>
            </a:solidFill>
            <a:prstDash val="solid"/>
          </a:ln>
        </p:spPr>
      </p:sp>
      <p:sp>
        <p:nvSpPr>
          <p:cNvPr id="10" name="Rounded Rectangle 9">
            <a:extLst>
              <a:ext uri="{FF2B5EF4-FFF2-40B4-BE49-F238E27FC236}">
                <a16:creationId xmlns:a16="http://schemas.microsoft.com/office/drawing/2014/main" id="{BF57EFC5-B9D3-4505-B382-8D4E7297EEC3}"/>
              </a:ext>
            </a:extLst>
          </p:cNvPr>
          <p:cNvSpPr>
            <a:spLocks noGrp="1"/>
          </p:cNvSpPr>
          <p:nvPr/>
        </p:nvSpPr>
        <p:spPr>
          <a:xfrm>
            <a:off x="4858703" y="1781175"/>
            <a:ext cx="807720" cy="114300"/>
          </a:xfrm>
          <a:prstGeom prst="roundRect">
            <a:avLst>
              <a:gd name="adj" fmla="val 50000"/>
            </a:avLst>
          </a:prstGeom>
          <a:solidFill>
            <a:srgbClr val="050A11"/>
          </a:solidFill>
          <a:ln w="0">
            <a:noFill/>
            <a:prstDash val="solid"/>
          </a:ln>
        </p:spPr>
      </p:sp>
      <p:pic>
        <p:nvPicPr>
          <p:cNvPr id="39" name="Picture 38"/>
          <p:cNvPicPr>
            <a:picLocks noChangeAspect="1"/>
          </p:cNvPicPr>
          <p:nvPr/>
        </p:nvPicPr>
        <p:blipFill>
          <a:blip r:embed="rId4"/>
          <a:srcRect t="19505" b="19505"/>
          <a:stretch>
            <a:fillRect/>
          </a:stretch>
        </p:blipFill>
        <p:spPr>
          <a:xfrm>
            <a:off x="4000500" y="1809750"/>
            <a:ext cx="2524125" cy="4095750"/>
          </a:xfrm>
          <a:prstGeom prst="roundRect">
            <a:avLst>
              <a:gd name="adj" fmla="val 7547"/>
            </a:avLst>
          </a:prstGeom>
        </p:spPr>
      </p:pic>
      <p:sp>
        <p:nvSpPr>
          <p:cNvPr id="12" name="Rounded Rectangle 11">
            <a:extLst>
              <a:ext uri="{FF2B5EF4-FFF2-40B4-BE49-F238E27FC236}">
                <a16:creationId xmlns:a16="http://schemas.microsoft.com/office/drawing/2014/main" id="{6714ADCF-D01B-4469-9814-69A4606C7003}"/>
              </a:ext>
            </a:extLst>
          </p:cNvPr>
          <p:cNvSpPr>
            <a:spLocks noGrp="1"/>
          </p:cNvSpPr>
          <p:nvPr/>
        </p:nvSpPr>
        <p:spPr>
          <a:xfrm>
            <a:off x="4238625" y="5962650"/>
            <a:ext cx="2047875" cy="304800"/>
          </a:xfrm>
          <a:prstGeom prst="roundRect">
            <a:avLst>
              <a:gd name="adj" fmla="val 50000"/>
            </a:avLst>
          </a:prstGeom>
          <a:solidFill>
            <a:srgbClr val="17304A"/>
          </a:solidFill>
          <a:ln w="9525">
            <a:solidFill>
              <a:srgbClr val="284966"/>
            </a:solidFill>
            <a:prstDash val="solid"/>
          </a:ln>
        </p:spPr>
        <p:txBody>
          <a:bodyPr wrap="square" lIns="57150" tIns="28575" rIns="57150" bIns="28575" anchor="ctr">
            <a:normAutofit fontScale="98973"/>
          </a:bodyPr>
          <a:lstStyle/>
          <a:p>
            <a:pPr algn="ctr">
              <a:defRPr sz="1050" b="1" i="0">
                <a:solidFill>
                  <a:srgbClr val="CFE0F5"/>
                </a:solidFill>
                <a:latin typeface="Lexend"/>
                <a:ea typeface="Lexend"/>
                <a:cs typeface="Lexend"/>
              </a:defRPr>
            </a:pPr>
            <a:r>
              <a:rPr sz="1050" b="1" i="0">
                <a:solidFill>
                  <a:srgbClr val="CFE0F5"/>
                </a:solidFill>
                <a:latin typeface="Lexend"/>
                <a:ea typeface="Lexend"/>
                <a:cs typeface="Lexend"/>
              </a:rPr>
              <a:t>2 · PREFERENCES</a:t>
            </a:r>
          </a:p>
        </p:txBody>
      </p:sp>
      <p:sp>
        <p:nvSpPr>
          <p:cNvPr id="13" name="Rounded Rectangle 12">
            <a:extLst>
              <a:ext uri="{FF2B5EF4-FFF2-40B4-BE49-F238E27FC236}">
                <a16:creationId xmlns:a16="http://schemas.microsoft.com/office/drawing/2014/main" id="{3960178B-7D7B-4382-B384-91CA41827325}"/>
              </a:ext>
            </a:extLst>
          </p:cNvPr>
          <p:cNvSpPr>
            <a:spLocks noGrp="1"/>
          </p:cNvSpPr>
          <p:nvPr/>
        </p:nvSpPr>
        <p:spPr>
          <a:xfrm>
            <a:off x="7200900" y="1809750"/>
            <a:ext cx="4457700" cy="4095750"/>
          </a:xfrm>
          <a:prstGeom prst="roundRect">
            <a:avLst>
              <a:gd name="adj" fmla="val 5581"/>
            </a:avLst>
          </a:prstGeom>
          <a:solidFill>
            <a:srgbClr val="111B2E"/>
          </a:solidFill>
          <a:ln w="9525">
            <a:solidFill>
              <a:srgbClr val="2A4057"/>
            </a:solidFill>
            <a:prstDash val="solid"/>
          </a:ln>
        </p:spPr>
      </p:sp>
      <p:sp>
        <p:nvSpPr>
          <p:cNvPr id="14" name="Rounded Rectangle 13">
            <a:extLst>
              <a:ext uri="{FF2B5EF4-FFF2-40B4-BE49-F238E27FC236}">
                <a16:creationId xmlns:a16="http://schemas.microsoft.com/office/drawing/2014/main" id="{26FA123E-C702-487F-ACCA-41D2B2A0C91A}"/>
              </a:ext>
            </a:extLst>
          </p:cNvPr>
          <p:cNvSpPr>
            <a:spLocks noGrp="1"/>
          </p:cNvSpPr>
          <p:nvPr/>
        </p:nvSpPr>
        <p:spPr>
          <a:xfrm>
            <a:off x="7448550" y="2057400"/>
            <a:ext cx="2381250" cy="266700"/>
          </a:xfrm>
          <a:prstGeom prst="roundRect">
            <a:avLst>
              <a:gd name="adj" fmla="val 50000"/>
            </a:avLst>
          </a:prstGeom>
          <a:solidFill>
            <a:srgbClr val="2A241E"/>
          </a:solidFill>
          <a:ln w="9525">
            <a:solidFill>
              <a:srgbClr val="74411F"/>
            </a:solidFill>
            <a:prstDash val="solid"/>
          </a:ln>
        </p:spPr>
        <p:txBody>
          <a:bodyPr wrap="square" lIns="76200" tIns="19050" rIns="76200" bIns="19050" anchor="ctr">
            <a:normAutofit/>
          </a:bodyPr>
          <a:lstStyle/>
          <a:p>
            <a:pPr algn="ctr">
              <a:defRPr sz="900" b="1" i="0">
                <a:solidFill>
                  <a:srgbClr val="FDBA74"/>
                </a:solidFill>
                <a:latin typeface="Lexend"/>
                <a:ea typeface="Lexend"/>
                <a:cs typeface="Lexend"/>
              </a:defRPr>
            </a:pPr>
            <a:r>
              <a:rPr sz="900" b="1" i="0">
                <a:solidFill>
                  <a:srgbClr val="FDBA74"/>
                </a:solidFill>
                <a:latin typeface="Lexend"/>
                <a:ea typeface="Lexend"/>
                <a:cs typeface="Lexend"/>
              </a:rPr>
              <a:t>BEN · ADD BEFORE PRESENTING</a:t>
            </a:r>
          </a:p>
        </p:txBody>
      </p:sp>
      <p:sp>
        <p:nvSpPr>
          <p:cNvPr id="15" name="Oval 14">
            <a:extLst>
              <a:ext uri="{FF2B5EF4-FFF2-40B4-BE49-F238E27FC236}">
                <a16:creationId xmlns:a16="http://schemas.microsoft.com/office/drawing/2014/main" id="{C218DAB0-AB53-448C-8F17-8D1230CC8D1E}"/>
              </a:ext>
            </a:extLst>
          </p:cNvPr>
          <p:cNvSpPr>
            <a:spLocks noGrp="1"/>
          </p:cNvSpPr>
          <p:nvPr/>
        </p:nvSpPr>
        <p:spPr>
          <a:xfrm>
            <a:off x="7448550" y="2628900"/>
            <a:ext cx="323850" cy="323850"/>
          </a:xfrm>
          <a:prstGeom prst="ellipse">
            <a:avLst/>
          </a:prstGeom>
          <a:solidFill>
            <a:srgbClr val="17304A"/>
          </a:solidFill>
          <a:ln w="9525">
            <a:solidFill>
              <a:srgbClr val="315675"/>
            </a:solidFill>
            <a:prstDash val="solid"/>
          </a:ln>
        </p:spPr>
      </p:sp>
      <p:sp>
        <p:nvSpPr>
          <p:cNvPr id="16" name="Rectangle 15">
            <a:extLst>
              <a:ext uri="{FF2B5EF4-FFF2-40B4-BE49-F238E27FC236}">
                <a16:creationId xmlns:a16="http://schemas.microsoft.com/office/drawing/2014/main" id="{1E832A2C-B88D-4FB9-9086-F8321293E12A}"/>
              </a:ext>
            </a:extLst>
          </p:cNvPr>
          <p:cNvSpPr>
            <a:spLocks noGrp="1"/>
          </p:cNvSpPr>
          <p:nvPr/>
        </p:nvSpPr>
        <p:spPr>
          <a:xfrm>
            <a:off x="7448550" y="268605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01</a:t>
            </a:r>
          </a:p>
        </p:txBody>
      </p:sp>
      <p:sp>
        <p:nvSpPr>
          <p:cNvPr id="17" name="Rectangle 16">
            <a:extLst>
              <a:ext uri="{FF2B5EF4-FFF2-40B4-BE49-F238E27FC236}">
                <a16:creationId xmlns:a16="http://schemas.microsoft.com/office/drawing/2014/main" id="{E8537720-DD5C-4B7F-9E2E-CF04D35D5A17}"/>
              </a:ext>
            </a:extLst>
          </p:cNvPr>
          <p:cNvSpPr>
            <a:spLocks noGrp="1"/>
          </p:cNvSpPr>
          <p:nvPr/>
        </p:nvSpPr>
        <p:spPr>
          <a:xfrm>
            <a:off x="7924800" y="265747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What the passenger is trying to do ]</a:t>
            </a:r>
          </a:p>
        </p:txBody>
      </p:sp>
      <p:sp>
        <p:nvSpPr>
          <p:cNvPr id="18" name="Oval 17">
            <a:extLst>
              <a:ext uri="{FF2B5EF4-FFF2-40B4-BE49-F238E27FC236}">
                <a16:creationId xmlns:a16="http://schemas.microsoft.com/office/drawing/2014/main" id="{805EFA41-C07C-49A8-ADC4-D16A60F6B754}"/>
              </a:ext>
            </a:extLst>
          </p:cNvPr>
          <p:cNvSpPr>
            <a:spLocks noGrp="1"/>
          </p:cNvSpPr>
          <p:nvPr/>
        </p:nvSpPr>
        <p:spPr>
          <a:xfrm>
            <a:off x="7448550" y="3352800"/>
            <a:ext cx="323850" cy="323850"/>
          </a:xfrm>
          <a:prstGeom prst="ellipse">
            <a:avLst/>
          </a:prstGeom>
          <a:solidFill>
            <a:srgbClr val="17304A"/>
          </a:solidFill>
          <a:ln w="9525">
            <a:solidFill>
              <a:srgbClr val="315675"/>
            </a:solidFill>
            <a:prstDash val="solid"/>
          </a:ln>
        </p:spPr>
      </p:sp>
      <p:sp>
        <p:nvSpPr>
          <p:cNvPr id="19" name="Rectangle 18">
            <a:extLst>
              <a:ext uri="{FF2B5EF4-FFF2-40B4-BE49-F238E27FC236}">
                <a16:creationId xmlns:a16="http://schemas.microsoft.com/office/drawing/2014/main" id="{1DD065AF-5BC2-4B7C-94F1-74B38D0F7594}"/>
              </a:ext>
            </a:extLst>
          </p:cNvPr>
          <p:cNvSpPr>
            <a:spLocks noGrp="1"/>
          </p:cNvSpPr>
          <p:nvPr/>
        </p:nvSpPr>
        <p:spPr>
          <a:xfrm>
            <a:off x="7448550" y="340995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02</a:t>
            </a:r>
          </a:p>
        </p:txBody>
      </p:sp>
      <p:sp>
        <p:nvSpPr>
          <p:cNvPr id="20" name="Rectangle 19">
            <a:extLst>
              <a:ext uri="{FF2B5EF4-FFF2-40B4-BE49-F238E27FC236}">
                <a16:creationId xmlns:a16="http://schemas.microsoft.com/office/drawing/2014/main" id="{AE3A65B3-6575-4F78-96F6-A5A420309E9D}"/>
              </a:ext>
            </a:extLst>
          </p:cNvPr>
          <p:cNvSpPr>
            <a:spLocks noGrp="1"/>
          </p:cNvSpPr>
          <p:nvPr/>
        </p:nvSpPr>
        <p:spPr>
          <a:xfrm>
            <a:off x="7924800" y="338137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Why the preference choice matters ]</a:t>
            </a:r>
          </a:p>
        </p:txBody>
      </p:sp>
      <p:sp>
        <p:nvSpPr>
          <p:cNvPr id="21" name="Oval 20">
            <a:extLst>
              <a:ext uri="{FF2B5EF4-FFF2-40B4-BE49-F238E27FC236}">
                <a16:creationId xmlns:a16="http://schemas.microsoft.com/office/drawing/2014/main" id="{5B769CD6-0F95-4BBA-A0FE-A3B1A636C0E9}"/>
              </a:ext>
            </a:extLst>
          </p:cNvPr>
          <p:cNvSpPr>
            <a:spLocks noGrp="1"/>
          </p:cNvSpPr>
          <p:nvPr/>
        </p:nvSpPr>
        <p:spPr>
          <a:xfrm>
            <a:off x="7448550" y="4076700"/>
            <a:ext cx="323850" cy="323850"/>
          </a:xfrm>
          <a:prstGeom prst="ellipse">
            <a:avLst/>
          </a:prstGeom>
          <a:solidFill>
            <a:srgbClr val="17304A"/>
          </a:solidFill>
          <a:ln w="9525">
            <a:solidFill>
              <a:srgbClr val="315675"/>
            </a:solidFill>
            <a:prstDash val="solid"/>
          </a:ln>
        </p:spPr>
      </p:sp>
      <p:sp>
        <p:nvSpPr>
          <p:cNvPr id="22" name="Rectangle 21">
            <a:extLst>
              <a:ext uri="{FF2B5EF4-FFF2-40B4-BE49-F238E27FC236}">
                <a16:creationId xmlns:a16="http://schemas.microsoft.com/office/drawing/2014/main" id="{79C900E9-7B12-46F1-9D92-05564AA9FCC7}"/>
              </a:ext>
            </a:extLst>
          </p:cNvPr>
          <p:cNvSpPr>
            <a:spLocks noGrp="1"/>
          </p:cNvSpPr>
          <p:nvPr/>
        </p:nvSpPr>
        <p:spPr>
          <a:xfrm>
            <a:off x="7448550" y="413385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03</a:t>
            </a:r>
          </a:p>
        </p:txBody>
      </p:sp>
      <p:sp>
        <p:nvSpPr>
          <p:cNvPr id="23" name="Rectangle 22">
            <a:extLst>
              <a:ext uri="{FF2B5EF4-FFF2-40B4-BE49-F238E27FC236}">
                <a16:creationId xmlns:a16="http://schemas.microsoft.com/office/drawing/2014/main" id="{6D2E0113-65A3-4E79-95C4-353E66F5627F}"/>
              </a:ext>
            </a:extLst>
          </p:cNvPr>
          <p:cNvSpPr>
            <a:spLocks noGrp="1"/>
          </p:cNvSpPr>
          <p:nvPr/>
        </p:nvSpPr>
        <p:spPr>
          <a:xfrm>
            <a:off x="7924800" y="410527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One accessibility or clarity callout ]</a:t>
            </a:r>
          </a:p>
        </p:txBody>
      </p:sp>
      <p:sp>
        <p:nvSpPr>
          <p:cNvPr id="24" name="Oval 23">
            <a:extLst>
              <a:ext uri="{FF2B5EF4-FFF2-40B4-BE49-F238E27FC236}">
                <a16:creationId xmlns:a16="http://schemas.microsoft.com/office/drawing/2014/main" id="{4725E2A4-C7D4-490B-8B8E-E4DB17E37B62}"/>
              </a:ext>
            </a:extLst>
          </p:cNvPr>
          <p:cNvSpPr>
            <a:spLocks noGrp="1"/>
          </p:cNvSpPr>
          <p:nvPr/>
        </p:nvSpPr>
        <p:spPr>
          <a:xfrm>
            <a:off x="7448550" y="4800600"/>
            <a:ext cx="323850" cy="323850"/>
          </a:xfrm>
          <a:prstGeom prst="ellipse">
            <a:avLst/>
          </a:prstGeom>
          <a:solidFill>
            <a:srgbClr val="17304A"/>
          </a:solidFill>
          <a:ln w="9525">
            <a:solidFill>
              <a:srgbClr val="315675"/>
            </a:solidFill>
            <a:prstDash val="solid"/>
          </a:ln>
        </p:spPr>
      </p:sp>
      <p:sp>
        <p:nvSpPr>
          <p:cNvPr id="25" name="Rectangle 24">
            <a:extLst>
              <a:ext uri="{FF2B5EF4-FFF2-40B4-BE49-F238E27FC236}">
                <a16:creationId xmlns:a16="http://schemas.microsoft.com/office/drawing/2014/main" id="{F9B424C5-D60A-4EF1-8ADF-491D6EC2D4E6}"/>
              </a:ext>
            </a:extLst>
          </p:cNvPr>
          <p:cNvSpPr>
            <a:spLocks noGrp="1"/>
          </p:cNvSpPr>
          <p:nvPr/>
        </p:nvSpPr>
        <p:spPr>
          <a:xfrm>
            <a:off x="7448550" y="485775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04</a:t>
            </a:r>
          </a:p>
        </p:txBody>
      </p:sp>
      <p:sp>
        <p:nvSpPr>
          <p:cNvPr id="26" name="Rectangle 25">
            <a:extLst>
              <a:ext uri="{FF2B5EF4-FFF2-40B4-BE49-F238E27FC236}">
                <a16:creationId xmlns:a16="http://schemas.microsoft.com/office/drawing/2014/main" id="{3515D4B5-29F8-4D66-9BF3-29CF646D37AC}"/>
              </a:ext>
            </a:extLst>
          </p:cNvPr>
          <p:cNvSpPr>
            <a:spLocks noGrp="1"/>
          </p:cNvSpPr>
          <p:nvPr/>
        </p:nvSpPr>
        <p:spPr>
          <a:xfrm>
            <a:off x="7924800" y="482917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The passenger benefit in plain language ]</a:t>
            </a:r>
          </a:p>
        </p:txBody>
      </p:sp>
      <p:sp>
        <p:nvSpPr>
          <p:cNvPr id="27" name="Straight Connector 26">
            <a:extLst>
              <a:ext uri="{FF2B5EF4-FFF2-40B4-BE49-F238E27FC236}">
                <a16:creationId xmlns:a16="http://schemas.microsoft.com/office/drawing/2014/main" id="{08F514B0-3AEC-4D80-BA65-5A008745E907}"/>
              </a:ext>
            </a:extLst>
          </p:cNvPr>
          <p:cNvSpPr>
            <a:spLocks noGrp="1"/>
          </p:cNvSpPr>
          <p:nvPr/>
        </p:nvSpPr>
        <p:spPr>
          <a:xfrm>
            <a:off x="533400" y="6477000"/>
            <a:ext cx="11125200" cy="0"/>
          </a:xfrm>
          <a:prstGeom prst="line">
            <a:avLst/>
          </a:prstGeom>
          <a:noFill/>
          <a:ln w="9525">
            <a:solidFill>
              <a:srgbClr val="2A4057"/>
            </a:solidFill>
            <a:prstDash val="solid"/>
          </a:ln>
        </p:spPr>
      </p:sp>
      <p:sp>
        <p:nvSpPr>
          <p:cNvPr id="28" name="Rectangle 27">
            <a:extLst>
              <a:ext uri="{FF2B5EF4-FFF2-40B4-BE49-F238E27FC236}">
                <a16:creationId xmlns:a16="http://schemas.microsoft.com/office/drawing/2014/main" id="{13D2DE7E-BAC2-466D-89B1-E55FE5FA2DDA}"/>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8397AC"/>
                </a:solidFill>
                <a:latin typeface="Source Sans 3"/>
                <a:ea typeface="Source Sans 3"/>
                <a:cs typeface="Source Sans 3"/>
              </a:defRPr>
            </a:pPr>
            <a:r>
              <a:rPr sz="825" b="0" i="0">
                <a:solidFill>
                  <a:srgbClr val="8397AC"/>
                </a:solidFill>
                <a:latin typeface="Source Sans 3"/>
                <a:ea typeface="Source Sans 3"/>
                <a:cs typeface="Source Sans 3"/>
              </a:rPr>
              <a:t>Source: current TripSync repository build · Captured 19 Sep 2026 · Prototype / demo data</a:t>
            </a:r>
          </a:p>
        </p:txBody>
      </p:sp>
    </p:spTree>
    <p:extLst>
      <p:ext uri="{BB962C8B-B14F-4D97-AF65-F5344CB8AC3E}">
        <p14:creationId xmlns:p14="http://schemas.microsoft.com/office/powerpoint/2010/main" val="92786583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AB90C784-DFB6-49D1-B694-32F2D50AF357}"/>
              </a:ext>
            </a:extLst>
          </p:cNvPr>
          <p:cNvSpPr>
            <a:spLocks noGrp="1"/>
          </p:cNvSpPr>
          <p:nvPr/>
        </p:nvSpPr>
        <p:spPr>
          <a:xfrm>
            <a:off x="533400" y="361950"/>
            <a:ext cx="1257300" cy="266700"/>
          </a:xfrm>
          <a:prstGeom prst="roundRect">
            <a:avLst>
              <a:gd name="adj" fmla="val 50000"/>
            </a:avLst>
          </a:prstGeom>
          <a:solidFill>
            <a:srgbClr val="17304A"/>
          </a:solidFill>
          <a:ln w="9525">
            <a:solidFill>
              <a:srgbClr val="284966"/>
            </a:solidFill>
            <a:prstDash val="solid"/>
          </a:ln>
        </p:spPr>
        <p:txBody>
          <a:bodyPr wrap="square" lIns="76200" tIns="19050" rIns="76200" bIns="19050" anchor="ctr">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BEN</a:t>
            </a:r>
          </a:p>
        </p:txBody>
      </p:sp>
      <p:sp>
        <p:nvSpPr>
          <p:cNvPr id="2" name="slide-8-title">
            <a:extLst>
              <a:ext uri="{FF2B5EF4-FFF2-40B4-BE49-F238E27FC236}">
                <a16:creationId xmlns:a16="http://schemas.microsoft.com/office/drawing/2014/main" id="{198EE3ED-8328-4400-A573-3F9CE5297FC0}"/>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FFFFFF"/>
                </a:solidFill>
                <a:latin typeface="Lexend"/>
                <a:ea typeface="Lexend"/>
                <a:cs typeface="Lexend"/>
              </a:defRPr>
            </a:pPr>
            <a:r>
              <a:rPr sz="2550" b="1" i="0">
                <a:solidFill>
                  <a:srgbClr val="FFFFFF"/>
                </a:solidFill>
                <a:latin typeface="Lexend"/>
                <a:ea typeface="Lexend"/>
                <a:cs typeface="Lexend"/>
              </a:rPr>
              <a:t>Passenger walkthrough: seat and boarding pass</a:t>
            </a:r>
          </a:p>
        </p:txBody>
      </p:sp>
      <p:sp>
        <p:nvSpPr>
          <p:cNvPr id="3" name="Rectangle 2">
            <a:extLst>
              <a:ext uri="{FF2B5EF4-FFF2-40B4-BE49-F238E27FC236}">
                <a16:creationId xmlns:a16="http://schemas.microsoft.com/office/drawing/2014/main" id="{05926559-FCA2-4CB5-8486-4AF23298B697}"/>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A9B8CB"/>
                </a:solidFill>
                <a:latin typeface="Source Sans 3"/>
                <a:ea typeface="Source Sans 3"/>
                <a:cs typeface="Source Sans 3"/>
              </a:defRPr>
            </a:pPr>
            <a:r>
              <a:rPr sz="1350" b="0" i="0">
                <a:solidFill>
                  <a:srgbClr val="A9B8CB"/>
                </a:solidFill>
                <a:latin typeface="Source Sans 3"/>
                <a:ea typeface="Source Sans 3"/>
                <a:cs typeface="Source Sans 3"/>
              </a:rPr>
              <a:t>Fresh prototype views · Demo data · Owner-controlled callouts</a:t>
            </a:r>
          </a:p>
        </p:txBody>
      </p:sp>
      <p:sp>
        <p:nvSpPr>
          <p:cNvPr id="5" name="Rounded Rectangle 4">
            <a:extLst>
              <a:ext uri="{FF2B5EF4-FFF2-40B4-BE49-F238E27FC236}">
                <a16:creationId xmlns:a16="http://schemas.microsoft.com/office/drawing/2014/main" id="{9D297736-ED69-48D6-881A-B6499919B7CC}"/>
              </a:ext>
            </a:extLst>
          </p:cNvPr>
          <p:cNvSpPr>
            <a:spLocks noGrp="1"/>
          </p:cNvSpPr>
          <p:nvPr/>
        </p:nvSpPr>
        <p:spPr>
          <a:xfrm>
            <a:off x="714375" y="1724025"/>
            <a:ext cx="2695575" cy="4267200"/>
          </a:xfrm>
          <a:prstGeom prst="roundRect">
            <a:avLst>
              <a:gd name="adj" fmla="val 9894"/>
            </a:avLst>
          </a:prstGeom>
          <a:solidFill>
            <a:srgbClr val="050A11"/>
          </a:solidFill>
          <a:ln w="19050">
            <a:solidFill>
              <a:srgbClr val="384B61"/>
            </a:solidFill>
            <a:prstDash val="solid"/>
          </a:ln>
        </p:spPr>
      </p:sp>
      <p:sp>
        <p:nvSpPr>
          <p:cNvPr id="6" name="Rounded Rectangle 5">
            <a:extLst>
              <a:ext uri="{FF2B5EF4-FFF2-40B4-BE49-F238E27FC236}">
                <a16:creationId xmlns:a16="http://schemas.microsoft.com/office/drawing/2014/main" id="{781D3183-F3EC-46AB-B9F1-0ED3DDF6D2C6}"/>
              </a:ext>
            </a:extLst>
          </p:cNvPr>
          <p:cNvSpPr>
            <a:spLocks noGrp="1"/>
          </p:cNvSpPr>
          <p:nvPr/>
        </p:nvSpPr>
        <p:spPr>
          <a:xfrm>
            <a:off x="1658303" y="1781175"/>
            <a:ext cx="807720" cy="114300"/>
          </a:xfrm>
          <a:prstGeom prst="roundRect">
            <a:avLst>
              <a:gd name="adj" fmla="val 50000"/>
            </a:avLst>
          </a:prstGeom>
          <a:solidFill>
            <a:srgbClr val="050A11"/>
          </a:solidFill>
          <a:ln w="0">
            <a:noFill/>
            <a:prstDash val="solid"/>
          </a:ln>
        </p:spPr>
      </p:sp>
      <p:pic>
        <p:nvPicPr>
          <p:cNvPr id="35" name="Picture 34"/>
          <p:cNvPicPr>
            <a:picLocks noChangeAspect="1"/>
          </p:cNvPicPr>
          <p:nvPr/>
        </p:nvPicPr>
        <p:blipFill>
          <a:blip r:embed="rId3"/>
          <a:srcRect t="27550" b="27550"/>
          <a:stretch>
            <a:fillRect/>
          </a:stretch>
        </p:blipFill>
        <p:spPr>
          <a:xfrm>
            <a:off x="800100" y="1809750"/>
            <a:ext cx="2524125" cy="4095750"/>
          </a:xfrm>
          <a:prstGeom prst="roundRect">
            <a:avLst>
              <a:gd name="adj" fmla="val 7547"/>
            </a:avLst>
          </a:prstGeom>
        </p:spPr>
      </p:pic>
      <p:sp>
        <p:nvSpPr>
          <p:cNvPr id="8" name="Rounded Rectangle 7">
            <a:extLst>
              <a:ext uri="{FF2B5EF4-FFF2-40B4-BE49-F238E27FC236}">
                <a16:creationId xmlns:a16="http://schemas.microsoft.com/office/drawing/2014/main" id="{6700EC4C-4ADC-4846-8C96-4474EF5EB162}"/>
              </a:ext>
            </a:extLst>
          </p:cNvPr>
          <p:cNvSpPr>
            <a:spLocks noGrp="1"/>
          </p:cNvSpPr>
          <p:nvPr/>
        </p:nvSpPr>
        <p:spPr>
          <a:xfrm>
            <a:off x="1143000" y="5962650"/>
            <a:ext cx="1847850" cy="304800"/>
          </a:xfrm>
          <a:prstGeom prst="roundRect">
            <a:avLst>
              <a:gd name="adj" fmla="val 50000"/>
            </a:avLst>
          </a:prstGeom>
          <a:solidFill>
            <a:srgbClr val="17304A"/>
          </a:solidFill>
          <a:ln w="9525">
            <a:solidFill>
              <a:srgbClr val="284966"/>
            </a:solidFill>
            <a:prstDash val="solid"/>
          </a:ln>
        </p:spPr>
        <p:txBody>
          <a:bodyPr wrap="square" lIns="57150" tIns="28575" rIns="57150" bIns="28575" anchor="ctr">
            <a:normAutofit fontScale="98973"/>
          </a:bodyPr>
          <a:lstStyle/>
          <a:p>
            <a:pPr algn="ctr">
              <a:defRPr sz="1050" b="1" i="0">
                <a:solidFill>
                  <a:srgbClr val="CFE0F5"/>
                </a:solidFill>
                <a:latin typeface="Lexend"/>
                <a:ea typeface="Lexend"/>
                <a:cs typeface="Lexend"/>
              </a:defRPr>
            </a:pPr>
            <a:r>
              <a:rPr sz="1050" b="1" i="0">
                <a:solidFill>
                  <a:srgbClr val="CFE0F5"/>
                </a:solidFill>
                <a:latin typeface="Lexend"/>
                <a:ea typeface="Lexend"/>
                <a:cs typeface="Lexend"/>
              </a:rPr>
              <a:t>3 · SEAT</a:t>
            </a:r>
          </a:p>
        </p:txBody>
      </p:sp>
      <p:sp>
        <p:nvSpPr>
          <p:cNvPr id="9" name="Rounded Rectangle 8">
            <a:extLst>
              <a:ext uri="{FF2B5EF4-FFF2-40B4-BE49-F238E27FC236}">
                <a16:creationId xmlns:a16="http://schemas.microsoft.com/office/drawing/2014/main" id="{2E91CD8C-FA99-424E-830D-BE40F2C2F63D}"/>
              </a:ext>
            </a:extLst>
          </p:cNvPr>
          <p:cNvSpPr>
            <a:spLocks noGrp="1"/>
          </p:cNvSpPr>
          <p:nvPr/>
        </p:nvSpPr>
        <p:spPr>
          <a:xfrm>
            <a:off x="3914775" y="1724025"/>
            <a:ext cx="2695575" cy="4267200"/>
          </a:xfrm>
          <a:prstGeom prst="roundRect">
            <a:avLst>
              <a:gd name="adj" fmla="val 9894"/>
            </a:avLst>
          </a:prstGeom>
          <a:solidFill>
            <a:srgbClr val="050A11"/>
          </a:solidFill>
          <a:ln w="19050">
            <a:solidFill>
              <a:srgbClr val="384B61"/>
            </a:solidFill>
            <a:prstDash val="solid"/>
          </a:ln>
        </p:spPr>
      </p:sp>
      <p:sp>
        <p:nvSpPr>
          <p:cNvPr id="10" name="Rounded Rectangle 9">
            <a:extLst>
              <a:ext uri="{FF2B5EF4-FFF2-40B4-BE49-F238E27FC236}">
                <a16:creationId xmlns:a16="http://schemas.microsoft.com/office/drawing/2014/main" id="{7ECD11FC-A842-4905-9664-D2B471F5FB44}"/>
              </a:ext>
            </a:extLst>
          </p:cNvPr>
          <p:cNvSpPr>
            <a:spLocks noGrp="1"/>
          </p:cNvSpPr>
          <p:nvPr/>
        </p:nvSpPr>
        <p:spPr>
          <a:xfrm>
            <a:off x="4858703" y="1781175"/>
            <a:ext cx="807720" cy="114300"/>
          </a:xfrm>
          <a:prstGeom prst="roundRect">
            <a:avLst>
              <a:gd name="adj" fmla="val 50000"/>
            </a:avLst>
          </a:prstGeom>
          <a:solidFill>
            <a:srgbClr val="050A11"/>
          </a:solidFill>
          <a:ln w="0">
            <a:noFill/>
            <a:prstDash val="solid"/>
          </a:ln>
        </p:spPr>
      </p:sp>
      <p:pic>
        <p:nvPicPr>
          <p:cNvPr id="39" name="Picture 38"/>
          <p:cNvPicPr>
            <a:picLocks noChangeAspect="1"/>
          </p:cNvPicPr>
          <p:nvPr/>
        </p:nvPicPr>
        <p:blipFill>
          <a:blip r:embed="rId4"/>
          <a:srcRect t="19045" b="19045"/>
          <a:stretch>
            <a:fillRect/>
          </a:stretch>
        </p:blipFill>
        <p:spPr>
          <a:xfrm>
            <a:off x="4000500" y="1809750"/>
            <a:ext cx="2524125" cy="4095750"/>
          </a:xfrm>
          <a:prstGeom prst="roundRect">
            <a:avLst>
              <a:gd name="adj" fmla="val 7547"/>
            </a:avLst>
          </a:prstGeom>
        </p:spPr>
      </p:pic>
      <p:sp>
        <p:nvSpPr>
          <p:cNvPr id="12" name="Rounded Rectangle 11">
            <a:extLst>
              <a:ext uri="{FF2B5EF4-FFF2-40B4-BE49-F238E27FC236}">
                <a16:creationId xmlns:a16="http://schemas.microsoft.com/office/drawing/2014/main" id="{D4D4A0DD-1D81-4576-AF25-CEA2669E1F9C}"/>
              </a:ext>
            </a:extLst>
          </p:cNvPr>
          <p:cNvSpPr>
            <a:spLocks noGrp="1"/>
          </p:cNvSpPr>
          <p:nvPr/>
        </p:nvSpPr>
        <p:spPr>
          <a:xfrm>
            <a:off x="4210050" y="5962650"/>
            <a:ext cx="2114550" cy="304800"/>
          </a:xfrm>
          <a:prstGeom prst="roundRect">
            <a:avLst>
              <a:gd name="adj" fmla="val 50000"/>
            </a:avLst>
          </a:prstGeom>
          <a:solidFill>
            <a:srgbClr val="17304A"/>
          </a:solidFill>
          <a:ln w="9525">
            <a:solidFill>
              <a:srgbClr val="284966"/>
            </a:solidFill>
            <a:prstDash val="solid"/>
          </a:ln>
        </p:spPr>
        <p:txBody>
          <a:bodyPr wrap="square" lIns="57150" tIns="28575" rIns="57150" bIns="28575" anchor="ctr">
            <a:normAutofit fontScale="98973"/>
          </a:bodyPr>
          <a:lstStyle/>
          <a:p>
            <a:pPr algn="ctr">
              <a:defRPr sz="1050" b="1" i="0">
                <a:solidFill>
                  <a:srgbClr val="CFE0F5"/>
                </a:solidFill>
                <a:latin typeface="Lexend"/>
                <a:ea typeface="Lexend"/>
                <a:cs typeface="Lexend"/>
              </a:defRPr>
            </a:pPr>
            <a:r>
              <a:rPr sz="1050" b="1" i="0">
                <a:solidFill>
                  <a:srgbClr val="CFE0F5"/>
                </a:solidFill>
                <a:latin typeface="Lexend"/>
                <a:ea typeface="Lexend"/>
                <a:cs typeface="Lexend"/>
              </a:rPr>
              <a:t>4 · BOARDING PASS</a:t>
            </a:r>
          </a:p>
        </p:txBody>
      </p:sp>
      <p:sp>
        <p:nvSpPr>
          <p:cNvPr id="13" name="Rounded Rectangle 12">
            <a:extLst>
              <a:ext uri="{FF2B5EF4-FFF2-40B4-BE49-F238E27FC236}">
                <a16:creationId xmlns:a16="http://schemas.microsoft.com/office/drawing/2014/main" id="{76D38570-5CFA-4D0E-B1C0-8DE761C4DF76}"/>
              </a:ext>
            </a:extLst>
          </p:cNvPr>
          <p:cNvSpPr>
            <a:spLocks noGrp="1"/>
          </p:cNvSpPr>
          <p:nvPr/>
        </p:nvSpPr>
        <p:spPr>
          <a:xfrm>
            <a:off x="7200900" y="1809750"/>
            <a:ext cx="4457700" cy="4095750"/>
          </a:xfrm>
          <a:prstGeom prst="roundRect">
            <a:avLst>
              <a:gd name="adj" fmla="val 5581"/>
            </a:avLst>
          </a:prstGeom>
          <a:solidFill>
            <a:srgbClr val="111B2E"/>
          </a:solidFill>
          <a:ln w="9525">
            <a:solidFill>
              <a:srgbClr val="2A4057"/>
            </a:solidFill>
            <a:prstDash val="solid"/>
          </a:ln>
        </p:spPr>
      </p:sp>
      <p:sp>
        <p:nvSpPr>
          <p:cNvPr id="14" name="Rounded Rectangle 13">
            <a:extLst>
              <a:ext uri="{FF2B5EF4-FFF2-40B4-BE49-F238E27FC236}">
                <a16:creationId xmlns:a16="http://schemas.microsoft.com/office/drawing/2014/main" id="{3EBE6FA4-DFBD-4749-B901-8835A9C4559C}"/>
              </a:ext>
            </a:extLst>
          </p:cNvPr>
          <p:cNvSpPr>
            <a:spLocks noGrp="1"/>
          </p:cNvSpPr>
          <p:nvPr/>
        </p:nvSpPr>
        <p:spPr>
          <a:xfrm>
            <a:off x="7448550" y="2057400"/>
            <a:ext cx="2381250" cy="266700"/>
          </a:xfrm>
          <a:prstGeom prst="roundRect">
            <a:avLst>
              <a:gd name="adj" fmla="val 50000"/>
            </a:avLst>
          </a:prstGeom>
          <a:solidFill>
            <a:srgbClr val="2A241E"/>
          </a:solidFill>
          <a:ln w="9525">
            <a:solidFill>
              <a:srgbClr val="74411F"/>
            </a:solidFill>
            <a:prstDash val="solid"/>
          </a:ln>
        </p:spPr>
        <p:txBody>
          <a:bodyPr wrap="square" lIns="76200" tIns="19050" rIns="76200" bIns="19050" anchor="ctr">
            <a:normAutofit/>
          </a:bodyPr>
          <a:lstStyle/>
          <a:p>
            <a:pPr algn="ctr">
              <a:defRPr sz="900" b="1" i="0">
                <a:solidFill>
                  <a:srgbClr val="FDBA74"/>
                </a:solidFill>
                <a:latin typeface="Lexend"/>
                <a:ea typeface="Lexend"/>
                <a:cs typeface="Lexend"/>
              </a:defRPr>
            </a:pPr>
            <a:r>
              <a:rPr sz="900" b="1" i="0">
                <a:solidFill>
                  <a:srgbClr val="FDBA74"/>
                </a:solidFill>
                <a:latin typeface="Lexend"/>
                <a:ea typeface="Lexend"/>
                <a:cs typeface="Lexend"/>
              </a:rPr>
              <a:t>BEN · ADD BEFORE PRESENTING</a:t>
            </a:r>
          </a:p>
        </p:txBody>
      </p:sp>
      <p:sp>
        <p:nvSpPr>
          <p:cNvPr id="15" name="Oval 14">
            <a:extLst>
              <a:ext uri="{FF2B5EF4-FFF2-40B4-BE49-F238E27FC236}">
                <a16:creationId xmlns:a16="http://schemas.microsoft.com/office/drawing/2014/main" id="{27DA6A3D-90EB-405F-9CD5-E7DCF7CC330E}"/>
              </a:ext>
            </a:extLst>
          </p:cNvPr>
          <p:cNvSpPr>
            <a:spLocks noGrp="1"/>
          </p:cNvSpPr>
          <p:nvPr/>
        </p:nvSpPr>
        <p:spPr>
          <a:xfrm>
            <a:off x="7448550" y="2647950"/>
            <a:ext cx="323850" cy="323850"/>
          </a:xfrm>
          <a:prstGeom prst="ellipse">
            <a:avLst/>
          </a:prstGeom>
          <a:solidFill>
            <a:srgbClr val="17304A"/>
          </a:solidFill>
          <a:ln w="9525">
            <a:solidFill>
              <a:srgbClr val="315675"/>
            </a:solidFill>
            <a:prstDash val="solid"/>
          </a:ln>
        </p:spPr>
      </p:sp>
      <p:sp>
        <p:nvSpPr>
          <p:cNvPr id="16" name="Rectangle 15">
            <a:extLst>
              <a:ext uri="{FF2B5EF4-FFF2-40B4-BE49-F238E27FC236}">
                <a16:creationId xmlns:a16="http://schemas.microsoft.com/office/drawing/2014/main" id="{DC86047C-F475-43B5-8B50-FBD359F8B91D}"/>
              </a:ext>
            </a:extLst>
          </p:cNvPr>
          <p:cNvSpPr>
            <a:spLocks noGrp="1"/>
          </p:cNvSpPr>
          <p:nvPr/>
        </p:nvSpPr>
        <p:spPr>
          <a:xfrm>
            <a:off x="7448550" y="270510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A</a:t>
            </a:r>
          </a:p>
        </p:txBody>
      </p:sp>
      <p:sp>
        <p:nvSpPr>
          <p:cNvPr id="17" name="Rectangle 16">
            <a:extLst>
              <a:ext uri="{FF2B5EF4-FFF2-40B4-BE49-F238E27FC236}">
                <a16:creationId xmlns:a16="http://schemas.microsoft.com/office/drawing/2014/main" id="{B3C007C4-DA58-44E3-B7EE-3F4AB7191681}"/>
              </a:ext>
            </a:extLst>
          </p:cNvPr>
          <p:cNvSpPr>
            <a:spLocks noGrp="1"/>
          </p:cNvSpPr>
          <p:nvPr/>
        </p:nvSpPr>
        <p:spPr>
          <a:xfrm>
            <a:off x="7924800" y="267652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Accessibility handling ]</a:t>
            </a:r>
          </a:p>
        </p:txBody>
      </p:sp>
      <p:sp>
        <p:nvSpPr>
          <p:cNvPr id="18" name="Oval 17">
            <a:extLst>
              <a:ext uri="{FF2B5EF4-FFF2-40B4-BE49-F238E27FC236}">
                <a16:creationId xmlns:a16="http://schemas.microsoft.com/office/drawing/2014/main" id="{0936D82D-A4C5-412E-A1AB-BB431B8DC4D6}"/>
              </a:ext>
            </a:extLst>
          </p:cNvPr>
          <p:cNvSpPr>
            <a:spLocks noGrp="1"/>
          </p:cNvSpPr>
          <p:nvPr/>
        </p:nvSpPr>
        <p:spPr>
          <a:xfrm>
            <a:off x="7448550" y="3371850"/>
            <a:ext cx="323850" cy="323850"/>
          </a:xfrm>
          <a:prstGeom prst="ellipse">
            <a:avLst/>
          </a:prstGeom>
          <a:solidFill>
            <a:srgbClr val="17304A"/>
          </a:solidFill>
          <a:ln w="9525">
            <a:solidFill>
              <a:srgbClr val="315675"/>
            </a:solidFill>
            <a:prstDash val="solid"/>
          </a:ln>
        </p:spPr>
      </p:sp>
      <p:sp>
        <p:nvSpPr>
          <p:cNvPr id="19" name="Rectangle 18">
            <a:extLst>
              <a:ext uri="{FF2B5EF4-FFF2-40B4-BE49-F238E27FC236}">
                <a16:creationId xmlns:a16="http://schemas.microsoft.com/office/drawing/2014/main" id="{41142AAD-F127-4485-B303-4DF24E60CE53}"/>
              </a:ext>
            </a:extLst>
          </p:cNvPr>
          <p:cNvSpPr>
            <a:spLocks noGrp="1"/>
          </p:cNvSpPr>
          <p:nvPr/>
        </p:nvSpPr>
        <p:spPr>
          <a:xfrm>
            <a:off x="7448550" y="342900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B</a:t>
            </a:r>
          </a:p>
        </p:txBody>
      </p:sp>
      <p:sp>
        <p:nvSpPr>
          <p:cNvPr id="20" name="Rectangle 19">
            <a:extLst>
              <a:ext uri="{FF2B5EF4-FFF2-40B4-BE49-F238E27FC236}">
                <a16:creationId xmlns:a16="http://schemas.microsoft.com/office/drawing/2014/main" id="{688AC837-5799-4E02-9D98-FFAAE84CA14D}"/>
              </a:ext>
            </a:extLst>
          </p:cNvPr>
          <p:cNvSpPr>
            <a:spLocks noGrp="1"/>
          </p:cNvSpPr>
          <p:nvPr/>
        </p:nvSpPr>
        <p:spPr>
          <a:xfrm>
            <a:off x="7924800" y="340042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Why this seat is recommended ]</a:t>
            </a:r>
          </a:p>
        </p:txBody>
      </p:sp>
      <p:sp>
        <p:nvSpPr>
          <p:cNvPr id="21" name="Oval 20">
            <a:extLst>
              <a:ext uri="{FF2B5EF4-FFF2-40B4-BE49-F238E27FC236}">
                <a16:creationId xmlns:a16="http://schemas.microsoft.com/office/drawing/2014/main" id="{23787748-A0A4-4D4B-9B21-8EE138051A26}"/>
              </a:ext>
            </a:extLst>
          </p:cNvPr>
          <p:cNvSpPr>
            <a:spLocks noGrp="1"/>
          </p:cNvSpPr>
          <p:nvPr/>
        </p:nvSpPr>
        <p:spPr>
          <a:xfrm>
            <a:off x="7448550" y="4095750"/>
            <a:ext cx="323850" cy="323850"/>
          </a:xfrm>
          <a:prstGeom prst="ellipse">
            <a:avLst/>
          </a:prstGeom>
          <a:solidFill>
            <a:srgbClr val="17304A"/>
          </a:solidFill>
          <a:ln w="9525">
            <a:solidFill>
              <a:srgbClr val="315675"/>
            </a:solidFill>
            <a:prstDash val="solid"/>
          </a:ln>
        </p:spPr>
      </p:sp>
      <p:sp>
        <p:nvSpPr>
          <p:cNvPr id="22" name="Rectangle 21">
            <a:extLst>
              <a:ext uri="{FF2B5EF4-FFF2-40B4-BE49-F238E27FC236}">
                <a16:creationId xmlns:a16="http://schemas.microsoft.com/office/drawing/2014/main" id="{E04D7379-FEAD-4342-AE25-9CF3AF1327C9}"/>
              </a:ext>
            </a:extLst>
          </p:cNvPr>
          <p:cNvSpPr>
            <a:spLocks noGrp="1"/>
          </p:cNvSpPr>
          <p:nvPr/>
        </p:nvSpPr>
        <p:spPr>
          <a:xfrm>
            <a:off x="7448550" y="4152900"/>
            <a:ext cx="323850" cy="190500"/>
          </a:xfrm>
          <a:prstGeom prst="rect">
            <a:avLst/>
          </a:prstGeom>
          <a:noFill/>
          <a:ln w="0">
            <a:noFill/>
            <a:prstDash val="solid"/>
          </a:ln>
        </p:spPr>
        <p:txBody>
          <a:bodyPr wrap="square" lIns="0" tIns="0" rIns="0" bIns="0" anchor="t">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C</a:t>
            </a:r>
          </a:p>
        </p:txBody>
      </p:sp>
      <p:sp>
        <p:nvSpPr>
          <p:cNvPr id="23" name="Rectangle 22">
            <a:extLst>
              <a:ext uri="{FF2B5EF4-FFF2-40B4-BE49-F238E27FC236}">
                <a16:creationId xmlns:a16="http://schemas.microsoft.com/office/drawing/2014/main" id="{E2FF3BCC-E675-44D5-AD12-1AEF9558480A}"/>
              </a:ext>
            </a:extLst>
          </p:cNvPr>
          <p:cNvSpPr>
            <a:spLocks noGrp="1"/>
          </p:cNvSpPr>
          <p:nvPr/>
        </p:nvSpPr>
        <p:spPr>
          <a:xfrm>
            <a:off x="7924800" y="412432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What the signed QR pass verifies ]</a:t>
            </a:r>
          </a:p>
        </p:txBody>
      </p:sp>
      <p:sp>
        <p:nvSpPr>
          <p:cNvPr id="24" name="Oval 23">
            <a:extLst>
              <a:ext uri="{FF2B5EF4-FFF2-40B4-BE49-F238E27FC236}">
                <a16:creationId xmlns:a16="http://schemas.microsoft.com/office/drawing/2014/main" id="{671BC33F-C875-4348-907A-6CD3C162AD00}"/>
              </a:ext>
            </a:extLst>
          </p:cNvPr>
          <p:cNvSpPr>
            <a:spLocks noGrp="1"/>
          </p:cNvSpPr>
          <p:nvPr/>
        </p:nvSpPr>
        <p:spPr>
          <a:xfrm>
            <a:off x="7448550" y="4819650"/>
            <a:ext cx="323850" cy="323850"/>
          </a:xfrm>
          <a:prstGeom prst="ellipse">
            <a:avLst/>
          </a:prstGeom>
          <a:solidFill>
            <a:srgbClr val="113B31"/>
          </a:solidFill>
          <a:ln w="9525">
            <a:solidFill>
              <a:srgbClr val="2A6F5D"/>
            </a:solidFill>
            <a:prstDash val="solid"/>
          </a:ln>
        </p:spPr>
      </p:sp>
      <p:sp>
        <p:nvSpPr>
          <p:cNvPr id="25" name="Rectangle 24">
            <a:extLst>
              <a:ext uri="{FF2B5EF4-FFF2-40B4-BE49-F238E27FC236}">
                <a16:creationId xmlns:a16="http://schemas.microsoft.com/office/drawing/2014/main" id="{D70226FA-6220-42D3-B29F-C4088D4A3FF0}"/>
              </a:ext>
            </a:extLst>
          </p:cNvPr>
          <p:cNvSpPr>
            <a:spLocks noGrp="1"/>
          </p:cNvSpPr>
          <p:nvPr/>
        </p:nvSpPr>
        <p:spPr>
          <a:xfrm>
            <a:off x="7448550" y="4876800"/>
            <a:ext cx="323850" cy="190500"/>
          </a:xfrm>
          <a:prstGeom prst="rect">
            <a:avLst/>
          </a:prstGeom>
          <a:noFill/>
          <a:ln w="0">
            <a:noFill/>
            <a:prstDash val="solid"/>
          </a:ln>
        </p:spPr>
        <p:txBody>
          <a:bodyPr wrap="square" lIns="0" tIns="0" rIns="0" bIns="0" anchor="t">
            <a:normAutofit/>
          </a:bodyPr>
          <a:lstStyle/>
          <a:p>
            <a:pPr algn="ctr">
              <a:defRPr sz="975" b="1" i="0">
                <a:solidFill>
                  <a:srgbClr val="BCE9D9"/>
                </a:solidFill>
                <a:latin typeface="Lexend"/>
                <a:ea typeface="Lexend"/>
                <a:cs typeface="Lexend"/>
              </a:defRPr>
            </a:pPr>
            <a:r>
              <a:rPr sz="975" b="1" i="0">
                <a:solidFill>
                  <a:srgbClr val="BCE9D9"/>
                </a:solidFill>
                <a:latin typeface="Lexend"/>
                <a:ea typeface="Lexend"/>
                <a:cs typeface="Lexend"/>
              </a:rPr>
              <a:t>D</a:t>
            </a:r>
          </a:p>
        </p:txBody>
      </p:sp>
      <p:sp>
        <p:nvSpPr>
          <p:cNvPr id="26" name="Rectangle 25">
            <a:extLst>
              <a:ext uri="{FF2B5EF4-FFF2-40B4-BE49-F238E27FC236}">
                <a16:creationId xmlns:a16="http://schemas.microsoft.com/office/drawing/2014/main" id="{7A72752C-BAE3-4467-B5E7-DD2F7AA32D1A}"/>
              </a:ext>
            </a:extLst>
          </p:cNvPr>
          <p:cNvSpPr>
            <a:spLocks noGrp="1"/>
          </p:cNvSpPr>
          <p:nvPr/>
        </p:nvSpPr>
        <p:spPr>
          <a:xfrm>
            <a:off x="7924800" y="4848225"/>
            <a:ext cx="3333750" cy="381000"/>
          </a:xfrm>
          <a:prstGeom prst="rect">
            <a:avLst/>
          </a:prstGeom>
          <a:noFill/>
          <a:ln w="0">
            <a:noFill/>
            <a:prstDash val="solid"/>
          </a:ln>
        </p:spPr>
        <p:txBody>
          <a:bodyPr wrap="square" lIns="0" tIns="0" rIns="0" bIns="0" anchor="t">
            <a:normAutofit/>
          </a:bodyPr>
          <a:lstStyle/>
          <a:p>
            <a:pPr algn="l">
              <a:defRPr sz="1350" b="0" i="0">
                <a:solidFill>
                  <a:srgbClr val="FFFFFF"/>
                </a:solidFill>
                <a:latin typeface="Source Sans 3"/>
                <a:ea typeface="Source Sans 3"/>
                <a:cs typeface="Source Sans 3"/>
              </a:defRPr>
            </a:pPr>
            <a:r>
              <a:rPr sz="1350" b="0" i="0">
                <a:solidFill>
                  <a:srgbClr val="FFFFFF"/>
                </a:solidFill>
                <a:latin typeface="Source Sans 3"/>
                <a:ea typeface="Source Sans 3"/>
                <a:cs typeface="Source Sans 3"/>
              </a:rPr>
              <a:t>[ The passenger benefit ]</a:t>
            </a:r>
          </a:p>
        </p:txBody>
      </p:sp>
      <p:sp>
        <p:nvSpPr>
          <p:cNvPr id="27" name="Straight Connector 26">
            <a:extLst>
              <a:ext uri="{FF2B5EF4-FFF2-40B4-BE49-F238E27FC236}">
                <a16:creationId xmlns:a16="http://schemas.microsoft.com/office/drawing/2014/main" id="{222C1CB9-4E52-411D-B413-7E8DA62EF71F}"/>
              </a:ext>
            </a:extLst>
          </p:cNvPr>
          <p:cNvSpPr>
            <a:spLocks noGrp="1"/>
          </p:cNvSpPr>
          <p:nvPr/>
        </p:nvSpPr>
        <p:spPr>
          <a:xfrm>
            <a:off x="533400" y="6477000"/>
            <a:ext cx="11125200" cy="0"/>
          </a:xfrm>
          <a:prstGeom prst="line">
            <a:avLst/>
          </a:prstGeom>
          <a:noFill/>
          <a:ln w="9525">
            <a:solidFill>
              <a:srgbClr val="2A4057"/>
            </a:solidFill>
            <a:prstDash val="solid"/>
          </a:ln>
        </p:spPr>
      </p:sp>
      <p:sp>
        <p:nvSpPr>
          <p:cNvPr id="28" name="Rectangle 27">
            <a:extLst>
              <a:ext uri="{FF2B5EF4-FFF2-40B4-BE49-F238E27FC236}">
                <a16:creationId xmlns:a16="http://schemas.microsoft.com/office/drawing/2014/main" id="{C231656F-9543-475D-A987-4075C38113A0}"/>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8397AC"/>
                </a:solidFill>
                <a:latin typeface="Source Sans 3"/>
                <a:ea typeface="Source Sans 3"/>
                <a:cs typeface="Source Sans 3"/>
              </a:defRPr>
            </a:pPr>
            <a:r>
              <a:rPr sz="825" b="0" i="0">
                <a:solidFill>
                  <a:srgbClr val="8397AC"/>
                </a:solidFill>
                <a:latin typeface="Source Sans 3"/>
                <a:ea typeface="Source Sans 3"/>
                <a:cs typeface="Source Sans 3"/>
              </a:rPr>
              <a:t>Source: current TripSync repository build · Captured 19 Sep 2026 · Prototype / demo data</a:t>
            </a:r>
          </a:p>
        </p:txBody>
      </p:sp>
    </p:spTree>
    <p:extLst>
      <p:ext uri="{BB962C8B-B14F-4D97-AF65-F5344CB8AC3E}">
        <p14:creationId xmlns:p14="http://schemas.microsoft.com/office/powerpoint/2010/main" val="1768412757"/>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D9EB3852-5568-46C5-9D6B-6DB38AF53401}"/>
              </a:ext>
            </a:extLst>
          </p:cNvPr>
          <p:cNvSpPr>
            <a:spLocks noGrp="1"/>
          </p:cNvSpPr>
          <p:nvPr/>
        </p:nvSpPr>
        <p:spPr>
          <a:xfrm>
            <a:off x="533400" y="361950"/>
            <a:ext cx="1257300" cy="266700"/>
          </a:xfrm>
          <a:prstGeom prst="roundRect">
            <a:avLst>
              <a:gd name="adj" fmla="val 50000"/>
            </a:avLst>
          </a:prstGeom>
          <a:solidFill>
            <a:srgbClr val="17304A"/>
          </a:solidFill>
          <a:ln w="9525">
            <a:solidFill>
              <a:srgbClr val="284966"/>
            </a:solidFill>
            <a:prstDash val="solid"/>
          </a:ln>
        </p:spPr>
        <p:txBody>
          <a:bodyPr wrap="square" lIns="76200" tIns="19050" rIns="76200" bIns="19050" anchor="ctr">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AARON</a:t>
            </a:r>
          </a:p>
        </p:txBody>
      </p:sp>
      <p:sp>
        <p:nvSpPr>
          <p:cNvPr id="2" name="slide-9-title">
            <a:extLst>
              <a:ext uri="{FF2B5EF4-FFF2-40B4-BE49-F238E27FC236}">
                <a16:creationId xmlns:a16="http://schemas.microsoft.com/office/drawing/2014/main" id="{706BED38-02AA-40F8-BA0C-7CF856E073F8}"/>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FFFFFF"/>
                </a:solidFill>
                <a:latin typeface="Lexend"/>
                <a:ea typeface="Lexend"/>
                <a:cs typeface="Lexend"/>
              </a:defRPr>
            </a:pPr>
            <a:r>
              <a:rPr sz="2550" b="1" i="0">
                <a:solidFill>
                  <a:srgbClr val="FFFFFF"/>
                </a:solidFill>
                <a:latin typeface="Lexend"/>
                <a:ea typeface="Lexend"/>
                <a:cs typeface="Lexend"/>
              </a:rPr>
              <a:t>Operator walkthrough: see and decide</a:t>
            </a:r>
          </a:p>
        </p:txBody>
      </p:sp>
      <p:sp>
        <p:nvSpPr>
          <p:cNvPr id="3" name="Rectangle 2">
            <a:extLst>
              <a:ext uri="{FF2B5EF4-FFF2-40B4-BE49-F238E27FC236}">
                <a16:creationId xmlns:a16="http://schemas.microsoft.com/office/drawing/2014/main" id="{927A3A86-781B-4BA8-9F72-21210B306A1A}"/>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A9B8CB"/>
                </a:solidFill>
                <a:latin typeface="Source Sans 3"/>
                <a:ea typeface="Source Sans 3"/>
                <a:cs typeface="Source Sans 3"/>
              </a:defRPr>
            </a:pPr>
            <a:r>
              <a:rPr sz="1350" b="0" i="0">
                <a:solidFill>
                  <a:srgbClr val="A9B8CB"/>
                </a:solidFill>
                <a:latin typeface="Source Sans 3"/>
                <a:ea typeface="Source Sans 3"/>
                <a:cs typeface="Source Sans 3"/>
              </a:rPr>
              <a:t>The primary operator moment</a:t>
            </a:r>
          </a:p>
        </p:txBody>
      </p:sp>
      <p:sp>
        <p:nvSpPr>
          <p:cNvPr id="5" name="Rectangle 4">
            <a:extLst>
              <a:ext uri="{FF2B5EF4-FFF2-40B4-BE49-F238E27FC236}">
                <a16:creationId xmlns:a16="http://schemas.microsoft.com/office/drawing/2014/main" id="{689C369D-58E2-4915-B636-604DCB59CF4A}"/>
              </a:ext>
            </a:extLst>
          </p:cNvPr>
          <p:cNvSpPr>
            <a:spLocks noGrp="1"/>
          </p:cNvSpPr>
          <p:nvPr/>
        </p:nvSpPr>
        <p:spPr>
          <a:xfrm>
            <a:off x="533400" y="1485900"/>
            <a:ext cx="7620000" cy="457200"/>
          </a:xfrm>
          <a:prstGeom prst="rect">
            <a:avLst/>
          </a:prstGeom>
          <a:noFill/>
          <a:ln w="0">
            <a:noFill/>
            <a:prstDash val="solid"/>
          </a:ln>
        </p:spPr>
        <p:txBody>
          <a:bodyPr wrap="square" lIns="0" tIns="0" rIns="0" bIns="0" anchor="t">
            <a:normAutofit/>
          </a:bodyPr>
          <a:lstStyle/>
          <a:p>
            <a:pPr algn="l">
              <a:defRPr sz="2325" b="1" i="0">
                <a:solidFill>
                  <a:srgbClr val="FFFFFF"/>
                </a:solidFill>
                <a:latin typeface="Lexend"/>
                <a:ea typeface="Lexend"/>
                <a:cs typeface="Lexend"/>
              </a:defRPr>
            </a:pPr>
            <a:r>
              <a:rPr sz="2325" b="1" i="0">
                <a:solidFill>
                  <a:srgbClr val="FFFFFF"/>
                </a:solidFill>
                <a:latin typeface="Lexend"/>
                <a:ea typeface="Lexend"/>
                <a:cs typeface="Lexend"/>
              </a:rPr>
              <a:t>Forecasts inform staff. Staff decide.</a:t>
            </a:r>
          </a:p>
        </p:txBody>
      </p:sp>
      <p:sp>
        <p:nvSpPr>
          <p:cNvPr id="6" name="Rounded Rectangle 5">
            <a:extLst>
              <a:ext uri="{FF2B5EF4-FFF2-40B4-BE49-F238E27FC236}">
                <a16:creationId xmlns:a16="http://schemas.microsoft.com/office/drawing/2014/main" id="{1D7157F2-AEF0-4E84-937D-2D4C05CCD579}"/>
              </a:ext>
            </a:extLst>
          </p:cNvPr>
          <p:cNvSpPr>
            <a:spLocks noGrp="1"/>
          </p:cNvSpPr>
          <p:nvPr/>
        </p:nvSpPr>
        <p:spPr>
          <a:xfrm>
            <a:off x="514350" y="2095500"/>
            <a:ext cx="11163300" cy="3752850"/>
          </a:xfrm>
          <a:prstGeom prst="roundRect">
            <a:avLst>
              <a:gd name="adj" fmla="val 5584"/>
            </a:avLst>
          </a:prstGeom>
          <a:solidFill>
            <a:srgbClr val="07101B"/>
          </a:solidFill>
          <a:ln w="19050">
            <a:solidFill>
              <a:srgbClr val="35516D"/>
            </a:solidFill>
            <a:prstDash val="solid"/>
          </a:ln>
        </p:spPr>
      </p:sp>
      <p:pic>
        <p:nvPicPr>
          <p:cNvPr id="19" name="Picture 18"/>
          <p:cNvPicPr>
            <a:picLocks noChangeAspect="1"/>
          </p:cNvPicPr>
          <p:nvPr/>
        </p:nvPicPr>
        <p:blipFill>
          <a:blip r:embed="rId3"/>
          <a:srcRect t="27663" b="27663"/>
          <a:stretch>
            <a:fillRect/>
          </a:stretch>
        </p:blipFill>
        <p:spPr>
          <a:xfrm>
            <a:off x="590550" y="2171700"/>
            <a:ext cx="11010900" cy="3600450"/>
          </a:xfrm>
          <a:prstGeom prst="roundRect">
            <a:avLst>
              <a:gd name="adj" fmla="val 4233"/>
            </a:avLst>
          </a:prstGeom>
        </p:spPr>
      </p:pic>
      <p:sp>
        <p:nvSpPr>
          <p:cNvPr id="8" name="Rounded Rectangle 7">
            <a:extLst>
              <a:ext uri="{FF2B5EF4-FFF2-40B4-BE49-F238E27FC236}">
                <a16:creationId xmlns:a16="http://schemas.microsoft.com/office/drawing/2014/main" id="{44AC3A1E-F9CE-45C2-913D-0D77FC3F0A59}"/>
              </a:ext>
            </a:extLst>
          </p:cNvPr>
          <p:cNvSpPr>
            <a:spLocks noGrp="1"/>
          </p:cNvSpPr>
          <p:nvPr/>
        </p:nvSpPr>
        <p:spPr>
          <a:xfrm>
            <a:off x="781050" y="2305050"/>
            <a:ext cx="1104900" cy="266700"/>
          </a:xfrm>
          <a:prstGeom prst="roundRect">
            <a:avLst>
              <a:gd name="adj" fmla="val 50000"/>
            </a:avLst>
          </a:prstGeom>
          <a:solidFill>
            <a:srgbClr val="17304A"/>
          </a:solidFill>
          <a:ln w="9525">
            <a:solidFill>
              <a:srgbClr val="315675"/>
            </a:solidFill>
            <a:prstDash val="solid"/>
          </a:ln>
        </p:spPr>
        <p:txBody>
          <a:bodyPr wrap="square" lIns="76200" tIns="19050" rIns="76200" bIns="19050" anchor="ctr">
            <a:normAutofit/>
          </a:bodyPr>
          <a:lstStyle/>
          <a:p>
            <a:pPr algn="ctr">
              <a:defRPr sz="900" b="1" i="0">
                <a:solidFill>
                  <a:srgbClr val="CFE0F5"/>
                </a:solidFill>
                <a:latin typeface="Lexend"/>
                <a:ea typeface="Lexend"/>
                <a:cs typeface="Lexend"/>
              </a:defRPr>
            </a:pPr>
            <a:r>
              <a:rPr sz="900" b="1" i="0">
                <a:solidFill>
                  <a:srgbClr val="CFE0F5"/>
                </a:solidFill>
                <a:latin typeface="Lexend"/>
                <a:ea typeface="Lexend"/>
                <a:cs typeface="Lexend"/>
              </a:rPr>
              <a:t>7-DAY VIEW</a:t>
            </a:r>
          </a:p>
        </p:txBody>
      </p:sp>
      <p:sp>
        <p:nvSpPr>
          <p:cNvPr id="9" name="Rounded Rectangle 8">
            <a:extLst>
              <a:ext uri="{FF2B5EF4-FFF2-40B4-BE49-F238E27FC236}">
                <a16:creationId xmlns:a16="http://schemas.microsoft.com/office/drawing/2014/main" id="{3A575116-C5F6-4E7B-8467-4FBAB9E375BF}"/>
              </a:ext>
            </a:extLst>
          </p:cNvPr>
          <p:cNvSpPr>
            <a:spLocks noGrp="1"/>
          </p:cNvSpPr>
          <p:nvPr/>
        </p:nvSpPr>
        <p:spPr>
          <a:xfrm>
            <a:off x="9753600" y="2305050"/>
            <a:ext cx="1466850" cy="266700"/>
          </a:xfrm>
          <a:prstGeom prst="roundRect">
            <a:avLst>
              <a:gd name="adj" fmla="val 50000"/>
            </a:avLst>
          </a:prstGeom>
          <a:solidFill>
            <a:srgbClr val="17304A"/>
          </a:solidFill>
          <a:ln w="9525">
            <a:solidFill>
              <a:srgbClr val="315675"/>
            </a:solidFill>
            <a:prstDash val="solid"/>
          </a:ln>
        </p:spPr>
        <p:txBody>
          <a:bodyPr wrap="square" lIns="76200" tIns="19050" rIns="76200" bIns="19050" anchor="ctr">
            <a:normAutofit/>
          </a:bodyPr>
          <a:lstStyle/>
          <a:p>
            <a:pPr algn="ctr">
              <a:defRPr sz="900" b="1" i="0">
                <a:solidFill>
                  <a:srgbClr val="CFE0F5"/>
                </a:solidFill>
                <a:latin typeface="Lexend"/>
                <a:ea typeface="Lexend"/>
                <a:cs typeface="Lexend"/>
              </a:defRPr>
            </a:pPr>
            <a:r>
              <a:rPr sz="900" b="1" i="0">
                <a:solidFill>
                  <a:srgbClr val="CFE0F5"/>
                </a:solidFill>
                <a:latin typeface="Lexend"/>
                <a:ea typeface="Lexend"/>
                <a:cs typeface="Lexend"/>
              </a:rPr>
              <a:t>FLEET CONTEXT</a:t>
            </a:r>
          </a:p>
        </p:txBody>
      </p:sp>
      <p:sp>
        <p:nvSpPr>
          <p:cNvPr id="10" name="Rounded Rectangle 9">
            <a:extLst>
              <a:ext uri="{FF2B5EF4-FFF2-40B4-BE49-F238E27FC236}">
                <a16:creationId xmlns:a16="http://schemas.microsoft.com/office/drawing/2014/main" id="{7E31604C-31D5-48D5-8627-B7770E0D4D9F}"/>
              </a:ext>
            </a:extLst>
          </p:cNvPr>
          <p:cNvSpPr>
            <a:spLocks noGrp="1"/>
          </p:cNvSpPr>
          <p:nvPr/>
        </p:nvSpPr>
        <p:spPr>
          <a:xfrm>
            <a:off x="8248650" y="5372100"/>
            <a:ext cx="2590800" cy="266700"/>
          </a:xfrm>
          <a:prstGeom prst="roundRect">
            <a:avLst>
              <a:gd name="adj" fmla="val 50000"/>
            </a:avLst>
          </a:prstGeom>
          <a:solidFill>
            <a:srgbClr val="113B31"/>
          </a:solidFill>
          <a:ln w="9525">
            <a:solidFill>
              <a:srgbClr val="2A6F5D"/>
            </a:solidFill>
            <a:prstDash val="solid"/>
          </a:ln>
        </p:spPr>
        <p:txBody>
          <a:bodyPr wrap="square" lIns="76200" tIns="19050" rIns="76200" bIns="19050" anchor="ctr">
            <a:normAutofit/>
          </a:bodyPr>
          <a:lstStyle/>
          <a:p>
            <a:pPr algn="ctr">
              <a:defRPr sz="900" b="1" i="0">
                <a:solidFill>
                  <a:srgbClr val="BCE9D9"/>
                </a:solidFill>
                <a:latin typeface="Lexend"/>
                <a:ea typeface="Lexend"/>
                <a:cs typeface="Lexend"/>
              </a:defRPr>
            </a:pPr>
            <a:r>
              <a:rPr sz="900" b="1" i="0">
                <a:solidFill>
                  <a:srgbClr val="BCE9D9"/>
                </a:solidFill>
                <a:latin typeface="Lexend"/>
                <a:ea typeface="Lexend"/>
                <a:cs typeface="Lexend"/>
              </a:rPr>
              <a:t>ACCEPT · MODIFY · REJECT</a:t>
            </a:r>
          </a:p>
        </p:txBody>
      </p:sp>
      <p:sp>
        <p:nvSpPr>
          <p:cNvPr id="11" name="Straight Connector 10">
            <a:extLst>
              <a:ext uri="{FF2B5EF4-FFF2-40B4-BE49-F238E27FC236}">
                <a16:creationId xmlns:a16="http://schemas.microsoft.com/office/drawing/2014/main" id="{34FE253B-8E87-4708-9D7E-6A265DC6CE2B}"/>
              </a:ext>
            </a:extLst>
          </p:cNvPr>
          <p:cNvSpPr>
            <a:spLocks noGrp="1"/>
          </p:cNvSpPr>
          <p:nvPr/>
        </p:nvSpPr>
        <p:spPr>
          <a:xfrm>
            <a:off x="533400" y="6477000"/>
            <a:ext cx="11125200" cy="0"/>
          </a:xfrm>
          <a:prstGeom prst="line">
            <a:avLst/>
          </a:prstGeom>
          <a:noFill/>
          <a:ln w="9525">
            <a:solidFill>
              <a:srgbClr val="2A4057"/>
            </a:solidFill>
            <a:prstDash val="solid"/>
          </a:ln>
        </p:spPr>
      </p:sp>
      <p:sp>
        <p:nvSpPr>
          <p:cNvPr id="12" name="Rectangle 11">
            <a:extLst>
              <a:ext uri="{FF2B5EF4-FFF2-40B4-BE49-F238E27FC236}">
                <a16:creationId xmlns:a16="http://schemas.microsoft.com/office/drawing/2014/main" id="{2E16A3F7-7341-42F5-91BA-A7284C70A234}"/>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8397AC"/>
                </a:solidFill>
                <a:latin typeface="Source Sans 3"/>
                <a:ea typeface="Source Sans 3"/>
                <a:cs typeface="Source Sans 3"/>
              </a:defRPr>
            </a:pPr>
            <a:r>
              <a:rPr sz="825" b="0" i="0">
                <a:solidFill>
                  <a:srgbClr val="8397AC"/>
                </a:solidFill>
                <a:latin typeface="Source Sans 3"/>
                <a:ea typeface="Source Sans 3"/>
                <a:cs typeface="Source Sans 3"/>
              </a:rPr>
              <a:t>Source: current TripSync repository build · Demo model / synthetic operational evidence · No completed field pilot</a:t>
            </a:r>
          </a:p>
        </p:txBody>
      </p:sp>
    </p:spTree>
    <p:extLst>
      <p:ext uri="{BB962C8B-B14F-4D97-AF65-F5344CB8AC3E}">
        <p14:creationId xmlns:p14="http://schemas.microsoft.com/office/powerpoint/2010/main" val="181405552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30" name="Rounded Rectangle 29">
            <a:extLst>
              <a:ext uri="{FF2B5EF4-FFF2-40B4-BE49-F238E27FC236}">
                <a16:creationId xmlns:a16="http://schemas.microsoft.com/office/drawing/2014/main" id="{F84A400C-D3B7-41AC-9E27-F15BD96C23BE}"/>
              </a:ext>
            </a:extLst>
          </p:cNvPr>
          <p:cNvSpPr>
            <a:spLocks noGrp="1"/>
          </p:cNvSpPr>
          <p:nvPr/>
        </p:nvSpPr>
        <p:spPr>
          <a:xfrm>
            <a:off x="533400" y="361950"/>
            <a:ext cx="1257300" cy="266700"/>
          </a:xfrm>
          <a:prstGeom prst="roundRect">
            <a:avLst>
              <a:gd name="adj" fmla="val 50000"/>
            </a:avLst>
          </a:prstGeom>
          <a:solidFill>
            <a:srgbClr val="17304A"/>
          </a:solidFill>
          <a:ln w="9525">
            <a:solidFill>
              <a:srgbClr val="284966"/>
            </a:solidFill>
            <a:prstDash val="solid"/>
          </a:ln>
        </p:spPr>
        <p:txBody>
          <a:bodyPr wrap="square" lIns="76200" tIns="19050" rIns="76200" bIns="19050" anchor="ctr">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AARON</a:t>
            </a:r>
          </a:p>
        </p:txBody>
      </p:sp>
      <p:sp>
        <p:nvSpPr>
          <p:cNvPr id="2" name="slide-10-title">
            <a:extLst>
              <a:ext uri="{FF2B5EF4-FFF2-40B4-BE49-F238E27FC236}">
                <a16:creationId xmlns:a16="http://schemas.microsoft.com/office/drawing/2014/main" id="{35EC28BE-FB40-4C8F-9845-432F57FD1D34}"/>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FFFFFF"/>
                </a:solidFill>
                <a:latin typeface="Lexend"/>
                <a:ea typeface="Lexend"/>
                <a:cs typeface="Lexend"/>
              </a:defRPr>
            </a:pPr>
            <a:r>
              <a:rPr sz="2550" b="1" i="0">
                <a:solidFill>
                  <a:srgbClr val="FFFFFF"/>
                </a:solidFill>
                <a:latin typeface="Lexend"/>
                <a:ea typeface="Lexend"/>
                <a:cs typeface="Lexend"/>
              </a:rPr>
              <a:t>Operator walkthrough: learn from outcomes</a:t>
            </a:r>
          </a:p>
        </p:txBody>
      </p:sp>
      <p:sp>
        <p:nvSpPr>
          <p:cNvPr id="3" name="Rectangle 2">
            <a:extLst>
              <a:ext uri="{FF2B5EF4-FFF2-40B4-BE49-F238E27FC236}">
                <a16:creationId xmlns:a16="http://schemas.microsoft.com/office/drawing/2014/main" id="{DF7EEEDD-B008-4511-AE34-088ADEDBCD69}"/>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A9B8CB"/>
                </a:solidFill>
                <a:latin typeface="Source Sans 3"/>
                <a:ea typeface="Source Sans 3"/>
                <a:cs typeface="Source Sans 3"/>
              </a:defRPr>
            </a:pPr>
            <a:r>
              <a:rPr sz="1350" b="0" i="0">
                <a:solidFill>
                  <a:srgbClr val="A9B8CB"/>
                </a:solidFill>
                <a:latin typeface="Source Sans 3"/>
                <a:ea typeface="Source Sans 3"/>
                <a:cs typeface="Source Sans 3"/>
              </a:rPr>
              <a:t>An editable evidence loop—without unsupported performance claims</a:t>
            </a:r>
          </a:p>
        </p:txBody>
      </p:sp>
      <p:sp>
        <p:nvSpPr>
          <p:cNvPr id="4" name="Rectangle 3">
            <a:extLst>
              <a:ext uri="{FF2B5EF4-FFF2-40B4-BE49-F238E27FC236}">
                <a16:creationId xmlns:a16="http://schemas.microsoft.com/office/drawing/2014/main" id="{3A2C7C57-900E-47DA-9916-F45091BD701A}"/>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7E94AB"/>
                </a:solidFill>
                <a:latin typeface="Lexend"/>
                <a:ea typeface="Lexend"/>
                <a:cs typeface="Lexend"/>
              </a:defRPr>
            </a:pPr>
            <a:endParaRPr sz="1125" b="1" i="0" dirty="0">
              <a:solidFill>
                <a:srgbClr val="7E94AB"/>
              </a:solidFill>
              <a:latin typeface="Lexend"/>
              <a:ea typeface="Lexend"/>
              <a:cs typeface="Lexend"/>
            </a:endParaRPr>
          </a:p>
        </p:txBody>
      </p:sp>
      <p:sp>
        <p:nvSpPr>
          <p:cNvPr id="5" name="Straight Connector 4">
            <a:extLst>
              <a:ext uri="{FF2B5EF4-FFF2-40B4-BE49-F238E27FC236}">
                <a16:creationId xmlns:a16="http://schemas.microsoft.com/office/drawing/2014/main" id="{7131ABF5-6317-4A17-9DFD-05A3C764DB48}"/>
              </a:ext>
            </a:extLst>
          </p:cNvPr>
          <p:cNvSpPr>
            <a:spLocks noGrp="1"/>
          </p:cNvSpPr>
          <p:nvPr/>
        </p:nvSpPr>
        <p:spPr>
          <a:xfrm>
            <a:off x="1828800" y="3171825"/>
            <a:ext cx="819150" cy="0"/>
          </a:xfrm>
          <a:prstGeom prst="line">
            <a:avLst/>
          </a:prstGeom>
          <a:noFill/>
          <a:ln w="28575">
            <a:solidFill>
              <a:srgbClr val="466782"/>
            </a:solidFill>
            <a:prstDash val="solid"/>
          </a:ln>
        </p:spPr>
      </p:sp>
      <p:sp>
        <p:nvSpPr>
          <p:cNvPr id="6" name="Straight Connector 5">
            <a:extLst>
              <a:ext uri="{FF2B5EF4-FFF2-40B4-BE49-F238E27FC236}">
                <a16:creationId xmlns:a16="http://schemas.microsoft.com/office/drawing/2014/main" id="{424EB28B-5E19-47D0-9076-D6250277F08D}"/>
              </a:ext>
            </a:extLst>
          </p:cNvPr>
          <p:cNvSpPr>
            <a:spLocks noGrp="1"/>
          </p:cNvSpPr>
          <p:nvPr/>
        </p:nvSpPr>
        <p:spPr>
          <a:xfrm>
            <a:off x="3905250" y="3171825"/>
            <a:ext cx="819150" cy="0"/>
          </a:xfrm>
          <a:prstGeom prst="line">
            <a:avLst/>
          </a:prstGeom>
          <a:noFill/>
          <a:ln w="28575">
            <a:solidFill>
              <a:srgbClr val="466782"/>
            </a:solidFill>
            <a:prstDash val="solid"/>
          </a:ln>
        </p:spPr>
      </p:sp>
      <p:sp>
        <p:nvSpPr>
          <p:cNvPr id="7" name="Straight Connector 6">
            <a:extLst>
              <a:ext uri="{FF2B5EF4-FFF2-40B4-BE49-F238E27FC236}">
                <a16:creationId xmlns:a16="http://schemas.microsoft.com/office/drawing/2014/main" id="{E79E061D-1EF8-450D-8D1B-781F934FAC0C}"/>
              </a:ext>
            </a:extLst>
          </p:cNvPr>
          <p:cNvSpPr>
            <a:spLocks noGrp="1"/>
          </p:cNvSpPr>
          <p:nvPr/>
        </p:nvSpPr>
        <p:spPr>
          <a:xfrm>
            <a:off x="5981700" y="3171825"/>
            <a:ext cx="819150" cy="0"/>
          </a:xfrm>
          <a:prstGeom prst="line">
            <a:avLst/>
          </a:prstGeom>
          <a:noFill/>
          <a:ln w="28575">
            <a:solidFill>
              <a:srgbClr val="466782"/>
            </a:solidFill>
            <a:prstDash val="solid"/>
          </a:ln>
        </p:spPr>
      </p:sp>
      <p:sp>
        <p:nvSpPr>
          <p:cNvPr id="8" name="Oval 7">
            <a:extLst>
              <a:ext uri="{FF2B5EF4-FFF2-40B4-BE49-F238E27FC236}">
                <a16:creationId xmlns:a16="http://schemas.microsoft.com/office/drawing/2014/main" id="{A726EC9E-C888-42C4-9F73-8AD5FD7162DB}"/>
              </a:ext>
            </a:extLst>
          </p:cNvPr>
          <p:cNvSpPr>
            <a:spLocks noGrp="1"/>
          </p:cNvSpPr>
          <p:nvPr/>
        </p:nvSpPr>
        <p:spPr>
          <a:xfrm>
            <a:off x="1200150" y="2533650"/>
            <a:ext cx="1257300" cy="1257300"/>
          </a:xfrm>
          <a:prstGeom prst="ellipse">
            <a:avLst/>
          </a:prstGeom>
          <a:solidFill>
            <a:srgbClr val="17304A"/>
          </a:solidFill>
          <a:ln w="19050">
            <a:solidFill>
              <a:srgbClr val="315675"/>
            </a:solidFill>
            <a:prstDash val="solid"/>
          </a:ln>
        </p:spPr>
      </p:sp>
      <p:sp>
        <p:nvSpPr>
          <p:cNvPr id="9" name="Rectangle 8">
            <a:extLst>
              <a:ext uri="{FF2B5EF4-FFF2-40B4-BE49-F238E27FC236}">
                <a16:creationId xmlns:a16="http://schemas.microsoft.com/office/drawing/2014/main" id="{21742C7C-118F-4A15-8FFF-D6FF2B4087CD}"/>
              </a:ext>
            </a:extLst>
          </p:cNvPr>
          <p:cNvSpPr>
            <a:spLocks noGrp="1"/>
          </p:cNvSpPr>
          <p:nvPr/>
        </p:nvSpPr>
        <p:spPr>
          <a:xfrm>
            <a:off x="1619250" y="2714625"/>
            <a:ext cx="419100" cy="228600"/>
          </a:xfrm>
          <a:prstGeom prst="rect">
            <a:avLst/>
          </a:prstGeom>
          <a:noFill/>
          <a:ln w="0">
            <a:noFill/>
            <a:prstDash val="solid"/>
          </a:ln>
        </p:spPr>
        <p:txBody>
          <a:bodyPr wrap="square" lIns="0" tIns="0" rIns="0" bIns="0" anchor="t">
            <a:normAutofit/>
          </a:bodyPr>
          <a:lstStyle/>
          <a:p>
            <a:pPr algn="ctr">
              <a:defRPr sz="1050" b="1" i="0">
                <a:solidFill>
                  <a:srgbClr val="9EC5FF"/>
                </a:solidFill>
                <a:latin typeface="Lexend"/>
                <a:ea typeface="Lexend"/>
                <a:cs typeface="Lexend"/>
              </a:defRPr>
            </a:pPr>
            <a:r>
              <a:rPr sz="1050" b="1" i="0">
                <a:solidFill>
                  <a:srgbClr val="9EC5FF"/>
                </a:solidFill>
                <a:latin typeface="Lexend"/>
                <a:ea typeface="Lexend"/>
                <a:cs typeface="Lexend"/>
              </a:rPr>
              <a:t>01</a:t>
            </a:r>
          </a:p>
        </p:txBody>
      </p:sp>
      <p:sp>
        <p:nvSpPr>
          <p:cNvPr id="10" name="Rectangle 9">
            <a:extLst>
              <a:ext uri="{FF2B5EF4-FFF2-40B4-BE49-F238E27FC236}">
                <a16:creationId xmlns:a16="http://schemas.microsoft.com/office/drawing/2014/main" id="{EDCF74B1-67AE-4DAF-8840-7C55B7492435}"/>
              </a:ext>
            </a:extLst>
          </p:cNvPr>
          <p:cNvSpPr>
            <a:spLocks noGrp="1"/>
          </p:cNvSpPr>
          <p:nvPr/>
        </p:nvSpPr>
        <p:spPr>
          <a:xfrm>
            <a:off x="1323975" y="3057525"/>
            <a:ext cx="1009650" cy="457200"/>
          </a:xfrm>
          <a:prstGeom prst="rect">
            <a:avLst/>
          </a:prstGeom>
          <a:noFill/>
          <a:ln w="0">
            <a:noFill/>
            <a:prstDash val="solid"/>
          </a:ln>
        </p:spPr>
        <p:txBody>
          <a:bodyPr wrap="square" lIns="0" tIns="0" rIns="0" bIns="0" anchor="ctr">
            <a:normAutofit/>
          </a:bodyPr>
          <a:lstStyle/>
          <a:p>
            <a:pPr algn="ctr">
              <a:defRPr sz="1275" b="1" i="0">
                <a:solidFill>
                  <a:srgbClr val="FFFFFF"/>
                </a:solidFill>
                <a:latin typeface="Lexend"/>
                <a:ea typeface="Lexend"/>
                <a:cs typeface="Lexend"/>
              </a:defRPr>
            </a:pPr>
            <a:r>
              <a:rPr sz="1275" b="1" i="0">
                <a:solidFill>
                  <a:srgbClr val="FFFFFF"/>
                </a:solidFill>
                <a:latin typeface="Lexend"/>
                <a:ea typeface="Lexend"/>
                <a:cs typeface="Lexend"/>
              </a:rPr>
              <a:t>Forecast snapshot</a:t>
            </a:r>
          </a:p>
        </p:txBody>
      </p:sp>
      <p:sp>
        <p:nvSpPr>
          <p:cNvPr id="11" name="Rectangle 10">
            <a:extLst>
              <a:ext uri="{FF2B5EF4-FFF2-40B4-BE49-F238E27FC236}">
                <a16:creationId xmlns:a16="http://schemas.microsoft.com/office/drawing/2014/main" id="{6BC011DD-A68A-4CD4-AA92-8D2A75B07DD1}"/>
              </a:ext>
            </a:extLst>
          </p:cNvPr>
          <p:cNvSpPr>
            <a:spLocks noGrp="1"/>
          </p:cNvSpPr>
          <p:nvPr/>
        </p:nvSpPr>
        <p:spPr>
          <a:xfrm>
            <a:off x="1152525" y="3981450"/>
            <a:ext cx="1352550" cy="400050"/>
          </a:xfrm>
          <a:prstGeom prst="rect">
            <a:avLst/>
          </a:prstGeom>
          <a:noFill/>
          <a:ln w="0">
            <a:noFill/>
            <a:prstDash val="solid"/>
          </a:ln>
        </p:spPr>
        <p:txBody>
          <a:bodyPr wrap="square" lIns="0" tIns="0" rIns="0" bIns="0" anchor="t">
            <a:normAutofit/>
          </a:bodyPr>
          <a:lstStyle/>
          <a:p>
            <a:pPr algn="ctr">
              <a:defRPr sz="1050" b="0" i="0">
                <a:solidFill>
                  <a:srgbClr val="9CB0C4"/>
                </a:solidFill>
                <a:latin typeface="Source Sans 3"/>
                <a:ea typeface="Source Sans 3"/>
                <a:cs typeface="Source Sans 3"/>
              </a:defRPr>
            </a:pPr>
            <a:r>
              <a:rPr sz="1050" b="0" i="0">
                <a:solidFill>
                  <a:srgbClr val="9CB0C4"/>
                </a:solidFill>
                <a:latin typeface="Source Sans 3"/>
                <a:ea typeface="Source Sans 3"/>
                <a:cs typeface="Source Sans 3"/>
              </a:rPr>
              <a:t>What the system showed</a:t>
            </a:r>
          </a:p>
        </p:txBody>
      </p:sp>
      <p:sp>
        <p:nvSpPr>
          <p:cNvPr id="12" name="Oval 11">
            <a:extLst>
              <a:ext uri="{FF2B5EF4-FFF2-40B4-BE49-F238E27FC236}">
                <a16:creationId xmlns:a16="http://schemas.microsoft.com/office/drawing/2014/main" id="{801ADA6B-E74A-4061-9108-149DD4425C51}"/>
              </a:ext>
            </a:extLst>
          </p:cNvPr>
          <p:cNvSpPr>
            <a:spLocks noGrp="1"/>
          </p:cNvSpPr>
          <p:nvPr/>
        </p:nvSpPr>
        <p:spPr>
          <a:xfrm>
            <a:off x="3276600" y="2533650"/>
            <a:ext cx="1257300" cy="1257300"/>
          </a:xfrm>
          <a:prstGeom prst="ellipse">
            <a:avLst/>
          </a:prstGeom>
          <a:solidFill>
            <a:srgbClr val="17304A"/>
          </a:solidFill>
          <a:ln w="19050">
            <a:solidFill>
              <a:srgbClr val="315675"/>
            </a:solidFill>
            <a:prstDash val="solid"/>
          </a:ln>
        </p:spPr>
      </p:sp>
      <p:sp>
        <p:nvSpPr>
          <p:cNvPr id="13" name="Rectangle 12">
            <a:extLst>
              <a:ext uri="{FF2B5EF4-FFF2-40B4-BE49-F238E27FC236}">
                <a16:creationId xmlns:a16="http://schemas.microsoft.com/office/drawing/2014/main" id="{B6350C8B-7964-4188-8FD4-57D1EC4B3C9B}"/>
              </a:ext>
            </a:extLst>
          </p:cNvPr>
          <p:cNvSpPr>
            <a:spLocks noGrp="1"/>
          </p:cNvSpPr>
          <p:nvPr/>
        </p:nvSpPr>
        <p:spPr>
          <a:xfrm>
            <a:off x="3695700" y="2714625"/>
            <a:ext cx="419100" cy="228600"/>
          </a:xfrm>
          <a:prstGeom prst="rect">
            <a:avLst/>
          </a:prstGeom>
          <a:noFill/>
          <a:ln w="0">
            <a:noFill/>
            <a:prstDash val="solid"/>
          </a:ln>
        </p:spPr>
        <p:txBody>
          <a:bodyPr wrap="square" lIns="0" tIns="0" rIns="0" bIns="0" anchor="t">
            <a:normAutofit/>
          </a:bodyPr>
          <a:lstStyle/>
          <a:p>
            <a:pPr algn="ctr">
              <a:defRPr sz="1050" b="1" i="0">
                <a:solidFill>
                  <a:srgbClr val="9EC5FF"/>
                </a:solidFill>
                <a:latin typeface="Lexend"/>
                <a:ea typeface="Lexend"/>
                <a:cs typeface="Lexend"/>
              </a:defRPr>
            </a:pPr>
            <a:r>
              <a:rPr sz="1050" b="1" i="0">
                <a:solidFill>
                  <a:srgbClr val="9EC5FF"/>
                </a:solidFill>
                <a:latin typeface="Lexend"/>
                <a:ea typeface="Lexend"/>
                <a:cs typeface="Lexend"/>
              </a:rPr>
              <a:t>02</a:t>
            </a:r>
          </a:p>
        </p:txBody>
      </p:sp>
      <p:sp>
        <p:nvSpPr>
          <p:cNvPr id="14" name="Rectangle 13">
            <a:extLst>
              <a:ext uri="{FF2B5EF4-FFF2-40B4-BE49-F238E27FC236}">
                <a16:creationId xmlns:a16="http://schemas.microsoft.com/office/drawing/2014/main" id="{42A63EEC-B238-4B1C-AB90-04FEAA8E1D3D}"/>
              </a:ext>
            </a:extLst>
          </p:cNvPr>
          <p:cNvSpPr>
            <a:spLocks noGrp="1"/>
          </p:cNvSpPr>
          <p:nvPr/>
        </p:nvSpPr>
        <p:spPr>
          <a:xfrm>
            <a:off x="3400425" y="3057525"/>
            <a:ext cx="1009650" cy="457200"/>
          </a:xfrm>
          <a:prstGeom prst="rect">
            <a:avLst/>
          </a:prstGeom>
          <a:noFill/>
          <a:ln w="0">
            <a:noFill/>
            <a:prstDash val="solid"/>
          </a:ln>
        </p:spPr>
        <p:txBody>
          <a:bodyPr wrap="square" lIns="0" tIns="0" rIns="0" bIns="0" anchor="ctr">
            <a:normAutofit/>
          </a:bodyPr>
          <a:lstStyle/>
          <a:p>
            <a:pPr algn="ctr">
              <a:defRPr sz="1275" b="1" i="0">
                <a:solidFill>
                  <a:srgbClr val="FFFFFF"/>
                </a:solidFill>
                <a:latin typeface="Lexend"/>
                <a:ea typeface="Lexend"/>
                <a:cs typeface="Lexend"/>
              </a:defRPr>
            </a:pPr>
            <a:r>
              <a:rPr sz="1275" b="1" i="0">
                <a:solidFill>
                  <a:srgbClr val="FFFFFF"/>
                </a:solidFill>
                <a:latin typeface="Lexend"/>
                <a:ea typeface="Lexend"/>
                <a:cs typeface="Lexend"/>
              </a:rPr>
              <a:t>Human action</a:t>
            </a:r>
          </a:p>
        </p:txBody>
      </p:sp>
      <p:sp>
        <p:nvSpPr>
          <p:cNvPr id="15" name="Rectangle 14">
            <a:extLst>
              <a:ext uri="{FF2B5EF4-FFF2-40B4-BE49-F238E27FC236}">
                <a16:creationId xmlns:a16="http://schemas.microsoft.com/office/drawing/2014/main" id="{7B34779A-C2AD-4B27-8458-6E54FA0704A5}"/>
              </a:ext>
            </a:extLst>
          </p:cNvPr>
          <p:cNvSpPr>
            <a:spLocks noGrp="1"/>
          </p:cNvSpPr>
          <p:nvPr/>
        </p:nvSpPr>
        <p:spPr>
          <a:xfrm>
            <a:off x="3228975" y="3981450"/>
            <a:ext cx="1352550" cy="400050"/>
          </a:xfrm>
          <a:prstGeom prst="rect">
            <a:avLst/>
          </a:prstGeom>
          <a:noFill/>
          <a:ln w="0">
            <a:noFill/>
            <a:prstDash val="solid"/>
          </a:ln>
        </p:spPr>
        <p:txBody>
          <a:bodyPr wrap="square" lIns="0" tIns="0" rIns="0" bIns="0" anchor="t">
            <a:normAutofit/>
          </a:bodyPr>
          <a:lstStyle/>
          <a:p>
            <a:pPr algn="ctr">
              <a:defRPr sz="1050" b="0" i="0">
                <a:solidFill>
                  <a:srgbClr val="9CB0C4"/>
                </a:solidFill>
                <a:latin typeface="Source Sans 3"/>
                <a:ea typeface="Source Sans 3"/>
                <a:cs typeface="Source Sans 3"/>
              </a:defRPr>
            </a:pPr>
            <a:r>
              <a:rPr sz="1050" b="0" i="0">
                <a:solidFill>
                  <a:srgbClr val="9CB0C4"/>
                </a:solidFill>
                <a:latin typeface="Source Sans 3"/>
                <a:ea typeface="Source Sans 3"/>
                <a:cs typeface="Source Sans 3"/>
              </a:rPr>
              <a:t>Accept, modify, or reject</a:t>
            </a:r>
          </a:p>
        </p:txBody>
      </p:sp>
      <p:sp>
        <p:nvSpPr>
          <p:cNvPr id="16" name="Oval 15">
            <a:extLst>
              <a:ext uri="{FF2B5EF4-FFF2-40B4-BE49-F238E27FC236}">
                <a16:creationId xmlns:a16="http://schemas.microsoft.com/office/drawing/2014/main" id="{F0092743-94B4-4D10-9805-B921AF05C1BC}"/>
              </a:ext>
            </a:extLst>
          </p:cNvPr>
          <p:cNvSpPr>
            <a:spLocks noGrp="1"/>
          </p:cNvSpPr>
          <p:nvPr/>
        </p:nvSpPr>
        <p:spPr>
          <a:xfrm>
            <a:off x="5353050" y="2533650"/>
            <a:ext cx="1257300" cy="1257300"/>
          </a:xfrm>
          <a:prstGeom prst="ellipse">
            <a:avLst/>
          </a:prstGeom>
          <a:solidFill>
            <a:srgbClr val="17304A"/>
          </a:solidFill>
          <a:ln w="19050">
            <a:solidFill>
              <a:srgbClr val="315675"/>
            </a:solidFill>
            <a:prstDash val="solid"/>
          </a:ln>
        </p:spPr>
      </p:sp>
      <p:sp>
        <p:nvSpPr>
          <p:cNvPr id="17" name="Rectangle 16">
            <a:extLst>
              <a:ext uri="{FF2B5EF4-FFF2-40B4-BE49-F238E27FC236}">
                <a16:creationId xmlns:a16="http://schemas.microsoft.com/office/drawing/2014/main" id="{F4275A25-51C2-422E-81D9-D06D936FAF69}"/>
              </a:ext>
            </a:extLst>
          </p:cNvPr>
          <p:cNvSpPr>
            <a:spLocks noGrp="1"/>
          </p:cNvSpPr>
          <p:nvPr/>
        </p:nvSpPr>
        <p:spPr>
          <a:xfrm>
            <a:off x="5772150" y="2714625"/>
            <a:ext cx="419100" cy="228600"/>
          </a:xfrm>
          <a:prstGeom prst="rect">
            <a:avLst/>
          </a:prstGeom>
          <a:noFill/>
          <a:ln w="0">
            <a:noFill/>
            <a:prstDash val="solid"/>
          </a:ln>
        </p:spPr>
        <p:txBody>
          <a:bodyPr wrap="square" lIns="0" tIns="0" rIns="0" bIns="0" anchor="t">
            <a:normAutofit/>
          </a:bodyPr>
          <a:lstStyle/>
          <a:p>
            <a:pPr algn="ctr">
              <a:defRPr sz="1050" b="1" i="0">
                <a:solidFill>
                  <a:srgbClr val="9EC5FF"/>
                </a:solidFill>
                <a:latin typeface="Lexend"/>
                <a:ea typeface="Lexend"/>
                <a:cs typeface="Lexend"/>
              </a:defRPr>
            </a:pPr>
            <a:r>
              <a:rPr sz="1050" b="1" i="0">
                <a:solidFill>
                  <a:srgbClr val="9EC5FF"/>
                </a:solidFill>
                <a:latin typeface="Lexend"/>
                <a:ea typeface="Lexend"/>
                <a:cs typeface="Lexend"/>
              </a:rPr>
              <a:t>03</a:t>
            </a:r>
          </a:p>
        </p:txBody>
      </p:sp>
      <p:sp>
        <p:nvSpPr>
          <p:cNvPr id="18" name="Rectangle 17">
            <a:extLst>
              <a:ext uri="{FF2B5EF4-FFF2-40B4-BE49-F238E27FC236}">
                <a16:creationId xmlns:a16="http://schemas.microsoft.com/office/drawing/2014/main" id="{7A15C183-2393-4593-8DD6-FEC0A084F450}"/>
              </a:ext>
            </a:extLst>
          </p:cNvPr>
          <p:cNvSpPr>
            <a:spLocks noGrp="1"/>
          </p:cNvSpPr>
          <p:nvPr/>
        </p:nvSpPr>
        <p:spPr>
          <a:xfrm>
            <a:off x="5476875" y="3057525"/>
            <a:ext cx="1009650" cy="457200"/>
          </a:xfrm>
          <a:prstGeom prst="rect">
            <a:avLst/>
          </a:prstGeom>
          <a:noFill/>
          <a:ln w="0">
            <a:noFill/>
            <a:prstDash val="solid"/>
          </a:ln>
        </p:spPr>
        <p:txBody>
          <a:bodyPr wrap="square" lIns="0" tIns="0" rIns="0" bIns="0" anchor="ctr">
            <a:normAutofit/>
          </a:bodyPr>
          <a:lstStyle/>
          <a:p>
            <a:pPr algn="ctr">
              <a:defRPr sz="1275" b="1" i="0">
                <a:solidFill>
                  <a:srgbClr val="FFFFFF"/>
                </a:solidFill>
                <a:latin typeface="Lexend"/>
                <a:ea typeface="Lexend"/>
                <a:cs typeface="Lexend"/>
              </a:defRPr>
            </a:pPr>
            <a:r>
              <a:rPr sz="1275" b="1" i="0">
                <a:solidFill>
                  <a:srgbClr val="FFFFFF"/>
                </a:solidFill>
                <a:latin typeface="Lexend"/>
                <a:ea typeface="Lexend"/>
                <a:cs typeface="Lexend"/>
              </a:rPr>
              <a:t>Operational outcome</a:t>
            </a:r>
          </a:p>
        </p:txBody>
      </p:sp>
      <p:sp>
        <p:nvSpPr>
          <p:cNvPr id="19" name="Rectangle 18">
            <a:extLst>
              <a:ext uri="{FF2B5EF4-FFF2-40B4-BE49-F238E27FC236}">
                <a16:creationId xmlns:a16="http://schemas.microsoft.com/office/drawing/2014/main" id="{4D067107-08F6-4F22-9692-9F34819E556B}"/>
              </a:ext>
            </a:extLst>
          </p:cNvPr>
          <p:cNvSpPr>
            <a:spLocks noGrp="1"/>
          </p:cNvSpPr>
          <p:nvPr/>
        </p:nvSpPr>
        <p:spPr>
          <a:xfrm>
            <a:off x="5305425" y="3981450"/>
            <a:ext cx="1352550" cy="400050"/>
          </a:xfrm>
          <a:prstGeom prst="rect">
            <a:avLst/>
          </a:prstGeom>
          <a:noFill/>
          <a:ln w="0">
            <a:noFill/>
            <a:prstDash val="solid"/>
          </a:ln>
        </p:spPr>
        <p:txBody>
          <a:bodyPr wrap="square" lIns="0" tIns="0" rIns="0" bIns="0" anchor="t">
            <a:normAutofit/>
          </a:bodyPr>
          <a:lstStyle/>
          <a:p>
            <a:pPr algn="ctr">
              <a:defRPr sz="1050" b="0" i="0">
                <a:solidFill>
                  <a:srgbClr val="9CB0C4"/>
                </a:solidFill>
                <a:latin typeface="Source Sans 3"/>
                <a:ea typeface="Source Sans 3"/>
                <a:cs typeface="Source Sans 3"/>
              </a:defRPr>
            </a:pPr>
            <a:r>
              <a:rPr sz="1050" b="0" i="0">
                <a:solidFill>
                  <a:srgbClr val="9CB0C4"/>
                </a:solidFill>
                <a:latin typeface="Source Sans 3"/>
                <a:ea typeface="Source Sans 3"/>
                <a:cs typeface="Source Sans 3"/>
              </a:rPr>
              <a:t>What actually happened</a:t>
            </a:r>
          </a:p>
        </p:txBody>
      </p:sp>
      <p:sp>
        <p:nvSpPr>
          <p:cNvPr id="20" name="Oval 19">
            <a:extLst>
              <a:ext uri="{FF2B5EF4-FFF2-40B4-BE49-F238E27FC236}">
                <a16:creationId xmlns:a16="http://schemas.microsoft.com/office/drawing/2014/main" id="{D66F3D4B-3BFE-4FF7-AFCD-B554274AB3F5}"/>
              </a:ext>
            </a:extLst>
          </p:cNvPr>
          <p:cNvSpPr>
            <a:spLocks noGrp="1"/>
          </p:cNvSpPr>
          <p:nvPr/>
        </p:nvSpPr>
        <p:spPr>
          <a:xfrm>
            <a:off x="7429500" y="2533650"/>
            <a:ext cx="1257300" cy="1257300"/>
          </a:xfrm>
          <a:prstGeom prst="ellipse">
            <a:avLst/>
          </a:prstGeom>
          <a:solidFill>
            <a:srgbClr val="113B31"/>
          </a:solidFill>
          <a:ln w="19050">
            <a:solidFill>
              <a:srgbClr val="2A6F5D"/>
            </a:solidFill>
            <a:prstDash val="solid"/>
          </a:ln>
        </p:spPr>
      </p:sp>
      <p:sp>
        <p:nvSpPr>
          <p:cNvPr id="21" name="Rectangle 20">
            <a:extLst>
              <a:ext uri="{FF2B5EF4-FFF2-40B4-BE49-F238E27FC236}">
                <a16:creationId xmlns:a16="http://schemas.microsoft.com/office/drawing/2014/main" id="{A5B06A55-5C0D-42A2-96BE-63AE0BC4C4AA}"/>
              </a:ext>
            </a:extLst>
          </p:cNvPr>
          <p:cNvSpPr>
            <a:spLocks noGrp="1"/>
          </p:cNvSpPr>
          <p:nvPr/>
        </p:nvSpPr>
        <p:spPr>
          <a:xfrm>
            <a:off x="7848600" y="2714625"/>
            <a:ext cx="419100" cy="228600"/>
          </a:xfrm>
          <a:prstGeom prst="rect">
            <a:avLst/>
          </a:prstGeom>
          <a:noFill/>
          <a:ln w="0">
            <a:noFill/>
            <a:prstDash val="solid"/>
          </a:ln>
        </p:spPr>
        <p:txBody>
          <a:bodyPr wrap="square" lIns="0" tIns="0" rIns="0" bIns="0" anchor="t">
            <a:normAutofit/>
          </a:bodyPr>
          <a:lstStyle/>
          <a:p>
            <a:pPr algn="ctr">
              <a:defRPr sz="1050" b="1" i="0">
                <a:solidFill>
                  <a:srgbClr val="7EE0BF"/>
                </a:solidFill>
                <a:latin typeface="Lexend"/>
                <a:ea typeface="Lexend"/>
                <a:cs typeface="Lexend"/>
              </a:defRPr>
            </a:pPr>
            <a:r>
              <a:rPr sz="1050" b="1" i="0">
                <a:solidFill>
                  <a:srgbClr val="7EE0BF"/>
                </a:solidFill>
                <a:latin typeface="Lexend"/>
                <a:ea typeface="Lexend"/>
                <a:cs typeface="Lexend"/>
              </a:rPr>
              <a:t>04</a:t>
            </a:r>
          </a:p>
        </p:txBody>
      </p:sp>
      <p:sp>
        <p:nvSpPr>
          <p:cNvPr id="22" name="Rectangle 21">
            <a:extLst>
              <a:ext uri="{FF2B5EF4-FFF2-40B4-BE49-F238E27FC236}">
                <a16:creationId xmlns:a16="http://schemas.microsoft.com/office/drawing/2014/main" id="{8C85CE1C-7C3B-4F7E-8135-ED5D84085D53}"/>
              </a:ext>
            </a:extLst>
          </p:cNvPr>
          <p:cNvSpPr>
            <a:spLocks noGrp="1"/>
          </p:cNvSpPr>
          <p:nvPr/>
        </p:nvSpPr>
        <p:spPr>
          <a:xfrm>
            <a:off x="7553325" y="3057525"/>
            <a:ext cx="1009650" cy="457200"/>
          </a:xfrm>
          <a:prstGeom prst="rect">
            <a:avLst/>
          </a:prstGeom>
          <a:noFill/>
          <a:ln w="0">
            <a:noFill/>
            <a:prstDash val="solid"/>
          </a:ln>
        </p:spPr>
        <p:txBody>
          <a:bodyPr wrap="square" lIns="0" tIns="0" rIns="0" bIns="0" anchor="ctr">
            <a:normAutofit/>
          </a:bodyPr>
          <a:lstStyle/>
          <a:p>
            <a:pPr algn="ctr">
              <a:defRPr sz="1275" b="1" i="0">
                <a:solidFill>
                  <a:srgbClr val="FFFFFF"/>
                </a:solidFill>
                <a:latin typeface="Lexend"/>
                <a:ea typeface="Lexend"/>
                <a:cs typeface="Lexend"/>
              </a:defRPr>
            </a:pPr>
            <a:r>
              <a:rPr sz="1275" b="1" i="0">
                <a:solidFill>
                  <a:srgbClr val="FFFFFF"/>
                </a:solidFill>
                <a:latin typeface="Lexend"/>
                <a:ea typeface="Lexend"/>
                <a:cs typeface="Lexend"/>
              </a:rPr>
              <a:t>Evidence gate</a:t>
            </a:r>
          </a:p>
        </p:txBody>
      </p:sp>
      <p:sp>
        <p:nvSpPr>
          <p:cNvPr id="23" name="Rectangle 22">
            <a:extLst>
              <a:ext uri="{FF2B5EF4-FFF2-40B4-BE49-F238E27FC236}">
                <a16:creationId xmlns:a16="http://schemas.microsoft.com/office/drawing/2014/main" id="{6ABF8783-AA26-43AE-BA82-7C1C2EF04E07}"/>
              </a:ext>
            </a:extLst>
          </p:cNvPr>
          <p:cNvSpPr>
            <a:spLocks noGrp="1"/>
          </p:cNvSpPr>
          <p:nvPr/>
        </p:nvSpPr>
        <p:spPr>
          <a:xfrm>
            <a:off x="7381875" y="3981450"/>
            <a:ext cx="1352550" cy="400050"/>
          </a:xfrm>
          <a:prstGeom prst="rect">
            <a:avLst/>
          </a:prstGeom>
          <a:noFill/>
          <a:ln w="0">
            <a:noFill/>
            <a:prstDash val="solid"/>
          </a:ln>
        </p:spPr>
        <p:txBody>
          <a:bodyPr wrap="square" lIns="0" tIns="0" rIns="0" bIns="0" anchor="t">
            <a:normAutofit/>
          </a:bodyPr>
          <a:lstStyle/>
          <a:p>
            <a:pPr algn="ctr">
              <a:defRPr sz="1050" b="0" i="0">
                <a:solidFill>
                  <a:srgbClr val="9CB0C4"/>
                </a:solidFill>
                <a:latin typeface="Source Sans 3"/>
                <a:ea typeface="Source Sans 3"/>
                <a:cs typeface="Source Sans 3"/>
              </a:defRPr>
            </a:pPr>
            <a:r>
              <a:rPr sz="1050" b="0" i="0">
                <a:solidFill>
                  <a:srgbClr val="9CB0C4"/>
                </a:solidFill>
                <a:latin typeface="Source Sans 3"/>
                <a:ea typeface="Source Sans 3"/>
                <a:cs typeface="Source Sans 3"/>
              </a:rPr>
              <a:t>Review before retraining</a:t>
            </a:r>
          </a:p>
        </p:txBody>
      </p:sp>
      <p:sp>
        <p:nvSpPr>
          <p:cNvPr id="24" name="Rectangle 23">
            <a:extLst>
              <a:ext uri="{FF2B5EF4-FFF2-40B4-BE49-F238E27FC236}">
                <a16:creationId xmlns:a16="http://schemas.microsoft.com/office/drawing/2014/main" id="{12C0198C-694A-4666-9B1B-02B07CC430F2}"/>
              </a:ext>
            </a:extLst>
          </p:cNvPr>
          <p:cNvSpPr>
            <a:spLocks noGrp="1"/>
          </p:cNvSpPr>
          <p:nvPr/>
        </p:nvSpPr>
        <p:spPr>
          <a:xfrm>
            <a:off x="971550" y="4743450"/>
            <a:ext cx="6934200" cy="419100"/>
          </a:xfrm>
          <a:prstGeom prst="rect">
            <a:avLst/>
          </a:prstGeom>
          <a:noFill/>
          <a:ln w="0">
            <a:noFill/>
            <a:prstDash val="solid"/>
          </a:ln>
        </p:spPr>
        <p:txBody>
          <a:bodyPr wrap="square" lIns="0" tIns="0" rIns="0" bIns="0" anchor="t">
            <a:normAutofit/>
          </a:bodyPr>
          <a:lstStyle/>
          <a:p>
            <a:pPr algn="ctr">
              <a:defRPr sz="1800" b="1" i="0">
                <a:solidFill>
                  <a:srgbClr val="FFFFFF"/>
                </a:solidFill>
                <a:latin typeface="Lexend"/>
                <a:ea typeface="Lexend"/>
                <a:cs typeface="Lexend"/>
              </a:defRPr>
            </a:pPr>
            <a:r>
              <a:rPr sz="1800" b="1" i="0">
                <a:solidFill>
                  <a:srgbClr val="FFFFFF"/>
                </a:solidFill>
                <a:latin typeface="Lexend"/>
                <a:ea typeface="Lexend"/>
                <a:cs typeface="Lexend"/>
              </a:rPr>
              <a:t>Evidence is captured first. Model changes remain gated.</a:t>
            </a:r>
          </a:p>
        </p:txBody>
      </p:sp>
      <p:sp>
        <p:nvSpPr>
          <p:cNvPr id="25" name="Rounded Rectangle 24">
            <a:extLst>
              <a:ext uri="{FF2B5EF4-FFF2-40B4-BE49-F238E27FC236}">
                <a16:creationId xmlns:a16="http://schemas.microsoft.com/office/drawing/2014/main" id="{4CAF3D13-7A3F-4B04-9597-8A0EE492D66B}"/>
              </a:ext>
            </a:extLst>
          </p:cNvPr>
          <p:cNvSpPr>
            <a:spLocks noGrp="1"/>
          </p:cNvSpPr>
          <p:nvPr/>
        </p:nvSpPr>
        <p:spPr>
          <a:xfrm>
            <a:off x="8572500" y="2000250"/>
            <a:ext cx="3086100" cy="3810000"/>
          </a:xfrm>
          <a:prstGeom prst="roundRect">
            <a:avLst>
              <a:gd name="adj" fmla="val 6790"/>
            </a:avLst>
          </a:prstGeom>
          <a:solidFill>
            <a:srgbClr val="07101B"/>
          </a:solidFill>
          <a:ln w="9525">
            <a:solidFill>
              <a:srgbClr val="35516D"/>
            </a:solidFill>
            <a:prstDash val="solid"/>
          </a:ln>
        </p:spPr>
      </p:sp>
      <p:pic>
        <p:nvPicPr>
          <p:cNvPr id="55" name="Picture 54"/>
          <p:cNvPicPr>
            <a:picLocks noChangeAspect="1"/>
          </p:cNvPicPr>
          <p:nvPr/>
        </p:nvPicPr>
        <p:blipFill>
          <a:blip r:embed="rId3"/>
          <a:srcRect l="7333" r="7333"/>
          <a:stretch>
            <a:fillRect/>
          </a:stretch>
        </p:blipFill>
        <p:spPr>
          <a:xfrm>
            <a:off x="8667750" y="2095500"/>
            <a:ext cx="2895600" cy="3619500"/>
          </a:xfrm>
          <a:prstGeom prst="roundRect">
            <a:avLst>
              <a:gd name="adj" fmla="val 5263"/>
            </a:avLst>
          </a:prstGeom>
        </p:spPr>
      </p:pic>
      <p:sp>
        <p:nvSpPr>
          <p:cNvPr id="27" name="Rounded Rectangle 26">
            <a:extLst>
              <a:ext uri="{FF2B5EF4-FFF2-40B4-BE49-F238E27FC236}">
                <a16:creationId xmlns:a16="http://schemas.microsoft.com/office/drawing/2014/main" id="{AC879F0A-2633-4E05-AFFB-161149BECC7C}"/>
              </a:ext>
            </a:extLst>
          </p:cNvPr>
          <p:cNvSpPr>
            <a:spLocks noGrp="1"/>
          </p:cNvSpPr>
          <p:nvPr/>
        </p:nvSpPr>
        <p:spPr>
          <a:xfrm>
            <a:off x="9048750" y="5410200"/>
            <a:ext cx="2114550" cy="266700"/>
          </a:xfrm>
          <a:prstGeom prst="roundRect">
            <a:avLst>
              <a:gd name="adj" fmla="val 50000"/>
            </a:avLst>
          </a:prstGeom>
          <a:solidFill>
            <a:srgbClr val="17304A"/>
          </a:solidFill>
          <a:ln w="9525">
            <a:solidFill>
              <a:srgbClr val="315675"/>
            </a:solidFill>
            <a:prstDash val="solid"/>
          </a:ln>
        </p:spPr>
        <p:txBody>
          <a:bodyPr wrap="square" lIns="76200" tIns="19050" rIns="76200" bIns="19050" anchor="ctr">
            <a:normAutofit/>
          </a:bodyPr>
          <a:lstStyle/>
          <a:p>
            <a:pPr algn="ctr">
              <a:defRPr sz="900" b="1" i="0">
                <a:solidFill>
                  <a:srgbClr val="CFE0F5"/>
                </a:solidFill>
                <a:latin typeface="Lexend"/>
                <a:ea typeface="Lexend"/>
                <a:cs typeface="Lexend"/>
              </a:defRPr>
            </a:pPr>
            <a:r>
              <a:rPr sz="900" b="1" i="0">
                <a:solidFill>
                  <a:srgbClr val="CFE0F5"/>
                </a:solidFill>
                <a:latin typeface="Lexend"/>
                <a:ea typeface="Lexend"/>
                <a:cs typeface="Lexend"/>
              </a:rPr>
              <a:t>QUEUE / EVIDENCE VIEW</a:t>
            </a:r>
          </a:p>
        </p:txBody>
      </p:sp>
      <p:sp>
        <p:nvSpPr>
          <p:cNvPr id="28" name="Straight Connector 27">
            <a:extLst>
              <a:ext uri="{FF2B5EF4-FFF2-40B4-BE49-F238E27FC236}">
                <a16:creationId xmlns:a16="http://schemas.microsoft.com/office/drawing/2014/main" id="{4E143648-A8E7-4678-8223-8B2BE4A9EDE6}"/>
              </a:ext>
            </a:extLst>
          </p:cNvPr>
          <p:cNvSpPr>
            <a:spLocks noGrp="1"/>
          </p:cNvSpPr>
          <p:nvPr/>
        </p:nvSpPr>
        <p:spPr>
          <a:xfrm>
            <a:off x="533400" y="6477000"/>
            <a:ext cx="11125200" cy="0"/>
          </a:xfrm>
          <a:prstGeom prst="line">
            <a:avLst/>
          </a:prstGeom>
          <a:noFill/>
          <a:ln w="9525">
            <a:solidFill>
              <a:srgbClr val="2A4057"/>
            </a:solidFill>
            <a:prstDash val="solid"/>
          </a:ln>
        </p:spPr>
      </p:sp>
      <p:sp>
        <p:nvSpPr>
          <p:cNvPr id="29" name="Rectangle 28">
            <a:extLst>
              <a:ext uri="{FF2B5EF4-FFF2-40B4-BE49-F238E27FC236}">
                <a16:creationId xmlns:a16="http://schemas.microsoft.com/office/drawing/2014/main" id="{21257513-A6FF-4376-8D4D-3DAD95719CEC}"/>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8397AC"/>
                </a:solidFill>
                <a:latin typeface="Source Sans 3"/>
                <a:ea typeface="Source Sans 3"/>
                <a:cs typeface="Source Sans 3"/>
              </a:defRPr>
            </a:pPr>
            <a:r>
              <a:rPr sz="825" b="0" i="0">
                <a:solidFill>
                  <a:srgbClr val="8397AC"/>
                </a:solidFill>
                <a:latin typeface="Source Sans 3"/>
                <a:ea typeface="Source Sans 3"/>
                <a:cs typeface="Source Sans 3"/>
              </a:rPr>
              <a:t>Source: TripSync business plan and current prototype · Planned evidence loop · No performance claim</a:t>
            </a:r>
          </a:p>
        </p:txBody>
      </p:sp>
    </p:spTree>
    <p:extLst>
      <p:ext uri="{BB962C8B-B14F-4D97-AF65-F5344CB8AC3E}">
        <p14:creationId xmlns:p14="http://schemas.microsoft.com/office/powerpoint/2010/main" val="1827228882"/>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B8FABCB9-2B47-4654-8C7F-B7B577D2690C}"/>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ANA</a:t>
            </a:r>
          </a:p>
        </p:txBody>
      </p:sp>
      <p:sp>
        <p:nvSpPr>
          <p:cNvPr id="2" name="slide-11-title">
            <a:extLst>
              <a:ext uri="{FF2B5EF4-FFF2-40B4-BE49-F238E27FC236}">
                <a16:creationId xmlns:a16="http://schemas.microsoft.com/office/drawing/2014/main" id="{7EBF9B45-3947-4010-84DF-4A5FD9E31B35}"/>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Cost and benefit</a:t>
            </a:r>
          </a:p>
        </p:txBody>
      </p:sp>
      <p:sp>
        <p:nvSpPr>
          <p:cNvPr id="3" name="Rectangle 2">
            <a:extLst>
              <a:ext uri="{FF2B5EF4-FFF2-40B4-BE49-F238E27FC236}">
                <a16:creationId xmlns:a16="http://schemas.microsoft.com/office/drawing/2014/main" id="{5966F6FE-B827-454B-9A17-E519FBC3D326}"/>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A concise decision view—not a dense financial table.</a:t>
            </a:r>
          </a:p>
        </p:txBody>
      </p:sp>
      <p:sp>
        <p:nvSpPr>
          <p:cNvPr id="4" name="Rectangle 3">
            <a:extLst>
              <a:ext uri="{FF2B5EF4-FFF2-40B4-BE49-F238E27FC236}">
                <a16:creationId xmlns:a16="http://schemas.microsoft.com/office/drawing/2014/main" id="{CC3FC623-8F3D-4BF0-B99B-9874D636A561}"/>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endParaRPr sz="1125" b="1" i="0" dirty="0">
              <a:solidFill>
                <a:srgbClr val="8C98A8"/>
              </a:solidFill>
              <a:latin typeface="Lexend"/>
              <a:ea typeface="Lexend"/>
              <a:cs typeface="Lexend"/>
            </a:endParaRPr>
          </a:p>
        </p:txBody>
      </p:sp>
      <p:sp>
        <p:nvSpPr>
          <p:cNvPr id="5" name="Rounded Rectangle 4">
            <a:extLst>
              <a:ext uri="{FF2B5EF4-FFF2-40B4-BE49-F238E27FC236}">
                <a16:creationId xmlns:a16="http://schemas.microsoft.com/office/drawing/2014/main" id="{9768EC5B-8C89-44D3-AD8C-85969CF16744}"/>
              </a:ext>
            </a:extLst>
          </p:cNvPr>
          <p:cNvSpPr>
            <a:spLocks noGrp="1"/>
          </p:cNvSpPr>
          <p:nvPr/>
        </p:nvSpPr>
        <p:spPr>
          <a:xfrm>
            <a:off x="533400" y="1962150"/>
            <a:ext cx="4972050" cy="3371850"/>
          </a:xfrm>
          <a:prstGeom prst="roundRect">
            <a:avLst>
              <a:gd name="adj" fmla="val 6780"/>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6" name="Rounded Rectangle 5">
            <a:extLst>
              <a:ext uri="{FF2B5EF4-FFF2-40B4-BE49-F238E27FC236}">
                <a16:creationId xmlns:a16="http://schemas.microsoft.com/office/drawing/2014/main" id="{E20DA096-A7C1-422E-B136-8FD04BE4B95E}"/>
              </a:ext>
            </a:extLst>
          </p:cNvPr>
          <p:cNvSpPr>
            <a:spLocks noGrp="1"/>
          </p:cNvSpPr>
          <p:nvPr/>
        </p:nvSpPr>
        <p:spPr>
          <a:xfrm>
            <a:off x="781050" y="2190750"/>
            <a:ext cx="18859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IMPLEMENTATION COST</a:t>
            </a:r>
          </a:p>
        </p:txBody>
      </p:sp>
      <p:sp>
        <p:nvSpPr>
          <p:cNvPr id="7" name="Rectangle 6">
            <a:extLst>
              <a:ext uri="{FF2B5EF4-FFF2-40B4-BE49-F238E27FC236}">
                <a16:creationId xmlns:a16="http://schemas.microsoft.com/office/drawing/2014/main" id="{E6E3F238-8C68-40C2-82AF-2874A1F02D11}"/>
              </a:ext>
            </a:extLst>
          </p:cNvPr>
          <p:cNvSpPr>
            <a:spLocks noGrp="1"/>
          </p:cNvSpPr>
          <p:nvPr/>
        </p:nvSpPr>
        <p:spPr>
          <a:xfrm>
            <a:off x="781050" y="2771775"/>
            <a:ext cx="4229100" cy="781050"/>
          </a:xfrm>
          <a:prstGeom prst="rect">
            <a:avLst/>
          </a:prstGeom>
          <a:noFill/>
          <a:ln w="0">
            <a:noFill/>
            <a:prstDash val="solid"/>
          </a:ln>
        </p:spPr>
        <p:txBody>
          <a:bodyPr wrap="square" lIns="0" tIns="0" rIns="0" bIns="0" anchor="ctr">
            <a:normAutofit/>
          </a:bodyPr>
          <a:lstStyle/>
          <a:p>
            <a:pPr algn="ctr">
              <a:defRPr sz="3750" b="1" i="0">
                <a:solidFill>
                  <a:srgbClr val="132238"/>
                </a:solidFill>
                <a:latin typeface="Lexend"/>
                <a:ea typeface="Lexend"/>
                <a:cs typeface="Lexend"/>
              </a:defRPr>
            </a:pPr>
            <a:r>
              <a:rPr sz="3750" b="1" i="0">
                <a:solidFill>
                  <a:srgbClr val="132238"/>
                </a:solidFill>
                <a:latin typeface="Lexend"/>
                <a:ea typeface="Lexend"/>
                <a:cs typeface="Lexend"/>
              </a:rPr>
              <a:t>₱ [ INSERT ]</a:t>
            </a:r>
          </a:p>
        </p:txBody>
      </p:sp>
      <p:sp>
        <p:nvSpPr>
          <p:cNvPr id="8" name="Rectangle 7">
            <a:extLst>
              <a:ext uri="{FF2B5EF4-FFF2-40B4-BE49-F238E27FC236}">
                <a16:creationId xmlns:a16="http://schemas.microsoft.com/office/drawing/2014/main" id="{00261467-0402-403A-9968-ED653948D43A}"/>
              </a:ext>
            </a:extLst>
          </p:cNvPr>
          <p:cNvSpPr>
            <a:spLocks noGrp="1"/>
          </p:cNvSpPr>
          <p:nvPr/>
        </p:nvSpPr>
        <p:spPr>
          <a:xfrm>
            <a:off x="933450" y="3714750"/>
            <a:ext cx="3905250" cy="266700"/>
          </a:xfrm>
          <a:prstGeom prst="rect">
            <a:avLst/>
          </a:prstGeom>
          <a:noFill/>
          <a:ln w="0">
            <a:noFill/>
            <a:prstDash val="solid"/>
          </a:ln>
        </p:spPr>
        <p:txBody>
          <a:bodyPr wrap="square" lIns="0" tIns="0" rIns="0" bIns="0" anchor="t">
            <a:normAutofit/>
          </a:bodyPr>
          <a:lstStyle/>
          <a:p>
            <a:pPr algn="ctr">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Financial period: [ INSERT ]</a:t>
            </a:r>
          </a:p>
        </p:txBody>
      </p:sp>
      <p:sp>
        <p:nvSpPr>
          <p:cNvPr id="9" name="Rectangle 8">
            <a:extLst>
              <a:ext uri="{FF2B5EF4-FFF2-40B4-BE49-F238E27FC236}">
                <a16:creationId xmlns:a16="http://schemas.microsoft.com/office/drawing/2014/main" id="{B4DCECC1-B82C-4979-9381-27DA09E26471}"/>
              </a:ext>
            </a:extLst>
          </p:cNvPr>
          <p:cNvSpPr>
            <a:spLocks noGrp="1"/>
          </p:cNvSpPr>
          <p:nvPr/>
        </p:nvSpPr>
        <p:spPr>
          <a:xfrm>
            <a:off x="933450" y="4143375"/>
            <a:ext cx="3905250" cy="266700"/>
          </a:xfrm>
          <a:prstGeom prst="rect">
            <a:avLst/>
          </a:prstGeom>
          <a:noFill/>
          <a:ln w="0">
            <a:noFill/>
            <a:prstDash val="solid"/>
          </a:ln>
        </p:spPr>
        <p:txBody>
          <a:bodyPr wrap="square" lIns="0" tIns="0" rIns="0" bIns="0" anchor="t">
            <a:normAutofit/>
          </a:bodyPr>
          <a:lstStyle/>
          <a:p>
            <a:pPr algn="ctr">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Key assumptions: [ INSERT ]</a:t>
            </a:r>
          </a:p>
        </p:txBody>
      </p:sp>
      <p:sp>
        <p:nvSpPr>
          <p:cNvPr id="10" name="Rounded Rectangle 9">
            <a:extLst>
              <a:ext uri="{FF2B5EF4-FFF2-40B4-BE49-F238E27FC236}">
                <a16:creationId xmlns:a16="http://schemas.microsoft.com/office/drawing/2014/main" id="{2B6A0401-3872-40BD-9A27-D4D77D82CACA}"/>
              </a:ext>
            </a:extLst>
          </p:cNvPr>
          <p:cNvSpPr>
            <a:spLocks noGrp="1"/>
          </p:cNvSpPr>
          <p:nvPr/>
        </p:nvSpPr>
        <p:spPr>
          <a:xfrm>
            <a:off x="6153150" y="1962150"/>
            <a:ext cx="5505450" cy="3371850"/>
          </a:xfrm>
          <a:prstGeom prst="roundRect">
            <a:avLst>
              <a:gd name="adj" fmla="val 6780"/>
            </a:avLst>
          </a:prstGeom>
          <a:solidFill>
            <a:srgbClr val="E8F6F1"/>
          </a:solidFill>
          <a:ln w="9525">
            <a:solidFill>
              <a:srgbClr val="A7E0CC"/>
            </a:solidFill>
            <a:prstDash val="solid"/>
          </a:ln>
        </p:spPr>
      </p:sp>
      <p:sp>
        <p:nvSpPr>
          <p:cNvPr id="11" name="Rounded Rectangle 10">
            <a:extLst>
              <a:ext uri="{FF2B5EF4-FFF2-40B4-BE49-F238E27FC236}">
                <a16:creationId xmlns:a16="http://schemas.microsoft.com/office/drawing/2014/main" id="{ADE9B0F1-9839-40FE-BEEF-F019B35FEB59}"/>
              </a:ext>
            </a:extLst>
          </p:cNvPr>
          <p:cNvSpPr>
            <a:spLocks noGrp="1"/>
          </p:cNvSpPr>
          <p:nvPr/>
        </p:nvSpPr>
        <p:spPr>
          <a:xfrm>
            <a:off x="6400800" y="2190750"/>
            <a:ext cx="1600200" cy="266700"/>
          </a:xfrm>
          <a:prstGeom prst="roundRect">
            <a:avLst>
              <a:gd name="adj" fmla="val 50000"/>
            </a:avLst>
          </a:prstGeom>
          <a:solidFill>
            <a:srgbClr val="D9F3E8"/>
          </a:solidFill>
          <a:ln w="9525">
            <a:solidFill>
              <a:srgbClr val="A7E0CC"/>
            </a:solidFill>
            <a:prstDash val="solid"/>
          </a:ln>
        </p:spPr>
        <p:txBody>
          <a:bodyPr wrap="square" lIns="76200" tIns="19050" rIns="76200" bIns="19050" anchor="ctr">
            <a:normAutofit/>
          </a:bodyPr>
          <a:lstStyle/>
          <a:p>
            <a:pPr algn="ctr">
              <a:defRPr sz="900" b="1" i="0">
                <a:solidFill>
                  <a:srgbClr val="087A55"/>
                </a:solidFill>
                <a:latin typeface="Lexend"/>
                <a:ea typeface="Lexend"/>
                <a:cs typeface="Lexend"/>
              </a:defRPr>
            </a:pPr>
            <a:r>
              <a:rPr sz="900" b="1" i="0">
                <a:solidFill>
                  <a:srgbClr val="087A55"/>
                </a:solidFill>
                <a:latin typeface="Lexend"/>
                <a:ea typeface="Lexend"/>
                <a:cs typeface="Lexend"/>
              </a:rPr>
              <a:t>OPERATOR VALUE</a:t>
            </a:r>
          </a:p>
        </p:txBody>
      </p:sp>
      <p:sp>
        <p:nvSpPr>
          <p:cNvPr id="12" name="Rectangle 11">
            <a:extLst>
              <a:ext uri="{FF2B5EF4-FFF2-40B4-BE49-F238E27FC236}">
                <a16:creationId xmlns:a16="http://schemas.microsoft.com/office/drawing/2014/main" id="{6D82A8D2-D8B8-49DB-B1E3-6BD8B8B19440}"/>
              </a:ext>
            </a:extLst>
          </p:cNvPr>
          <p:cNvSpPr>
            <a:spLocks noGrp="1"/>
          </p:cNvSpPr>
          <p:nvPr/>
        </p:nvSpPr>
        <p:spPr>
          <a:xfrm>
            <a:off x="6534150" y="2857500"/>
            <a:ext cx="4743450" cy="590550"/>
          </a:xfrm>
          <a:prstGeom prst="rect">
            <a:avLst/>
          </a:prstGeom>
          <a:noFill/>
          <a:ln w="0">
            <a:noFill/>
            <a:prstDash val="solid"/>
          </a:ln>
        </p:spPr>
        <p:txBody>
          <a:bodyPr wrap="square" lIns="0" tIns="0" rIns="0" bIns="0" anchor="ctr">
            <a:normAutofit/>
          </a:bodyPr>
          <a:lstStyle/>
          <a:p>
            <a:pPr algn="ctr">
              <a:defRPr sz="2250" b="1" i="0">
                <a:solidFill>
                  <a:srgbClr val="087A55"/>
                </a:solidFill>
                <a:latin typeface="Lexend"/>
                <a:ea typeface="Lexend"/>
                <a:cs typeface="Lexend"/>
              </a:defRPr>
            </a:pPr>
            <a:r>
              <a:rPr sz="2250" b="1" i="0">
                <a:solidFill>
                  <a:srgbClr val="087A55"/>
                </a:solidFill>
                <a:latin typeface="Lexend"/>
                <a:ea typeface="Lexend"/>
                <a:cs typeface="Lexend"/>
              </a:rPr>
              <a:t>[ ONE VERIFIED BENEFIT ]</a:t>
            </a:r>
          </a:p>
        </p:txBody>
      </p:sp>
      <p:sp>
        <p:nvSpPr>
          <p:cNvPr id="13" name="Rectangle 12">
            <a:extLst>
              <a:ext uri="{FF2B5EF4-FFF2-40B4-BE49-F238E27FC236}">
                <a16:creationId xmlns:a16="http://schemas.microsoft.com/office/drawing/2014/main" id="{DE94DB63-CDF7-4596-8CF8-44A446C60C9D}"/>
              </a:ext>
            </a:extLst>
          </p:cNvPr>
          <p:cNvSpPr>
            <a:spLocks noGrp="1"/>
          </p:cNvSpPr>
          <p:nvPr/>
        </p:nvSpPr>
        <p:spPr>
          <a:xfrm>
            <a:off x="6819900" y="3733800"/>
            <a:ext cx="4171950" cy="552450"/>
          </a:xfrm>
          <a:prstGeom prst="rect">
            <a:avLst/>
          </a:prstGeom>
          <a:noFill/>
          <a:ln w="0">
            <a:noFill/>
            <a:prstDash val="solid"/>
          </a:ln>
        </p:spPr>
        <p:txBody>
          <a:bodyPr wrap="square" lIns="0" tIns="0" rIns="0" bIns="0" anchor="t">
            <a:normAutofit/>
          </a:bodyPr>
          <a:lstStyle/>
          <a:p>
            <a:pPr algn="ctr">
              <a:defRPr sz="1425" b="0" i="0">
                <a:solidFill>
                  <a:srgbClr val="37695A"/>
                </a:solidFill>
                <a:latin typeface="Source Sans 3"/>
                <a:ea typeface="Source Sans 3"/>
                <a:cs typeface="Source Sans 3"/>
              </a:defRPr>
            </a:pPr>
            <a:r>
              <a:rPr sz="1425" b="0" i="0">
                <a:solidFill>
                  <a:srgbClr val="37695A"/>
                </a:solidFill>
                <a:latin typeface="Source Sans 3"/>
                <a:ea typeface="Source Sans 3"/>
                <a:cs typeface="Source Sans 3"/>
              </a:rPr>
              <a:t>Define the unit, time period, and comparison baseline.</a:t>
            </a:r>
          </a:p>
        </p:txBody>
      </p:sp>
      <p:sp>
        <p:nvSpPr>
          <p:cNvPr id="14" name="Rectangle 13">
            <a:extLst>
              <a:ext uri="{FF2B5EF4-FFF2-40B4-BE49-F238E27FC236}">
                <a16:creationId xmlns:a16="http://schemas.microsoft.com/office/drawing/2014/main" id="{227EDC25-2EE1-4C4B-8C40-132C30ABA364}"/>
              </a:ext>
            </a:extLst>
          </p:cNvPr>
          <p:cNvSpPr>
            <a:spLocks noGrp="1"/>
          </p:cNvSpPr>
          <p:nvPr/>
        </p:nvSpPr>
        <p:spPr>
          <a:xfrm>
            <a:off x="7086600" y="4629150"/>
            <a:ext cx="3638550" cy="266700"/>
          </a:xfrm>
          <a:prstGeom prst="rect">
            <a:avLst/>
          </a:prstGeom>
          <a:noFill/>
          <a:ln w="0">
            <a:noFill/>
            <a:prstDash val="solid"/>
          </a:ln>
        </p:spPr>
        <p:txBody>
          <a:bodyPr wrap="square" lIns="0" tIns="0" rIns="0" bIns="0" anchor="t">
            <a:normAutofit/>
          </a:bodyPr>
          <a:lstStyle/>
          <a:p>
            <a:pPr algn="ctr">
              <a:defRPr sz="1200" b="0" i="0">
                <a:solidFill>
                  <a:srgbClr val="558174"/>
                </a:solidFill>
                <a:latin typeface="Source Sans 3"/>
                <a:ea typeface="Source Sans 3"/>
                <a:cs typeface="Source Sans 3"/>
              </a:defRPr>
            </a:pPr>
            <a:r>
              <a:rPr sz="1200" b="0" i="0">
                <a:solidFill>
                  <a:srgbClr val="558174"/>
                </a:solidFill>
                <a:latin typeface="Source Sans 3"/>
                <a:ea typeface="Source Sans 3"/>
                <a:cs typeface="Source Sans 3"/>
              </a:rPr>
              <a:t>Source: [ INSERT ]</a:t>
            </a:r>
          </a:p>
        </p:txBody>
      </p:sp>
      <p:sp>
        <p:nvSpPr>
          <p:cNvPr id="15" name="Rounded Rectangle 14">
            <a:extLst>
              <a:ext uri="{FF2B5EF4-FFF2-40B4-BE49-F238E27FC236}">
                <a16:creationId xmlns:a16="http://schemas.microsoft.com/office/drawing/2014/main" id="{9362E267-BFA2-4095-A03D-406BA990A4D9}"/>
              </a:ext>
            </a:extLst>
          </p:cNvPr>
          <p:cNvSpPr>
            <a:spLocks noGrp="1"/>
          </p:cNvSpPr>
          <p:nvPr/>
        </p:nvSpPr>
        <p:spPr>
          <a:xfrm>
            <a:off x="3257550" y="5562600"/>
            <a:ext cx="5676900" cy="571500"/>
          </a:xfrm>
          <a:prstGeom prst="roundRect">
            <a:avLst>
              <a:gd name="adj" fmla="val 26667"/>
            </a:avLst>
          </a:prstGeom>
          <a:solidFill>
            <a:srgbClr val="FFF7ED"/>
          </a:solidFill>
          <a:ln w="9525">
            <a:solidFill>
              <a:srgbClr val="FDBA74"/>
            </a:solidFill>
            <a:prstDash val="solid"/>
          </a:ln>
        </p:spPr>
      </p:sp>
      <p:sp>
        <p:nvSpPr>
          <p:cNvPr id="16" name="Rounded Rectangle 15">
            <a:extLst>
              <a:ext uri="{FF2B5EF4-FFF2-40B4-BE49-F238E27FC236}">
                <a16:creationId xmlns:a16="http://schemas.microsoft.com/office/drawing/2014/main" id="{140372E9-3112-4511-AA13-D6FA67E4BF4D}"/>
              </a:ext>
            </a:extLst>
          </p:cNvPr>
          <p:cNvSpPr>
            <a:spLocks noGrp="1"/>
          </p:cNvSpPr>
          <p:nvPr/>
        </p:nvSpPr>
        <p:spPr>
          <a:xfrm>
            <a:off x="3429000" y="5715000"/>
            <a:ext cx="16573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825" b="1" i="0">
                <a:solidFill>
                  <a:srgbClr val="B54708"/>
                </a:solidFill>
                <a:latin typeface="Lexend"/>
                <a:ea typeface="Lexend"/>
                <a:cs typeface="Lexend"/>
              </a:defRPr>
            </a:pPr>
            <a:r>
              <a:rPr sz="825" b="1" i="0">
                <a:solidFill>
                  <a:srgbClr val="B54708"/>
                </a:solidFill>
                <a:latin typeface="Lexend"/>
                <a:ea typeface="Lexend"/>
                <a:cs typeface="Lexend"/>
              </a:rPr>
              <a:t>ANA · OWNER CHECK</a:t>
            </a:r>
          </a:p>
        </p:txBody>
      </p:sp>
      <p:sp>
        <p:nvSpPr>
          <p:cNvPr id="17" name="Rectangle 16">
            <a:extLst>
              <a:ext uri="{FF2B5EF4-FFF2-40B4-BE49-F238E27FC236}">
                <a16:creationId xmlns:a16="http://schemas.microsoft.com/office/drawing/2014/main" id="{01062CFA-F6C2-4102-9465-8DC849261571}"/>
              </a:ext>
            </a:extLst>
          </p:cNvPr>
          <p:cNvSpPr>
            <a:spLocks noGrp="1"/>
          </p:cNvSpPr>
          <p:nvPr/>
        </p:nvSpPr>
        <p:spPr>
          <a:xfrm>
            <a:off x="5257800" y="5724525"/>
            <a:ext cx="3448050" cy="247650"/>
          </a:xfrm>
          <a:prstGeom prst="rect">
            <a:avLst/>
          </a:prstGeom>
          <a:noFill/>
          <a:ln w="0">
            <a:noFill/>
            <a:prstDash val="solid"/>
          </a:ln>
        </p:spPr>
        <p:txBody>
          <a:bodyPr wrap="square" lIns="0" tIns="0" rIns="0" bIns="0" anchor="ctr">
            <a:normAutofit fontScale="98022"/>
          </a:bodyPr>
          <a:lstStyle/>
          <a:p>
            <a:pPr algn="ctr">
              <a:defRPr sz="1200" b="1" i="0">
                <a:solidFill>
                  <a:srgbClr val="132238"/>
                </a:solidFill>
                <a:latin typeface="Source Sans 3"/>
                <a:ea typeface="Source Sans 3"/>
                <a:cs typeface="Source Sans 3"/>
              </a:defRPr>
            </a:pPr>
            <a:r>
              <a:rPr sz="1200" b="1" i="0">
                <a:solidFill>
                  <a:srgbClr val="132238"/>
                </a:solidFill>
                <a:latin typeface="Source Sans 3"/>
                <a:ea typeface="Source Sans 3"/>
                <a:cs typeface="Source Sans 3"/>
              </a:rPr>
              <a:t>Approved figures · assumptions · period · source</a:t>
            </a:r>
          </a:p>
        </p:txBody>
      </p:sp>
      <p:sp>
        <p:nvSpPr>
          <p:cNvPr id="18" name="Straight Connector 17">
            <a:extLst>
              <a:ext uri="{FF2B5EF4-FFF2-40B4-BE49-F238E27FC236}">
                <a16:creationId xmlns:a16="http://schemas.microsoft.com/office/drawing/2014/main" id="{B89CF2EF-9EF4-44EA-88F8-E0EEA750C23C}"/>
              </a:ext>
            </a:extLst>
          </p:cNvPr>
          <p:cNvSpPr>
            <a:spLocks noGrp="1"/>
          </p:cNvSpPr>
          <p:nvPr/>
        </p:nvSpPr>
        <p:spPr>
          <a:xfrm>
            <a:off x="533400" y="6477000"/>
            <a:ext cx="11125200" cy="0"/>
          </a:xfrm>
          <a:prstGeom prst="line">
            <a:avLst/>
          </a:prstGeom>
          <a:noFill/>
          <a:ln w="9525">
            <a:solidFill>
              <a:srgbClr val="D8DEE8"/>
            </a:solidFill>
            <a:prstDash val="solid"/>
          </a:ln>
        </p:spPr>
      </p:sp>
      <p:sp>
        <p:nvSpPr>
          <p:cNvPr id="19" name="Rectangle 18">
            <a:extLst>
              <a:ext uri="{FF2B5EF4-FFF2-40B4-BE49-F238E27FC236}">
                <a16:creationId xmlns:a16="http://schemas.microsoft.com/office/drawing/2014/main" id="{F333DFFC-43CB-487B-8E6F-BF90B611D6D2}"/>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Owner-input shell · Use only the approved business-plan model and Ana’s approved explanation</a:t>
            </a:r>
          </a:p>
        </p:txBody>
      </p:sp>
    </p:spTree>
    <p:extLst>
      <p:ext uri="{BB962C8B-B14F-4D97-AF65-F5344CB8AC3E}">
        <p14:creationId xmlns:p14="http://schemas.microsoft.com/office/powerpoint/2010/main" val="192686691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811D9578-F579-4702-AB93-CB9D3B2650A2}"/>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HAZEL</a:t>
            </a:r>
          </a:p>
        </p:txBody>
      </p:sp>
      <p:sp>
        <p:nvSpPr>
          <p:cNvPr id="2" name="slide-12-title">
            <a:extLst>
              <a:ext uri="{FF2B5EF4-FFF2-40B4-BE49-F238E27FC236}">
                <a16:creationId xmlns:a16="http://schemas.microsoft.com/office/drawing/2014/main" id="{D712B8CC-4491-4B35-AEB4-3999C4E94A54}"/>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Core competency and urgency</a:t>
            </a:r>
          </a:p>
        </p:txBody>
      </p:sp>
      <p:sp>
        <p:nvSpPr>
          <p:cNvPr id="3" name="Rectangle 2">
            <a:extLst>
              <a:ext uri="{FF2B5EF4-FFF2-40B4-BE49-F238E27FC236}">
                <a16:creationId xmlns:a16="http://schemas.microsoft.com/office/drawing/2014/main" id="{9CE4C3E3-813E-4E64-9BD7-3B1481B3C1C3}"/>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Why TripSync can matter—and why the timing matters now.</a:t>
            </a:r>
          </a:p>
        </p:txBody>
      </p:sp>
      <p:sp>
        <p:nvSpPr>
          <p:cNvPr id="4" name="Rectangle 3">
            <a:extLst>
              <a:ext uri="{FF2B5EF4-FFF2-40B4-BE49-F238E27FC236}">
                <a16:creationId xmlns:a16="http://schemas.microsoft.com/office/drawing/2014/main" id="{F2951865-7D32-4AA6-A183-056879E4B2AC}"/>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endParaRPr sz="1125" b="1" i="0" dirty="0">
              <a:solidFill>
                <a:srgbClr val="8C98A8"/>
              </a:solidFill>
              <a:latin typeface="Lexend"/>
              <a:ea typeface="Lexend"/>
              <a:cs typeface="Lexend"/>
            </a:endParaRPr>
          </a:p>
        </p:txBody>
      </p:sp>
      <p:sp>
        <p:nvSpPr>
          <p:cNvPr id="5" name="Rounded Rectangle 4">
            <a:extLst>
              <a:ext uri="{FF2B5EF4-FFF2-40B4-BE49-F238E27FC236}">
                <a16:creationId xmlns:a16="http://schemas.microsoft.com/office/drawing/2014/main" id="{F102B343-F88D-4542-87DA-B755C4E1615F}"/>
              </a:ext>
            </a:extLst>
          </p:cNvPr>
          <p:cNvSpPr>
            <a:spLocks noGrp="1"/>
          </p:cNvSpPr>
          <p:nvPr/>
        </p:nvSpPr>
        <p:spPr>
          <a:xfrm>
            <a:off x="533400" y="1962150"/>
            <a:ext cx="5219700" cy="3619500"/>
          </a:xfrm>
          <a:prstGeom prst="roundRect">
            <a:avLst>
              <a:gd name="adj" fmla="val 6316"/>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6" name="Rounded Rectangle 5">
            <a:extLst>
              <a:ext uri="{FF2B5EF4-FFF2-40B4-BE49-F238E27FC236}">
                <a16:creationId xmlns:a16="http://schemas.microsoft.com/office/drawing/2014/main" id="{F63D2283-AB4E-4FCC-A26E-C3D2C09400C2}"/>
              </a:ext>
            </a:extLst>
          </p:cNvPr>
          <p:cNvSpPr>
            <a:spLocks noGrp="1"/>
          </p:cNvSpPr>
          <p:nvPr/>
        </p:nvSpPr>
        <p:spPr>
          <a:xfrm>
            <a:off x="800100" y="2209800"/>
            <a:ext cx="19812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00" b="1" i="0">
                <a:solidFill>
                  <a:srgbClr val="175CD3"/>
                </a:solidFill>
                <a:latin typeface="Lexend"/>
                <a:ea typeface="Lexend"/>
                <a:cs typeface="Lexend"/>
              </a:defRPr>
            </a:pPr>
            <a:r>
              <a:rPr sz="900" b="1" i="0">
                <a:solidFill>
                  <a:srgbClr val="175CD3"/>
                </a:solidFill>
                <a:latin typeface="Lexend"/>
                <a:ea typeface="Lexend"/>
                <a:cs typeface="Lexend"/>
              </a:rPr>
              <a:t>DEFENSIBLE CAPABILITY</a:t>
            </a:r>
          </a:p>
        </p:txBody>
      </p:sp>
      <p:sp>
        <p:nvSpPr>
          <p:cNvPr id="7" name="Rectangle 6">
            <a:extLst>
              <a:ext uri="{FF2B5EF4-FFF2-40B4-BE49-F238E27FC236}">
                <a16:creationId xmlns:a16="http://schemas.microsoft.com/office/drawing/2014/main" id="{DB15C5A7-9238-426F-96FC-0C49EEF22897}"/>
              </a:ext>
            </a:extLst>
          </p:cNvPr>
          <p:cNvSpPr>
            <a:spLocks noGrp="1"/>
          </p:cNvSpPr>
          <p:nvPr/>
        </p:nvSpPr>
        <p:spPr>
          <a:xfrm>
            <a:off x="800100" y="2819400"/>
            <a:ext cx="4667250" cy="457200"/>
          </a:xfrm>
          <a:prstGeom prst="rect">
            <a:avLst/>
          </a:prstGeom>
          <a:noFill/>
          <a:ln w="0">
            <a:noFill/>
            <a:prstDash val="solid"/>
          </a:ln>
        </p:spPr>
        <p:txBody>
          <a:bodyPr wrap="square" lIns="0" tIns="0" rIns="0" bIns="0" anchor="t">
            <a:normAutofit/>
          </a:bodyPr>
          <a:lstStyle/>
          <a:p>
            <a:pPr algn="l">
              <a:defRPr sz="2175" b="1" i="0">
                <a:solidFill>
                  <a:srgbClr val="132238"/>
                </a:solidFill>
                <a:latin typeface="Lexend"/>
                <a:ea typeface="Lexend"/>
                <a:cs typeface="Lexend"/>
              </a:defRPr>
            </a:pPr>
            <a:r>
              <a:rPr sz="2175" b="1" i="0">
                <a:solidFill>
                  <a:srgbClr val="132238"/>
                </a:solidFill>
                <a:latin typeface="Lexend"/>
                <a:ea typeface="Lexend"/>
                <a:cs typeface="Lexend"/>
              </a:rPr>
              <a:t>[ Name the capability ]</a:t>
            </a:r>
          </a:p>
        </p:txBody>
      </p:sp>
      <p:sp>
        <p:nvSpPr>
          <p:cNvPr id="8" name="Rectangle 7">
            <a:extLst>
              <a:ext uri="{FF2B5EF4-FFF2-40B4-BE49-F238E27FC236}">
                <a16:creationId xmlns:a16="http://schemas.microsoft.com/office/drawing/2014/main" id="{E1903B96-C169-4117-A24A-9D7F6691E7F7}"/>
              </a:ext>
            </a:extLst>
          </p:cNvPr>
          <p:cNvSpPr>
            <a:spLocks noGrp="1"/>
          </p:cNvSpPr>
          <p:nvPr/>
        </p:nvSpPr>
        <p:spPr>
          <a:xfrm>
            <a:off x="800100" y="3486150"/>
            <a:ext cx="4476750" cy="1123950"/>
          </a:xfrm>
          <a:prstGeom prst="rect">
            <a:avLst/>
          </a:prstGeom>
          <a:noFill/>
          <a:ln w="0">
            <a:noFill/>
            <a:prstDash val="solid"/>
          </a:ln>
        </p:spPr>
        <p:txBody>
          <a:bodyPr wrap="square" lIns="0" tIns="0" rIns="0" bIns="0" anchor="t">
            <a:normAutofit/>
          </a:bodyPr>
          <a:lstStyle/>
          <a:p>
            <a:pPr algn="l">
              <a:defRPr sz="1575" b="0" i="0">
                <a:solidFill>
                  <a:srgbClr val="5F6B7A"/>
                </a:solidFill>
                <a:latin typeface="Source Sans 3"/>
                <a:ea typeface="Source Sans 3"/>
                <a:cs typeface="Source Sans 3"/>
              </a:defRPr>
            </a:pPr>
            <a:r>
              <a:rPr sz="1575" b="0" i="0">
                <a:solidFill>
                  <a:srgbClr val="5F6B7A"/>
                </a:solidFill>
                <a:latin typeface="Source Sans 3"/>
                <a:ea typeface="Source Sans 3"/>
                <a:cs typeface="Source Sans 3"/>
              </a:rPr>
              <a:t>[ Explain why operators or passengers cannot get the same value from a disconnected process. ]</a:t>
            </a:r>
          </a:p>
        </p:txBody>
      </p:sp>
      <p:sp>
        <p:nvSpPr>
          <p:cNvPr id="9" name="Rectangle 8">
            <a:extLst>
              <a:ext uri="{FF2B5EF4-FFF2-40B4-BE49-F238E27FC236}">
                <a16:creationId xmlns:a16="http://schemas.microsoft.com/office/drawing/2014/main" id="{36239211-7525-4C3C-B3FF-A63FCFD142D3}"/>
              </a:ext>
            </a:extLst>
          </p:cNvPr>
          <p:cNvSpPr>
            <a:spLocks noGrp="1"/>
          </p:cNvSpPr>
          <p:nvPr/>
        </p:nvSpPr>
        <p:spPr>
          <a:xfrm>
            <a:off x="800100" y="4953000"/>
            <a:ext cx="4476750" cy="266700"/>
          </a:xfrm>
          <a:prstGeom prst="rect">
            <a:avLst/>
          </a:prstGeom>
          <a:noFill/>
          <a:ln w="0">
            <a:noFill/>
            <a:prstDash val="solid"/>
          </a:ln>
        </p:spPr>
        <p:txBody>
          <a:bodyPr wrap="square" lIns="0" tIns="0" rIns="0" bIns="0" anchor="t">
            <a:normAutofit/>
          </a:bodyPr>
          <a:lstStyle/>
          <a:p>
            <a:pPr algn="l">
              <a:defRPr sz="1200" b="0" i="0">
                <a:solidFill>
                  <a:srgbClr val="8A96A5"/>
                </a:solidFill>
                <a:latin typeface="Source Sans 3"/>
                <a:ea typeface="Source Sans 3"/>
                <a:cs typeface="Source Sans 3"/>
              </a:defRPr>
            </a:pPr>
            <a:r>
              <a:rPr sz="1200" b="0" i="0">
                <a:solidFill>
                  <a:srgbClr val="8A96A5"/>
                </a:solidFill>
                <a:latin typeface="Source Sans 3"/>
                <a:ea typeface="Source Sans 3"/>
                <a:cs typeface="Source Sans 3"/>
              </a:rPr>
              <a:t>Evidence: [ INSERT ]</a:t>
            </a:r>
          </a:p>
        </p:txBody>
      </p:sp>
      <p:sp>
        <p:nvSpPr>
          <p:cNvPr id="10" name="Rounded Rectangle 9">
            <a:extLst>
              <a:ext uri="{FF2B5EF4-FFF2-40B4-BE49-F238E27FC236}">
                <a16:creationId xmlns:a16="http://schemas.microsoft.com/office/drawing/2014/main" id="{D7B6751E-72A3-4804-B83F-0911C613A298}"/>
              </a:ext>
            </a:extLst>
          </p:cNvPr>
          <p:cNvSpPr>
            <a:spLocks noGrp="1"/>
          </p:cNvSpPr>
          <p:nvPr/>
        </p:nvSpPr>
        <p:spPr>
          <a:xfrm>
            <a:off x="6057900" y="1962150"/>
            <a:ext cx="5600700" cy="3619500"/>
          </a:xfrm>
          <a:prstGeom prst="roundRect">
            <a:avLst>
              <a:gd name="adj" fmla="val 6316"/>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11" name="Rounded Rectangle 10">
            <a:extLst>
              <a:ext uri="{FF2B5EF4-FFF2-40B4-BE49-F238E27FC236}">
                <a16:creationId xmlns:a16="http://schemas.microsoft.com/office/drawing/2014/main" id="{7D119FF8-4734-4944-8156-B919B28B5F59}"/>
              </a:ext>
            </a:extLst>
          </p:cNvPr>
          <p:cNvSpPr>
            <a:spLocks noGrp="1"/>
          </p:cNvSpPr>
          <p:nvPr/>
        </p:nvSpPr>
        <p:spPr>
          <a:xfrm>
            <a:off x="6324600" y="2209800"/>
            <a:ext cx="110490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WHY NOW</a:t>
            </a:r>
          </a:p>
        </p:txBody>
      </p:sp>
      <p:sp>
        <p:nvSpPr>
          <p:cNvPr id="12" name="Rectangle 11">
            <a:extLst>
              <a:ext uri="{FF2B5EF4-FFF2-40B4-BE49-F238E27FC236}">
                <a16:creationId xmlns:a16="http://schemas.microsoft.com/office/drawing/2014/main" id="{66437A3F-8306-4D07-973F-DF7ED33EEEFB}"/>
              </a:ext>
            </a:extLst>
          </p:cNvPr>
          <p:cNvSpPr>
            <a:spLocks noGrp="1"/>
          </p:cNvSpPr>
          <p:nvPr/>
        </p:nvSpPr>
        <p:spPr>
          <a:xfrm>
            <a:off x="6324600" y="2819400"/>
            <a:ext cx="5048250" cy="457200"/>
          </a:xfrm>
          <a:prstGeom prst="rect">
            <a:avLst/>
          </a:prstGeom>
          <a:noFill/>
          <a:ln w="0">
            <a:noFill/>
            <a:prstDash val="solid"/>
          </a:ln>
        </p:spPr>
        <p:txBody>
          <a:bodyPr wrap="square" lIns="0" tIns="0" rIns="0" bIns="0" anchor="t">
            <a:normAutofit/>
          </a:bodyPr>
          <a:lstStyle/>
          <a:p>
            <a:pPr algn="l">
              <a:defRPr sz="2175" b="1" i="0">
                <a:solidFill>
                  <a:srgbClr val="132238"/>
                </a:solidFill>
                <a:latin typeface="Lexend"/>
                <a:ea typeface="Lexend"/>
                <a:cs typeface="Lexend"/>
              </a:defRPr>
            </a:pPr>
            <a:r>
              <a:rPr sz="2175" b="1" i="0">
                <a:solidFill>
                  <a:srgbClr val="132238"/>
                </a:solidFill>
                <a:latin typeface="Lexend"/>
                <a:ea typeface="Lexend"/>
                <a:cs typeface="Lexend"/>
              </a:rPr>
              <a:t>[ One time-sensitive reason ]</a:t>
            </a:r>
          </a:p>
        </p:txBody>
      </p:sp>
      <p:sp>
        <p:nvSpPr>
          <p:cNvPr id="13" name="Rectangle 12">
            <a:extLst>
              <a:ext uri="{FF2B5EF4-FFF2-40B4-BE49-F238E27FC236}">
                <a16:creationId xmlns:a16="http://schemas.microsoft.com/office/drawing/2014/main" id="{BE9A6EA6-B6A4-40A8-8547-6D99C0835296}"/>
              </a:ext>
            </a:extLst>
          </p:cNvPr>
          <p:cNvSpPr>
            <a:spLocks noGrp="1"/>
          </p:cNvSpPr>
          <p:nvPr/>
        </p:nvSpPr>
        <p:spPr>
          <a:xfrm>
            <a:off x="6324600" y="3486150"/>
            <a:ext cx="4857750" cy="819150"/>
          </a:xfrm>
          <a:prstGeom prst="rect">
            <a:avLst/>
          </a:prstGeom>
          <a:noFill/>
          <a:ln w="0">
            <a:noFill/>
            <a:prstDash val="solid"/>
          </a:ln>
        </p:spPr>
        <p:txBody>
          <a:bodyPr wrap="square" lIns="0" tIns="0" rIns="0" bIns="0" anchor="t">
            <a:normAutofit/>
          </a:bodyPr>
          <a:lstStyle/>
          <a:p>
            <a:pPr algn="l">
              <a:defRPr sz="1575" b="0" i="0">
                <a:solidFill>
                  <a:srgbClr val="5F6B7A"/>
                </a:solidFill>
                <a:latin typeface="Source Sans 3"/>
                <a:ea typeface="Source Sans 3"/>
                <a:cs typeface="Source Sans 3"/>
              </a:defRPr>
            </a:pPr>
            <a:r>
              <a:rPr sz="1575" b="0" i="0">
                <a:solidFill>
                  <a:srgbClr val="5F6B7A"/>
                </a:solidFill>
                <a:latin typeface="Source Sans 3"/>
                <a:ea typeface="Source Sans 3"/>
                <a:cs typeface="Source Sans 3"/>
              </a:rPr>
              <a:t>[ Add one comparison or market signal with a source and date. ]</a:t>
            </a:r>
          </a:p>
        </p:txBody>
      </p:sp>
      <p:sp>
        <p:nvSpPr>
          <p:cNvPr id="14" name="Rectangle 13">
            <a:extLst>
              <a:ext uri="{FF2B5EF4-FFF2-40B4-BE49-F238E27FC236}">
                <a16:creationId xmlns:a16="http://schemas.microsoft.com/office/drawing/2014/main" id="{A98E0C59-8987-46AC-969A-5337849074A1}"/>
              </a:ext>
            </a:extLst>
          </p:cNvPr>
          <p:cNvSpPr>
            <a:spLocks noGrp="1"/>
          </p:cNvSpPr>
          <p:nvPr/>
        </p:nvSpPr>
        <p:spPr>
          <a:xfrm>
            <a:off x="6324600" y="4772025"/>
            <a:ext cx="4857750" cy="438150"/>
          </a:xfrm>
          <a:prstGeom prst="rect">
            <a:avLst/>
          </a:prstGeom>
          <a:noFill/>
          <a:ln w="0">
            <a:noFill/>
            <a:prstDash val="solid"/>
          </a:ln>
        </p:spPr>
        <p:txBody>
          <a:bodyPr wrap="square" lIns="0" tIns="0" rIns="0" bIns="0" anchor="t">
            <a:normAutofit/>
          </a:bodyPr>
          <a:lstStyle/>
          <a:p>
            <a:pPr algn="l">
              <a:defRPr sz="1350" b="1" i="0">
                <a:solidFill>
                  <a:srgbClr val="175CD3"/>
                </a:solidFill>
                <a:latin typeface="Lexend"/>
                <a:ea typeface="Lexend"/>
                <a:cs typeface="Lexend"/>
              </a:defRPr>
            </a:pPr>
            <a:r>
              <a:rPr sz="1350" b="1" i="0">
                <a:solidFill>
                  <a:srgbClr val="175CD3"/>
                </a:solidFill>
                <a:latin typeface="Lexend"/>
                <a:ea typeface="Lexend"/>
                <a:cs typeface="Lexend"/>
              </a:rPr>
              <a:t>Judge-facing conclusion: [ INSERT ]</a:t>
            </a:r>
          </a:p>
        </p:txBody>
      </p:sp>
      <p:sp>
        <p:nvSpPr>
          <p:cNvPr id="15" name="Straight Connector 14">
            <a:extLst>
              <a:ext uri="{FF2B5EF4-FFF2-40B4-BE49-F238E27FC236}">
                <a16:creationId xmlns:a16="http://schemas.microsoft.com/office/drawing/2014/main" id="{ACEE5D1B-6CFC-423F-94DE-04401651EF46}"/>
              </a:ext>
            </a:extLst>
          </p:cNvPr>
          <p:cNvSpPr>
            <a:spLocks noGrp="1"/>
          </p:cNvSpPr>
          <p:nvPr/>
        </p:nvSpPr>
        <p:spPr>
          <a:xfrm>
            <a:off x="533400" y="6477000"/>
            <a:ext cx="11125200" cy="0"/>
          </a:xfrm>
          <a:prstGeom prst="line">
            <a:avLst/>
          </a:prstGeom>
          <a:noFill/>
          <a:ln w="9525">
            <a:solidFill>
              <a:srgbClr val="D8DEE8"/>
            </a:solidFill>
            <a:prstDash val="solid"/>
          </a:ln>
        </p:spPr>
      </p:sp>
      <p:sp>
        <p:nvSpPr>
          <p:cNvPr id="16" name="Rectangle 15">
            <a:extLst>
              <a:ext uri="{FF2B5EF4-FFF2-40B4-BE49-F238E27FC236}">
                <a16:creationId xmlns:a16="http://schemas.microsoft.com/office/drawing/2014/main" id="{B6DF04F7-B5F4-4A7D-95D7-7AEAF46E9715}"/>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Owner-input shell · Capability, comparison evidence, source, and conclusion remain Hazel-controlled</a:t>
            </a:r>
          </a:p>
        </p:txBody>
      </p:sp>
    </p:spTree>
    <p:extLst>
      <p:ext uri="{BB962C8B-B14F-4D97-AF65-F5344CB8AC3E}">
        <p14:creationId xmlns:p14="http://schemas.microsoft.com/office/powerpoint/2010/main" val="87266491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54" name="Rounded Rectangle 53">
            <a:extLst>
              <a:ext uri="{FF2B5EF4-FFF2-40B4-BE49-F238E27FC236}">
                <a16:creationId xmlns:a16="http://schemas.microsoft.com/office/drawing/2014/main" id="{334722E7-F786-45A9-888E-6BC678767F12}"/>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AARON</a:t>
            </a:r>
          </a:p>
        </p:txBody>
      </p:sp>
      <p:sp>
        <p:nvSpPr>
          <p:cNvPr id="2" name="slide-13-title">
            <a:extLst>
              <a:ext uri="{FF2B5EF4-FFF2-40B4-BE49-F238E27FC236}">
                <a16:creationId xmlns:a16="http://schemas.microsoft.com/office/drawing/2014/main" id="{8BA260FD-1903-4EED-AE98-8EEEA9139114}"/>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TripSync roadmap: today to Year 5</a:t>
            </a:r>
          </a:p>
        </p:txBody>
      </p:sp>
      <p:sp>
        <p:nvSpPr>
          <p:cNvPr id="3" name="Rectangle 2">
            <a:extLst>
              <a:ext uri="{FF2B5EF4-FFF2-40B4-BE49-F238E27FC236}">
                <a16:creationId xmlns:a16="http://schemas.microsoft.com/office/drawing/2014/main" id="{FD2CF22B-CA3E-4D6C-A02E-A1DC523864AF}"/>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Business-model and product milestones move together through explicit evidence gates.</a:t>
            </a:r>
          </a:p>
        </p:txBody>
      </p:sp>
      <p:sp>
        <p:nvSpPr>
          <p:cNvPr id="4" name="Rectangle 3">
            <a:extLst>
              <a:ext uri="{FF2B5EF4-FFF2-40B4-BE49-F238E27FC236}">
                <a16:creationId xmlns:a16="http://schemas.microsoft.com/office/drawing/2014/main" id="{6372F98E-457F-4712-A1F0-D783CB8988BB}"/>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endParaRPr sz="1125" b="1" i="0" dirty="0">
              <a:solidFill>
                <a:srgbClr val="8C98A8"/>
              </a:solidFill>
              <a:latin typeface="Lexend"/>
              <a:ea typeface="Lexend"/>
              <a:cs typeface="Lexend"/>
            </a:endParaRPr>
          </a:p>
        </p:txBody>
      </p:sp>
      <p:sp>
        <p:nvSpPr>
          <p:cNvPr id="5" name="Rectangle 4">
            <a:extLst>
              <a:ext uri="{FF2B5EF4-FFF2-40B4-BE49-F238E27FC236}">
                <a16:creationId xmlns:a16="http://schemas.microsoft.com/office/drawing/2014/main" id="{1CDE1A97-D6EB-44A6-B20D-3C4230F3F127}"/>
              </a:ext>
            </a:extLst>
          </p:cNvPr>
          <p:cNvSpPr>
            <a:spLocks noGrp="1"/>
          </p:cNvSpPr>
          <p:nvPr/>
        </p:nvSpPr>
        <p:spPr>
          <a:xfrm>
            <a:off x="342900" y="2333625"/>
            <a:ext cx="1104900" cy="457200"/>
          </a:xfrm>
          <a:prstGeom prst="rect">
            <a:avLst/>
          </a:prstGeom>
          <a:noFill/>
          <a:ln w="0">
            <a:noFill/>
            <a:prstDash val="solid"/>
          </a:ln>
        </p:spPr>
        <p:txBody>
          <a:bodyPr wrap="square" lIns="0" tIns="0" rIns="0" bIns="0" anchor="ctr">
            <a:normAutofit/>
          </a:bodyPr>
          <a:lstStyle/>
          <a:p>
            <a:pPr algn="r">
              <a:defRPr sz="1200" b="1" i="0">
                <a:solidFill>
                  <a:srgbClr val="175CD3"/>
                </a:solidFill>
                <a:latin typeface="Lexend"/>
                <a:ea typeface="Lexend"/>
                <a:cs typeface="Lexend"/>
              </a:defRPr>
            </a:pPr>
            <a:r>
              <a:rPr sz="1200" b="1" i="0">
                <a:solidFill>
                  <a:srgbClr val="175CD3"/>
                </a:solidFill>
                <a:latin typeface="Lexend"/>
                <a:ea typeface="Lexend"/>
                <a:cs typeface="Lexend"/>
              </a:rPr>
              <a:t>BUSINESS MODEL</a:t>
            </a:r>
          </a:p>
        </p:txBody>
      </p:sp>
      <p:sp>
        <p:nvSpPr>
          <p:cNvPr id="6" name="Rectangle 5">
            <a:extLst>
              <a:ext uri="{FF2B5EF4-FFF2-40B4-BE49-F238E27FC236}">
                <a16:creationId xmlns:a16="http://schemas.microsoft.com/office/drawing/2014/main" id="{58EBA30E-011C-45FD-91A8-4720DFEB646F}"/>
              </a:ext>
            </a:extLst>
          </p:cNvPr>
          <p:cNvSpPr>
            <a:spLocks noGrp="1"/>
          </p:cNvSpPr>
          <p:nvPr/>
        </p:nvSpPr>
        <p:spPr>
          <a:xfrm>
            <a:off x="342900" y="3914775"/>
            <a:ext cx="1104900" cy="457200"/>
          </a:xfrm>
          <a:prstGeom prst="rect">
            <a:avLst/>
          </a:prstGeom>
          <a:noFill/>
          <a:ln w="0">
            <a:noFill/>
            <a:prstDash val="solid"/>
          </a:ln>
        </p:spPr>
        <p:txBody>
          <a:bodyPr wrap="square" lIns="0" tIns="0" rIns="0" bIns="0" anchor="ctr">
            <a:normAutofit/>
          </a:bodyPr>
          <a:lstStyle/>
          <a:p>
            <a:pPr algn="r">
              <a:defRPr sz="1200" b="1" i="0">
                <a:solidFill>
                  <a:srgbClr val="087A55"/>
                </a:solidFill>
                <a:latin typeface="Lexend"/>
                <a:ea typeface="Lexend"/>
                <a:cs typeface="Lexend"/>
              </a:defRPr>
            </a:pPr>
            <a:r>
              <a:rPr sz="1200" b="1" i="0">
                <a:solidFill>
                  <a:srgbClr val="087A55"/>
                </a:solidFill>
                <a:latin typeface="Lexend"/>
                <a:ea typeface="Lexend"/>
                <a:cs typeface="Lexend"/>
              </a:rPr>
              <a:t>PRODUCT</a:t>
            </a:r>
          </a:p>
        </p:txBody>
      </p:sp>
      <p:sp>
        <p:nvSpPr>
          <p:cNvPr id="7" name="Straight Connector 6">
            <a:extLst>
              <a:ext uri="{FF2B5EF4-FFF2-40B4-BE49-F238E27FC236}">
                <a16:creationId xmlns:a16="http://schemas.microsoft.com/office/drawing/2014/main" id="{4D0040CF-7BB7-4E57-9894-4F88AF6467D5}"/>
              </a:ext>
            </a:extLst>
          </p:cNvPr>
          <p:cNvSpPr>
            <a:spLocks noGrp="1"/>
          </p:cNvSpPr>
          <p:nvPr/>
        </p:nvSpPr>
        <p:spPr>
          <a:xfrm>
            <a:off x="1581150" y="2019300"/>
            <a:ext cx="9667875" cy="0"/>
          </a:xfrm>
          <a:prstGeom prst="line">
            <a:avLst/>
          </a:prstGeom>
          <a:noFill/>
          <a:ln w="28575">
            <a:solidFill>
              <a:srgbClr val="C4D0DD"/>
            </a:solidFill>
            <a:prstDash val="solid"/>
          </a:ln>
        </p:spPr>
      </p:sp>
      <p:sp>
        <p:nvSpPr>
          <p:cNvPr id="8" name="Oval 7">
            <a:extLst>
              <a:ext uri="{FF2B5EF4-FFF2-40B4-BE49-F238E27FC236}">
                <a16:creationId xmlns:a16="http://schemas.microsoft.com/office/drawing/2014/main" id="{23991B15-F787-4A81-BAF2-5E14EA2FDD75}"/>
              </a:ext>
            </a:extLst>
          </p:cNvPr>
          <p:cNvSpPr>
            <a:spLocks noGrp="1"/>
          </p:cNvSpPr>
          <p:nvPr/>
        </p:nvSpPr>
        <p:spPr>
          <a:xfrm>
            <a:off x="2286000" y="1914525"/>
            <a:ext cx="209550" cy="209550"/>
          </a:xfrm>
          <a:prstGeom prst="ellipse">
            <a:avLst/>
          </a:prstGeom>
          <a:solidFill>
            <a:srgbClr val="F97316"/>
          </a:solidFill>
          <a:ln w="28575">
            <a:solidFill>
              <a:srgbClr val="F6F7F4"/>
            </a:solidFill>
            <a:prstDash val="solid"/>
          </a:ln>
        </p:spPr>
      </p:sp>
      <p:sp>
        <p:nvSpPr>
          <p:cNvPr id="9" name="Rectangle 8">
            <a:extLst>
              <a:ext uri="{FF2B5EF4-FFF2-40B4-BE49-F238E27FC236}">
                <a16:creationId xmlns:a16="http://schemas.microsoft.com/office/drawing/2014/main" id="{636E04B6-422E-432F-80BC-09980F1C7FB9}"/>
              </a:ext>
            </a:extLst>
          </p:cNvPr>
          <p:cNvSpPr>
            <a:spLocks noGrp="1"/>
          </p:cNvSpPr>
          <p:nvPr/>
        </p:nvSpPr>
        <p:spPr>
          <a:xfrm>
            <a:off x="1581150" y="1619250"/>
            <a:ext cx="1600200" cy="228600"/>
          </a:xfrm>
          <a:prstGeom prst="rect">
            <a:avLst/>
          </a:prstGeom>
          <a:noFill/>
          <a:ln w="0">
            <a:noFill/>
            <a:prstDash val="solid"/>
          </a:ln>
        </p:spPr>
        <p:txBody>
          <a:bodyPr wrap="square" lIns="0" tIns="0" rIns="0" bIns="0" anchor="t">
            <a:normAutofit/>
          </a:bodyPr>
          <a:lstStyle/>
          <a:p>
            <a:pPr algn="ctr">
              <a:defRPr sz="1125" b="1" i="0">
                <a:solidFill>
                  <a:srgbClr val="B54708"/>
                </a:solidFill>
                <a:latin typeface="Lexend"/>
                <a:ea typeface="Lexend"/>
                <a:cs typeface="Lexend"/>
              </a:defRPr>
            </a:pPr>
            <a:r>
              <a:rPr sz="1125" b="1" i="0">
                <a:solidFill>
                  <a:srgbClr val="B54708"/>
                </a:solidFill>
                <a:latin typeface="Lexend"/>
                <a:ea typeface="Lexend"/>
                <a:cs typeface="Lexend"/>
              </a:rPr>
              <a:t>TODAY</a:t>
            </a:r>
          </a:p>
        </p:txBody>
      </p:sp>
      <p:sp>
        <p:nvSpPr>
          <p:cNvPr id="10" name="Rounded Rectangle 9">
            <a:extLst>
              <a:ext uri="{FF2B5EF4-FFF2-40B4-BE49-F238E27FC236}">
                <a16:creationId xmlns:a16="http://schemas.microsoft.com/office/drawing/2014/main" id="{B9662AC8-E9EF-4A13-8EC6-E0A5651CF4C1}"/>
              </a:ext>
            </a:extLst>
          </p:cNvPr>
          <p:cNvSpPr>
            <a:spLocks noGrp="1"/>
          </p:cNvSpPr>
          <p:nvPr/>
        </p:nvSpPr>
        <p:spPr>
          <a:xfrm>
            <a:off x="1581150" y="2266950"/>
            <a:ext cx="1600200" cy="1181100"/>
          </a:xfrm>
          <a:prstGeom prst="roundRect">
            <a:avLst>
              <a:gd name="adj" fmla="val 12097"/>
            </a:avLst>
          </a:prstGeom>
          <a:solidFill>
            <a:srgbClr val="FFF0E7"/>
          </a:solidFill>
          <a:ln w="9525">
            <a:solidFill>
              <a:srgbClr val="FDBA74"/>
            </a:solidFill>
            <a:prstDash val="solid"/>
          </a:ln>
        </p:spPr>
      </p:sp>
      <p:sp>
        <p:nvSpPr>
          <p:cNvPr id="11" name="Rectangle 10">
            <a:extLst>
              <a:ext uri="{FF2B5EF4-FFF2-40B4-BE49-F238E27FC236}">
                <a16:creationId xmlns:a16="http://schemas.microsoft.com/office/drawing/2014/main" id="{DD49EAE0-7673-4B64-A3B8-15194A0796D6}"/>
              </a:ext>
            </a:extLst>
          </p:cNvPr>
          <p:cNvSpPr>
            <a:spLocks noGrp="1"/>
          </p:cNvSpPr>
          <p:nvPr/>
        </p:nvSpPr>
        <p:spPr>
          <a:xfrm>
            <a:off x="1676400" y="2438400"/>
            <a:ext cx="1409700" cy="8191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Pre-pilot</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B2B proposition</a:t>
            </a:r>
          </a:p>
        </p:txBody>
      </p:sp>
      <p:sp>
        <p:nvSpPr>
          <p:cNvPr id="12" name="Rounded Rectangle 11">
            <a:extLst>
              <a:ext uri="{FF2B5EF4-FFF2-40B4-BE49-F238E27FC236}">
                <a16:creationId xmlns:a16="http://schemas.microsoft.com/office/drawing/2014/main" id="{50C94A2E-A9A5-4C4C-9E27-8140FD4496AD}"/>
              </a:ext>
            </a:extLst>
          </p:cNvPr>
          <p:cNvSpPr>
            <a:spLocks noGrp="1"/>
          </p:cNvSpPr>
          <p:nvPr/>
        </p:nvSpPr>
        <p:spPr>
          <a:xfrm>
            <a:off x="1581150" y="3810000"/>
            <a:ext cx="1600200" cy="1181100"/>
          </a:xfrm>
          <a:prstGeom prst="roundRect">
            <a:avLst>
              <a:gd name="adj" fmla="val 12097"/>
            </a:avLst>
          </a:prstGeom>
          <a:solidFill>
            <a:srgbClr val="F1F4F7"/>
          </a:solidFill>
          <a:ln w="9525">
            <a:solidFill>
              <a:srgbClr val="D8DEE8"/>
            </a:solidFill>
            <a:prstDash val="solid"/>
          </a:ln>
        </p:spPr>
      </p:sp>
      <p:sp>
        <p:nvSpPr>
          <p:cNvPr id="13" name="Rectangle 12">
            <a:extLst>
              <a:ext uri="{FF2B5EF4-FFF2-40B4-BE49-F238E27FC236}">
                <a16:creationId xmlns:a16="http://schemas.microsoft.com/office/drawing/2014/main" id="{59B60BD4-89EB-4761-A8FC-386756D02290}"/>
              </a:ext>
            </a:extLst>
          </p:cNvPr>
          <p:cNvSpPr>
            <a:spLocks noGrp="1"/>
          </p:cNvSpPr>
          <p:nvPr/>
        </p:nvSpPr>
        <p:spPr>
          <a:xfrm>
            <a:off x="1676400" y="3962400"/>
            <a:ext cx="1409700" cy="8572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Working prototype</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Demo / synthetic evidence</a:t>
            </a:r>
          </a:p>
        </p:txBody>
      </p:sp>
      <p:sp>
        <p:nvSpPr>
          <p:cNvPr id="14" name="Oval 13">
            <a:extLst>
              <a:ext uri="{FF2B5EF4-FFF2-40B4-BE49-F238E27FC236}">
                <a16:creationId xmlns:a16="http://schemas.microsoft.com/office/drawing/2014/main" id="{0CEFB9DF-8CC0-4510-B416-5CB4DC0C7952}"/>
              </a:ext>
            </a:extLst>
          </p:cNvPr>
          <p:cNvSpPr>
            <a:spLocks noGrp="1"/>
          </p:cNvSpPr>
          <p:nvPr/>
        </p:nvSpPr>
        <p:spPr>
          <a:xfrm>
            <a:off x="3962400" y="1914525"/>
            <a:ext cx="209550" cy="209550"/>
          </a:xfrm>
          <a:prstGeom prst="ellipse">
            <a:avLst/>
          </a:prstGeom>
          <a:solidFill>
            <a:srgbClr val="175CD3"/>
          </a:solidFill>
          <a:ln w="28575">
            <a:solidFill>
              <a:srgbClr val="F6F7F4"/>
            </a:solidFill>
            <a:prstDash val="solid"/>
          </a:ln>
        </p:spPr>
      </p:sp>
      <p:sp>
        <p:nvSpPr>
          <p:cNvPr id="15" name="Rectangle 14">
            <a:extLst>
              <a:ext uri="{FF2B5EF4-FFF2-40B4-BE49-F238E27FC236}">
                <a16:creationId xmlns:a16="http://schemas.microsoft.com/office/drawing/2014/main" id="{10D89078-BF93-4A09-8355-CAF689940C23}"/>
              </a:ext>
            </a:extLst>
          </p:cNvPr>
          <p:cNvSpPr>
            <a:spLocks noGrp="1"/>
          </p:cNvSpPr>
          <p:nvPr/>
        </p:nvSpPr>
        <p:spPr>
          <a:xfrm>
            <a:off x="3257550" y="1619250"/>
            <a:ext cx="1600200" cy="228600"/>
          </a:xfrm>
          <a:prstGeom prst="rect">
            <a:avLst/>
          </a:prstGeom>
          <a:noFill/>
          <a:ln w="0">
            <a:noFill/>
            <a:prstDash val="solid"/>
          </a:ln>
        </p:spPr>
        <p:txBody>
          <a:bodyPr wrap="square" lIns="0" tIns="0" rIns="0" bIns="0" anchor="t">
            <a:normAutofit/>
          </a:bodyPr>
          <a:lstStyle/>
          <a:p>
            <a:pPr algn="ctr">
              <a:defRPr sz="1125" b="1" i="0">
                <a:solidFill>
                  <a:srgbClr val="175CD3"/>
                </a:solidFill>
                <a:latin typeface="Lexend"/>
                <a:ea typeface="Lexend"/>
                <a:cs typeface="Lexend"/>
              </a:defRPr>
            </a:pPr>
            <a:r>
              <a:rPr sz="1125" b="1" i="0">
                <a:solidFill>
                  <a:srgbClr val="175CD3"/>
                </a:solidFill>
                <a:latin typeface="Lexend"/>
                <a:ea typeface="Lexend"/>
                <a:cs typeface="Lexend"/>
              </a:rPr>
              <a:t>YEAR 1</a:t>
            </a:r>
          </a:p>
        </p:txBody>
      </p:sp>
      <p:sp>
        <p:nvSpPr>
          <p:cNvPr id="16" name="Rounded Rectangle 15">
            <a:extLst>
              <a:ext uri="{FF2B5EF4-FFF2-40B4-BE49-F238E27FC236}">
                <a16:creationId xmlns:a16="http://schemas.microsoft.com/office/drawing/2014/main" id="{9E28BC23-8BCF-409A-AC49-83D61F9E583C}"/>
              </a:ext>
            </a:extLst>
          </p:cNvPr>
          <p:cNvSpPr>
            <a:spLocks noGrp="1"/>
          </p:cNvSpPr>
          <p:nvPr/>
        </p:nvSpPr>
        <p:spPr>
          <a:xfrm>
            <a:off x="3257550" y="2266950"/>
            <a:ext cx="1600200" cy="1181100"/>
          </a:xfrm>
          <a:prstGeom prst="roundRect">
            <a:avLst>
              <a:gd name="adj" fmla="val 12097"/>
            </a:avLst>
          </a:prstGeom>
          <a:solidFill>
            <a:srgbClr val="EAF1FF"/>
          </a:solidFill>
          <a:ln w="9525">
            <a:solidFill>
              <a:srgbClr val="C8D9FF"/>
            </a:solidFill>
            <a:prstDash val="solid"/>
          </a:ln>
        </p:spPr>
      </p:sp>
      <p:sp>
        <p:nvSpPr>
          <p:cNvPr id="17" name="Rectangle 16">
            <a:extLst>
              <a:ext uri="{FF2B5EF4-FFF2-40B4-BE49-F238E27FC236}">
                <a16:creationId xmlns:a16="http://schemas.microsoft.com/office/drawing/2014/main" id="{CC5C71CF-B8B6-4560-B5E9-1C9183376F41}"/>
              </a:ext>
            </a:extLst>
          </p:cNvPr>
          <p:cNvSpPr>
            <a:spLocks noGrp="1"/>
          </p:cNvSpPr>
          <p:nvPr/>
        </p:nvSpPr>
        <p:spPr>
          <a:xfrm>
            <a:off x="3352800" y="2438400"/>
            <a:ext cx="1409700" cy="8191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Incorporate · 5 wins</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≥1 paid pilot</a:t>
            </a:r>
          </a:p>
        </p:txBody>
      </p:sp>
      <p:sp>
        <p:nvSpPr>
          <p:cNvPr id="18" name="Rounded Rectangle 17">
            <a:extLst>
              <a:ext uri="{FF2B5EF4-FFF2-40B4-BE49-F238E27FC236}">
                <a16:creationId xmlns:a16="http://schemas.microsoft.com/office/drawing/2014/main" id="{3EC8EFE0-D7BA-4FF8-ACDA-1E08D20712E6}"/>
              </a:ext>
            </a:extLst>
          </p:cNvPr>
          <p:cNvSpPr>
            <a:spLocks noGrp="1"/>
          </p:cNvSpPr>
          <p:nvPr/>
        </p:nvSpPr>
        <p:spPr>
          <a:xfrm>
            <a:off x="3257550" y="3810000"/>
            <a:ext cx="1600200" cy="1181100"/>
          </a:xfrm>
          <a:prstGeom prst="roundRect">
            <a:avLst>
              <a:gd name="adj" fmla="val 12097"/>
            </a:avLst>
          </a:prstGeom>
          <a:solidFill>
            <a:srgbClr val="E8F6F1"/>
          </a:solidFill>
          <a:ln w="9525">
            <a:solidFill>
              <a:srgbClr val="A7E0CC"/>
            </a:solidFill>
            <a:prstDash val="solid"/>
          </a:ln>
        </p:spPr>
      </p:sp>
      <p:sp>
        <p:nvSpPr>
          <p:cNvPr id="19" name="Rectangle 18">
            <a:extLst>
              <a:ext uri="{FF2B5EF4-FFF2-40B4-BE49-F238E27FC236}">
                <a16:creationId xmlns:a16="http://schemas.microsoft.com/office/drawing/2014/main" id="{7DA098FE-F702-45A0-8FE6-C9D93934D1CE}"/>
              </a:ext>
            </a:extLst>
          </p:cNvPr>
          <p:cNvSpPr>
            <a:spLocks noGrp="1"/>
          </p:cNvSpPr>
          <p:nvPr/>
        </p:nvSpPr>
        <p:spPr>
          <a:xfrm>
            <a:off x="3352800" y="3962400"/>
            <a:ext cx="1409700" cy="8572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Production hardening</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Operator data · pilot QA</a:t>
            </a:r>
          </a:p>
        </p:txBody>
      </p:sp>
      <p:sp>
        <p:nvSpPr>
          <p:cNvPr id="20" name="Oval 19">
            <a:extLst>
              <a:ext uri="{FF2B5EF4-FFF2-40B4-BE49-F238E27FC236}">
                <a16:creationId xmlns:a16="http://schemas.microsoft.com/office/drawing/2014/main" id="{C27B2360-DD0D-426F-8EE8-EA10827E5C76}"/>
              </a:ext>
            </a:extLst>
          </p:cNvPr>
          <p:cNvSpPr>
            <a:spLocks noGrp="1"/>
          </p:cNvSpPr>
          <p:nvPr/>
        </p:nvSpPr>
        <p:spPr>
          <a:xfrm>
            <a:off x="5638800" y="1914525"/>
            <a:ext cx="209550" cy="209550"/>
          </a:xfrm>
          <a:prstGeom prst="ellipse">
            <a:avLst/>
          </a:prstGeom>
          <a:solidFill>
            <a:srgbClr val="175CD3"/>
          </a:solidFill>
          <a:ln w="28575">
            <a:solidFill>
              <a:srgbClr val="F6F7F4"/>
            </a:solidFill>
            <a:prstDash val="solid"/>
          </a:ln>
        </p:spPr>
      </p:sp>
      <p:sp>
        <p:nvSpPr>
          <p:cNvPr id="21" name="Rectangle 20">
            <a:extLst>
              <a:ext uri="{FF2B5EF4-FFF2-40B4-BE49-F238E27FC236}">
                <a16:creationId xmlns:a16="http://schemas.microsoft.com/office/drawing/2014/main" id="{98AF2911-D324-4E4A-B751-DF8E8F6BADE2}"/>
              </a:ext>
            </a:extLst>
          </p:cNvPr>
          <p:cNvSpPr>
            <a:spLocks noGrp="1"/>
          </p:cNvSpPr>
          <p:nvPr/>
        </p:nvSpPr>
        <p:spPr>
          <a:xfrm>
            <a:off x="4933950" y="1619250"/>
            <a:ext cx="1600200" cy="228600"/>
          </a:xfrm>
          <a:prstGeom prst="rect">
            <a:avLst/>
          </a:prstGeom>
          <a:noFill/>
          <a:ln w="0">
            <a:noFill/>
            <a:prstDash val="solid"/>
          </a:ln>
        </p:spPr>
        <p:txBody>
          <a:bodyPr wrap="square" lIns="0" tIns="0" rIns="0" bIns="0" anchor="t">
            <a:normAutofit/>
          </a:bodyPr>
          <a:lstStyle/>
          <a:p>
            <a:pPr algn="ctr">
              <a:defRPr sz="1125" b="1" i="0">
                <a:solidFill>
                  <a:srgbClr val="175CD3"/>
                </a:solidFill>
                <a:latin typeface="Lexend"/>
                <a:ea typeface="Lexend"/>
                <a:cs typeface="Lexend"/>
              </a:defRPr>
            </a:pPr>
            <a:r>
              <a:rPr sz="1125" b="1" i="0">
                <a:solidFill>
                  <a:srgbClr val="175CD3"/>
                </a:solidFill>
                <a:latin typeface="Lexend"/>
                <a:ea typeface="Lexend"/>
                <a:cs typeface="Lexend"/>
              </a:rPr>
              <a:t>YEAR 2</a:t>
            </a:r>
          </a:p>
        </p:txBody>
      </p:sp>
      <p:sp>
        <p:nvSpPr>
          <p:cNvPr id="22" name="Rounded Rectangle 21">
            <a:extLst>
              <a:ext uri="{FF2B5EF4-FFF2-40B4-BE49-F238E27FC236}">
                <a16:creationId xmlns:a16="http://schemas.microsoft.com/office/drawing/2014/main" id="{2F6B6611-99D6-4A40-923A-C3B548136F8E}"/>
              </a:ext>
            </a:extLst>
          </p:cNvPr>
          <p:cNvSpPr>
            <a:spLocks noGrp="1"/>
          </p:cNvSpPr>
          <p:nvPr/>
        </p:nvSpPr>
        <p:spPr>
          <a:xfrm>
            <a:off x="4933950" y="2266950"/>
            <a:ext cx="1600200" cy="1181100"/>
          </a:xfrm>
          <a:prstGeom prst="roundRect">
            <a:avLst>
              <a:gd name="adj" fmla="val 12097"/>
            </a:avLst>
          </a:prstGeom>
          <a:solidFill>
            <a:srgbClr val="EAF1FF"/>
          </a:solidFill>
          <a:ln w="9525">
            <a:solidFill>
              <a:srgbClr val="C8D9FF"/>
            </a:solidFill>
            <a:prstDash val="solid"/>
          </a:ln>
        </p:spPr>
      </p:sp>
      <p:sp>
        <p:nvSpPr>
          <p:cNvPr id="23" name="Rectangle 22">
            <a:extLst>
              <a:ext uri="{FF2B5EF4-FFF2-40B4-BE49-F238E27FC236}">
                <a16:creationId xmlns:a16="http://schemas.microsoft.com/office/drawing/2014/main" id="{5CD6B4A4-7B02-41E0-A58F-3DB59D4C342F}"/>
              </a:ext>
            </a:extLst>
          </p:cNvPr>
          <p:cNvSpPr>
            <a:spLocks noGrp="1"/>
          </p:cNvSpPr>
          <p:nvPr/>
        </p:nvSpPr>
        <p:spPr>
          <a:xfrm>
            <a:off x="5029200" y="2438400"/>
            <a:ext cx="1409700" cy="8191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Standard onboarding</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15 customers · +2 roles</a:t>
            </a:r>
          </a:p>
        </p:txBody>
      </p:sp>
      <p:sp>
        <p:nvSpPr>
          <p:cNvPr id="24" name="Rounded Rectangle 23">
            <a:extLst>
              <a:ext uri="{FF2B5EF4-FFF2-40B4-BE49-F238E27FC236}">
                <a16:creationId xmlns:a16="http://schemas.microsoft.com/office/drawing/2014/main" id="{2A62C459-13CE-46A8-94A3-B85E27DFE2B8}"/>
              </a:ext>
            </a:extLst>
          </p:cNvPr>
          <p:cNvSpPr>
            <a:spLocks noGrp="1"/>
          </p:cNvSpPr>
          <p:nvPr/>
        </p:nvSpPr>
        <p:spPr>
          <a:xfrm>
            <a:off x="4933950" y="3810000"/>
            <a:ext cx="1600200" cy="1181100"/>
          </a:xfrm>
          <a:prstGeom prst="roundRect">
            <a:avLst>
              <a:gd name="adj" fmla="val 12097"/>
            </a:avLst>
          </a:prstGeom>
          <a:solidFill>
            <a:srgbClr val="E8F6F1"/>
          </a:solidFill>
          <a:ln w="9525">
            <a:solidFill>
              <a:srgbClr val="A7E0CC"/>
            </a:solidFill>
            <a:prstDash val="solid"/>
          </a:ln>
        </p:spPr>
      </p:sp>
      <p:sp>
        <p:nvSpPr>
          <p:cNvPr id="25" name="Rectangle 24">
            <a:extLst>
              <a:ext uri="{FF2B5EF4-FFF2-40B4-BE49-F238E27FC236}">
                <a16:creationId xmlns:a16="http://schemas.microsoft.com/office/drawing/2014/main" id="{53168664-DD9F-4D80-9B6D-36102DC79B3E}"/>
              </a:ext>
            </a:extLst>
          </p:cNvPr>
          <p:cNvSpPr>
            <a:spLocks noGrp="1"/>
          </p:cNvSpPr>
          <p:nvPr/>
        </p:nvSpPr>
        <p:spPr>
          <a:xfrm>
            <a:off x="5029200" y="3962400"/>
            <a:ext cx="1409700" cy="8572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Multi-tenant tools</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Repeatable integrations</a:t>
            </a:r>
          </a:p>
        </p:txBody>
      </p:sp>
      <p:sp>
        <p:nvSpPr>
          <p:cNvPr id="26" name="Oval 25">
            <a:extLst>
              <a:ext uri="{FF2B5EF4-FFF2-40B4-BE49-F238E27FC236}">
                <a16:creationId xmlns:a16="http://schemas.microsoft.com/office/drawing/2014/main" id="{F7E4DBF5-329D-4B53-B53D-DBEEB1641534}"/>
              </a:ext>
            </a:extLst>
          </p:cNvPr>
          <p:cNvSpPr>
            <a:spLocks noGrp="1"/>
          </p:cNvSpPr>
          <p:nvPr/>
        </p:nvSpPr>
        <p:spPr>
          <a:xfrm>
            <a:off x="7315200" y="1914525"/>
            <a:ext cx="209550" cy="209550"/>
          </a:xfrm>
          <a:prstGeom prst="ellipse">
            <a:avLst/>
          </a:prstGeom>
          <a:solidFill>
            <a:srgbClr val="175CD3"/>
          </a:solidFill>
          <a:ln w="28575">
            <a:solidFill>
              <a:srgbClr val="F6F7F4"/>
            </a:solidFill>
            <a:prstDash val="solid"/>
          </a:ln>
        </p:spPr>
      </p:sp>
      <p:sp>
        <p:nvSpPr>
          <p:cNvPr id="27" name="Rectangle 26">
            <a:extLst>
              <a:ext uri="{FF2B5EF4-FFF2-40B4-BE49-F238E27FC236}">
                <a16:creationId xmlns:a16="http://schemas.microsoft.com/office/drawing/2014/main" id="{45C9930D-90A1-478F-AEF7-325493F9E957}"/>
              </a:ext>
            </a:extLst>
          </p:cNvPr>
          <p:cNvSpPr>
            <a:spLocks noGrp="1"/>
          </p:cNvSpPr>
          <p:nvPr/>
        </p:nvSpPr>
        <p:spPr>
          <a:xfrm>
            <a:off x="6610350" y="1619250"/>
            <a:ext cx="1600200" cy="228600"/>
          </a:xfrm>
          <a:prstGeom prst="rect">
            <a:avLst/>
          </a:prstGeom>
          <a:noFill/>
          <a:ln w="0">
            <a:noFill/>
            <a:prstDash val="solid"/>
          </a:ln>
        </p:spPr>
        <p:txBody>
          <a:bodyPr wrap="square" lIns="0" tIns="0" rIns="0" bIns="0" anchor="t">
            <a:normAutofit/>
          </a:bodyPr>
          <a:lstStyle/>
          <a:p>
            <a:pPr algn="ctr">
              <a:defRPr sz="1125" b="1" i="0">
                <a:solidFill>
                  <a:srgbClr val="175CD3"/>
                </a:solidFill>
                <a:latin typeface="Lexend"/>
                <a:ea typeface="Lexend"/>
                <a:cs typeface="Lexend"/>
              </a:defRPr>
            </a:pPr>
            <a:r>
              <a:rPr sz="1125" b="1" i="0">
                <a:solidFill>
                  <a:srgbClr val="175CD3"/>
                </a:solidFill>
                <a:latin typeface="Lexend"/>
                <a:ea typeface="Lexend"/>
                <a:cs typeface="Lexend"/>
              </a:rPr>
              <a:t>YEAR 3</a:t>
            </a:r>
          </a:p>
        </p:txBody>
      </p:sp>
      <p:sp>
        <p:nvSpPr>
          <p:cNvPr id="28" name="Rounded Rectangle 27">
            <a:extLst>
              <a:ext uri="{FF2B5EF4-FFF2-40B4-BE49-F238E27FC236}">
                <a16:creationId xmlns:a16="http://schemas.microsoft.com/office/drawing/2014/main" id="{473F3CC4-E1A5-444E-A6AE-9F8A2221945F}"/>
              </a:ext>
            </a:extLst>
          </p:cNvPr>
          <p:cNvSpPr>
            <a:spLocks noGrp="1"/>
          </p:cNvSpPr>
          <p:nvPr/>
        </p:nvSpPr>
        <p:spPr>
          <a:xfrm>
            <a:off x="6610350" y="2266950"/>
            <a:ext cx="1600200" cy="1181100"/>
          </a:xfrm>
          <a:prstGeom prst="roundRect">
            <a:avLst>
              <a:gd name="adj" fmla="val 12097"/>
            </a:avLst>
          </a:prstGeom>
          <a:solidFill>
            <a:srgbClr val="EAF1FF"/>
          </a:solidFill>
          <a:ln w="9525">
            <a:solidFill>
              <a:srgbClr val="C8D9FF"/>
            </a:solidFill>
            <a:prstDash val="solid"/>
          </a:ln>
        </p:spPr>
      </p:sp>
      <p:sp>
        <p:nvSpPr>
          <p:cNvPr id="29" name="Rectangle 28">
            <a:extLst>
              <a:ext uri="{FF2B5EF4-FFF2-40B4-BE49-F238E27FC236}">
                <a16:creationId xmlns:a16="http://schemas.microsoft.com/office/drawing/2014/main" id="{A07E987B-6024-4D4D-AF40-A1A5F65561A7}"/>
              </a:ext>
            </a:extLst>
          </p:cNvPr>
          <p:cNvSpPr>
            <a:spLocks noGrp="1"/>
          </p:cNvSpPr>
          <p:nvPr/>
        </p:nvSpPr>
        <p:spPr>
          <a:xfrm>
            <a:off x="6705600" y="2438400"/>
            <a:ext cx="1409700" cy="8191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Conditional growth to 40</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Ticketing scope gate</a:t>
            </a:r>
          </a:p>
        </p:txBody>
      </p:sp>
      <p:sp>
        <p:nvSpPr>
          <p:cNvPr id="30" name="Rounded Rectangle 29">
            <a:extLst>
              <a:ext uri="{FF2B5EF4-FFF2-40B4-BE49-F238E27FC236}">
                <a16:creationId xmlns:a16="http://schemas.microsoft.com/office/drawing/2014/main" id="{55F84670-1D88-4601-84A9-EF7DE23CA411}"/>
              </a:ext>
            </a:extLst>
          </p:cNvPr>
          <p:cNvSpPr>
            <a:spLocks noGrp="1"/>
          </p:cNvSpPr>
          <p:nvPr/>
        </p:nvSpPr>
        <p:spPr>
          <a:xfrm>
            <a:off x="6610350" y="3810000"/>
            <a:ext cx="1600200" cy="1181100"/>
          </a:xfrm>
          <a:prstGeom prst="roundRect">
            <a:avLst>
              <a:gd name="adj" fmla="val 12097"/>
            </a:avLst>
          </a:prstGeom>
          <a:solidFill>
            <a:srgbClr val="E8F6F1"/>
          </a:solidFill>
          <a:ln w="9525">
            <a:solidFill>
              <a:srgbClr val="A7E0CC"/>
            </a:solidFill>
            <a:prstDash val="solid"/>
          </a:ln>
        </p:spPr>
      </p:sp>
      <p:sp>
        <p:nvSpPr>
          <p:cNvPr id="31" name="Rectangle 30">
            <a:extLst>
              <a:ext uri="{FF2B5EF4-FFF2-40B4-BE49-F238E27FC236}">
                <a16:creationId xmlns:a16="http://schemas.microsoft.com/office/drawing/2014/main" id="{1751839E-EF06-41C2-8542-F340C699F4AE}"/>
              </a:ext>
            </a:extLst>
          </p:cNvPr>
          <p:cNvSpPr>
            <a:spLocks noGrp="1"/>
          </p:cNvSpPr>
          <p:nvPr/>
        </p:nvSpPr>
        <p:spPr>
          <a:xfrm>
            <a:off x="6705600" y="3962400"/>
            <a:ext cx="1409700" cy="8572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Integrate with operator</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payment / ticketing systems</a:t>
            </a:r>
          </a:p>
        </p:txBody>
      </p:sp>
      <p:sp>
        <p:nvSpPr>
          <p:cNvPr id="32" name="Oval 31">
            <a:extLst>
              <a:ext uri="{FF2B5EF4-FFF2-40B4-BE49-F238E27FC236}">
                <a16:creationId xmlns:a16="http://schemas.microsoft.com/office/drawing/2014/main" id="{FC392792-3D11-44FE-892E-310C26DD5678}"/>
              </a:ext>
            </a:extLst>
          </p:cNvPr>
          <p:cNvSpPr>
            <a:spLocks noGrp="1"/>
          </p:cNvSpPr>
          <p:nvPr/>
        </p:nvSpPr>
        <p:spPr>
          <a:xfrm>
            <a:off x="8991600" y="1914525"/>
            <a:ext cx="209550" cy="209550"/>
          </a:xfrm>
          <a:prstGeom prst="ellipse">
            <a:avLst/>
          </a:prstGeom>
          <a:solidFill>
            <a:srgbClr val="087A55"/>
          </a:solidFill>
          <a:ln w="28575">
            <a:solidFill>
              <a:srgbClr val="F6F7F4"/>
            </a:solidFill>
            <a:prstDash val="solid"/>
          </a:ln>
        </p:spPr>
      </p:sp>
      <p:sp>
        <p:nvSpPr>
          <p:cNvPr id="33" name="Rectangle 32">
            <a:extLst>
              <a:ext uri="{FF2B5EF4-FFF2-40B4-BE49-F238E27FC236}">
                <a16:creationId xmlns:a16="http://schemas.microsoft.com/office/drawing/2014/main" id="{F3E1DB59-1E17-47DD-918B-8B73611514A9}"/>
              </a:ext>
            </a:extLst>
          </p:cNvPr>
          <p:cNvSpPr>
            <a:spLocks noGrp="1"/>
          </p:cNvSpPr>
          <p:nvPr/>
        </p:nvSpPr>
        <p:spPr>
          <a:xfrm>
            <a:off x="8286750" y="1619250"/>
            <a:ext cx="1600200" cy="228600"/>
          </a:xfrm>
          <a:prstGeom prst="rect">
            <a:avLst/>
          </a:prstGeom>
          <a:noFill/>
          <a:ln w="0">
            <a:noFill/>
            <a:prstDash val="solid"/>
          </a:ln>
        </p:spPr>
        <p:txBody>
          <a:bodyPr wrap="square" lIns="0" tIns="0" rIns="0" bIns="0" anchor="t">
            <a:normAutofit/>
          </a:bodyPr>
          <a:lstStyle/>
          <a:p>
            <a:pPr algn="ctr">
              <a:defRPr sz="1125" b="1" i="0">
                <a:solidFill>
                  <a:srgbClr val="087A55"/>
                </a:solidFill>
                <a:latin typeface="Lexend"/>
                <a:ea typeface="Lexend"/>
                <a:cs typeface="Lexend"/>
              </a:defRPr>
            </a:pPr>
            <a:r>
              <a:rPr sz="1125" b="1" i="0">
                <a:solidFill>
                  <a:srgbClr val="087A55"/>
                </a:solidFill>
                <a:latin typeface="Lexend"/>
                <a:ea typeface="Lexend"/>
                <a:cs typeface="Lexend"/>
              </a:rPr>
              <a:t>YEAR 4</a:t>
            </a:r>
          </a:p>
        </p:txBody>
      </p:sp>
      <p:sp>
        <p:nvSpPr>
          <p:cNvPr id="34" name="Rounded Rectangle 33">
            <a:extLst>
              <a:ext uri="{FF2B5EF4-FFF2-40B4-BE49-F238E27FC236}">
                <a16:creationId xmlns:a16="http://schemas.microsoft.com/office/drawing/2014/main" id="{8249C45C-6D9A-45CA-8A2A-41E4492B9FC3}"/>
              </a:ext>
            </a:extLst>
          </p:cNvPr>
          <p:cNvSpPr>
            <a:spLocks noGrp="1"/>
          </p:cNvSpPr>
          <p:nvPr/>
        </p:nvSpPr>
        <p:spPr>
          <a:xfrm>
            <a:off x="8286750" y="2266950"/>
            <a:ext cx="1600200" cy="1181100"/>
          </a:xfrm>
          <a:prstGeom prst="roundRect">
            <a:avLst>
              <a:gd name="adj" fmla="val 12097"/>
            </a:avLst>
          </a:prstGeom>
          <a:solidFill>
            <a:srgbClr val="EAF1FF"/>
          </a:solidFill>
          <a:ln w="9525">
            <a:solidFill>
              <a:srgbClr val="C8D9FF"/>
            </a:solidFill>
            <a:prstDash val="solid"/>
          </a:ln>
        </p:spPr>
      </p:sp>
      <p:sp>
        <p:nvSpPr>
          <p:cNvPr id="35" name="Rectangle 34">
            <a:extLst>
              <a:ext uri="{FF2B5EF4-FFF2-40B4-BE49-F238E27FC236}">
                <a16:creationId xmlns:a16="http://schemas.microsoft.com/office/drawing/2014/main" id="{F6E4ED24-2D05-4B74-8B92-C7E4A749BF25}"/>
              </a:ext>
            </a:extLst>
          </p:cNvPr>
          <p:cNvSpPr>
            <a:spLocks noGrp="1"/>
          </p:cNvSpPr>
          <p:nvPr/>
        </p:nvSpPr>
        <p:spPr>
          <a:xfrm>
            <a:off x="8382000" y="2438400"/>
            <a:ext cx="1409700" cy="8191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Passenger premium only</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after WTP validation</a:t>
            </a:r>
          </a:p>
        </p:txBody>
      </p:sp>
      <p:sp>
        <p:nvSpPr>
          <p:cNvPr id="36" name="Rounded Rectangle 35">
            <a:extLst>
              <a:ext uri="{FF2B5EF4-FFF2-40B4-BE49-F238E27FC236}">
                <a16:creationId xmlns:a16="http://schemas.microsoft.com/office/drawing/2014/main" id="{B3F20FCA-7C14-4822-ACA9-5C23A6A3A292}"/>
              </a:ext>
            </a:extLst>
          </p:cNvPr>
          <p:cNvSpPr>
            <a:spLocks noGrp="1"/>
          </p:cNvSpPr>
          <p:nvPr/>
        </p:nvSpPr>
        <p:spPr>
          <a:xfrm>
            <a:off x="8286750" y="3810000"/>
            <a:ext cx="1600200" cy="1181100"/>
          </a:xfrm>
          <a:prstGeom prst="roundRect">
            <a:avLst>
              <a:gd name="adj" fmla="val 12097"/>
            </a:avLst>
          </a:prstGeom>
          <a:solidFill>
            <a:srgbClr val="E8F6F1"/>
          </a:solidFill>
          <a:ln w="9525">
            <a:solidFill>
              <a:srgbClr val="A7E0CC"/>
            </a:solidFill>
            <a:prstDash val="solid"/>
          </a:ln>
        </p:spPr>
      </p:sp>
      <p:sp>
        <p:nvSpPr>
          <p:cNvPr id="37" name="Rectangle 36">
            <a:extLst>
              <a:ext uri="{FF2B5EF4-FFF2-40B4-BE49-F238E27FC236}">
                <a16:creationId xmlns:a16="http://schemas.microsoft.com/office/drawing/2014/main" id="{B7E63BB9-C921-4B0B-B8AE-1B783A3C8DFD}"/>
              </a:ext>
            </a:extLst>
          </p:cNvPr>
          <p:cNvSpPr>
            <a:spLocks noGrp="1"/>
          </p:cNvSpPr>
          <p:nvPr/>
        </p:nvSpPr>
        <p:spPr>
          <a:xfrm>
            <a:off x="8382000" y="3962400"/>
            <a:ext cx="1409700" cy="8572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Profiles · alerts · rebooking</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History · priority support</a:t>
            </a:r>
          </a:p>
        </p:txBody>
      </p:sp>
      <p:sp>
        <p:nvSpPr>
          <p:cNvPr id="38" name="Oval 37">
            <a:extLst>
              <a:ext uri="{FF2B5EF4-FFF2-40B4-BE49-F238E27FC236}">
                <a16:creationId xmlns:a16="http://schemas.microsoft.com/office/drawing/2014/main" id="{FAA0F944-567C-405A-AE68-6BFF54248AC7}"/>
              </a:ext>
            </a:extLst>
          </p:cNvPr>
          <p:cNvSpPr>
            <a:spLocks noGrp="1"/>
          </p:cNvSpPr>
          <p:nvPr/>
        </p:nvSpPr>
        <p:spPr>
          <a:xfrm>
            <a:off x="10668000" y="1914525"/>
            <a:ext cx="209550" cy="209550"/>
          </a:xfrm>
          <a:prstGeom prst="ellipse">
            <a:avLst/>
          </a:prstGeom>
          <a:solidFill>
            <a:srgbClr val="087A55"/>
          </a:solidFill>
          <a:ln w="28575">
            <a:solidFill>
              <a:srgbClr val="F6F7F4"/>
            </a:solidFill>
            <a:prstDash val="solid"/>
          </a:ln>
        </p:spPr>
      </p:sp>
      <p:sp>
        <p:nvSpPr>
          <p:cNvPr id="39" name="Rectangle 38">
            <a:extLst>
              <a:ext uri="{FF2B5EF4-FFF2-40B4-BE49-F238E27FC236}">
                <a16:creationId xmlns:a16="http://schemas.microsoft.com/office/drawing/2014/main" id="{5D7A25D1-8428-4AE5-8A62-8029335CF457}"/>
              </a:ext>
            </a:extLst>
          </p:cNvPr>
          <p:cNvSpPr>
            <a:spLocks noGrp="1"/>
          </p:cNvSpPr>
          <p:nvPr/>
        </p:nvSpPr>
        <p:spPr>
          <a:xfrm>
            <a:off x="9963150" y="1619250"/>
            <a:ext cx="1600200" cy="228600"/>
          </a:xfrm>
          <a:prstGeom prst="rect">
            <a:avLst/>
          </a:prstGeom>
          <a:noFill/>
          <a:ln w="0">
            <a:noFill/>
            <a:prstDash val="solid"/>
          </a:ln>
        </p:spPr>
        <p:txBody>
          <a:bodyPr wrap="square" lIns="0" tIns="0" rIns="0" bIns="0" anchor="t">
            <a:normAutofit/>
          </a:bodyPr>
          <a:lstStyle/>
          <a:p>
            <a:pPr algn="ctr">
              <a:defRPr sz="1125" b="1" i="0">
                <a:solidFill>
                  <a:srgbClr val="087A55"/>
                </a:solidFill>
                <a:latin typeface="Lexend"/>
                <a:ea typeface="Lexend"/>
                <a:cs typeface="Lexend"/>
              </a:defRPr>
            </a:pPr>
            <a:r>
              <a:rPr sz="1125" b="1" i="0">
                <a:solidFill>
                  <a:srgbClr val="087A55"/>
                </a:solidFill>
                <a:latin typeface="Lexend"/>
                <a:ea typeface="Lexend"/>
                <a:cs typeface="Lexend"/>
              </a:rPr>
              <a:t>YEAR 5</a:t>
            </a:r>
          </a:p>
        </p:txBody>
      </p:sp>
      <p:sp>
        <p:nvSpPr>
          <p:cNvPr id="40" name="Rounded Rectangle 39">
            <a:extLst>
              <a:ext uri="{FF2B5EF4-FFF2-40B4-BE49-F238E27FC236}">
                <a16:creationId xmlns:a16="http://schemas.microsoft.com/office/drawing/2014/main" id="{C2F79BA7-2DE9-4CBE-9957-DB388DC2D69E}"/>
              </a:ext>
            </a:extLst>
          </p:cNvPr>
          <p:cNvSpPr>
            <a:spLocks noGrp="1"/>
          </p:cNvSpPr>
          <p:nvPr/>
        </p:nvSpPr>
        <p:spPr>
          <a:xfrm>
            <a:off x="9963150" y="2266950"/>
            <a:ext cx="1600200" cy="1181100"/>
          </a:xfrm>
          <a:prstGeom prst="roundRect">
            <a:avLst>
              <a:gd name="adj" fmla="val 12097"/>
            </a:avLst>
          </a:prstGeom>
          <a:solidFill>
            <a:srgbClr val="EAF1FF"/>
          </a:solidFill>
          <a:ln w="9525">
            <a:solidFill>
              <a:srgbClr val="C8D9FF"/>
            </a:solidFill>
            <a:prstDash val="solid"/>
          </a:ln>
        </p:spPr>
      </p:sp>
      <p:sp>
        <p:nvSpPr>
          <p:cNvPr id="41" name="Rectangle 40">
            <a:extLst>
              <a:ext uri="{FF2B5EF4-FFF2-40B4-BE49-F238E27FC236}">
                <a16:creationId xmlns:a16="http://schemas.microsoft.com/office/drawing/2014/main" id="{C907DCEC-C581-48E7-BC54-3687978937B9}"/>
              </a:ext>
            </a:extLst>
          </p:cNvPr>
          <p:cNvSpPr>
            <a:spLocks noGrp="1"/>
          </p:cNvSpPr>
          <p:nvPr/>
        </p:nvSpPr>
        <p:spPr>
          <a:xfrm>
            <a:off x="10058400" y="2438400"/>
            <a:ext cx="1409700" cy="8191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Philippines expansion</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then evidence-gated ASEAN</a:t>
            </a:r>
          </a:p>
        </p:txBody>
      </p:sp>
      <p:sp>
        <p:nvSpPr>
          <p:cNvPr id="42" name="Rounded Rectangle 41">
            <a:extLst>
              <a:ext uri="{FF2B5EF4-FFF2-40B4-BE49-F238E27FC236}">
                <a16:creationId xmlns:a16="http://schemas.microsoft.com/office/drawing/2014/main" id="{39A76AF1-339C-44B8-BEA7-EC880F796EC3}"/>
              </a:ext>
            </a:extLst>
          </p:cNvPr>
          <p:cNvSpPr>
            <a:spLocks noGrp="1"/>
          </p:cNvSpPr>
          <p:nvPr/>
        </p:nvSpPr>
        <p:spPr>
          <a:xfrm>
            <a:off x="9963150" y="3810000"/>
            <a:ext cx="1600200" cy="1181100"/>
          </a:xfrm>
          <a:prstGeom prst="roundRect">
            <a:avLst>
              <a:gd name="adj" fmla="val 12097"/>
            </a:avLst>
          </a:prstGeom>
          <a:solidFill>
            <a:srgbClr val="E8F6F1"/>
          </a:solidFill>
          <a:ln w="9525">
            <a:solidFill>
              <a:srgbClr val="A7E0CC"/>
            </a:solidFill>
            <a:prstDash val="solid"/>
          </a:ln>
        </p:spPr>
      </p:sp>
      <p:sp>
        <p:nvSpPr>
          <p:cNvPr id="43" name="Rectangle 42">
            <a:extLst>
              <a:ext uri="{FF2B5EF4-FFF2-40B4-BE49-F238E27FC236}">
                <a16:creationId xmlns:a16="http://schemas.microsoft.com/office/drawing/2014/main" id="{9B96BC66-E575-4BE4-B011-2B201120D49A}"/>
              </a:ext>
            </a:extLst>
          </p:cNvPr>
          <p:cNvSpPr>
            <a:spLocks noGrp="1"/>
          </p:cNvSpPr>
          <p:nvPr/>
        </p:nvSpPr>
        <p:spPr>
          <a:xfrm>
            <a:off x="10058400" y="3962400"/>
            <a:ext cx="1409700" cy="857250"/>
          </a:xfrm>
          <a:prstGeom prst="rect">
            <a:avLst/>
          </a:prstGeom>
          <a:noFill/>
          <a:ln w="0">
            <a:noFill/>
            <a:prstDash val="solid"/>
          </a:ln>
        </p:spPr>
        <p:txBody>
          <a:bodyPr wrap="square" lIns="0" tIns="0" rIns="0" bIns="0" anchor="ctr">
            <a:normAutofit/>
          </a:bodyPr>
          <a:lstStyle/>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Localization · integrations</a:t>
            </a:r>
          </a:p>
          <a:p>
            <a:pPr algn="ctr">
              <a:defRPr sz="1050" b="1" i="0">
                <a:solidFill>
                  <a:srgbClr val="132238"/>
                </a:solidFill>
                <a:latin typeface="Source Sans 3"/>
                <a:ea typeface="Source Sans 3"/>
                <a:cs typeface="Source Sans 3"/>
              </a:defRPr>
            </a:pPr>
            <a:r>
              <a:rPr sz="1050" b="1" i="0">
                <a:solidFill>
                  <a:srgbClr val="132238"/>
                </a:solidFill>
                <a:latin typeface="Source Sans 3"/>
                <a:ea typeface="Source Sans 3"/>
                <a:cs typeface="Source Sans 3"/>
              </a:rPr>
              <a:t>Language · compliance</a:t>
            </a:r>
          </a:p>
        </p:txBody>
      </p:sp>
      <p:sp>
        <p:nvSpPr>
          <p:cNvPr id="44" name="Rectangle 43">
            <a:extLst>
              <a:ext uri="{FF2B5EF4-FFF2-40B4-BE49-F238E27FC236}">
                <a16:creationId xmlns:a16="http://schemas.microsoft.com/office/drawing/2014/main" id="{2D557621-0A70-4CEC-B581-2A6BDAA0A89F}"/>
              </a:ext>
            </a:extLst>
          </p:cNvPr>
          <p:cNvSpPr>
            <a:spLocks noGrp="1"/>
          </p:cNvSpPr>
          <p:nvPr/>
        </p:nvSpPr>
        <p:spPr>
          <a:xfrm>
            <a:off x="342900" y="5486400"/>
            <a:ext cx="1104900" cy="285750"/>
          </a:xfrm>
          <a:prstGeom prst="rect">
            <a:avLst/>
          </a:prstGeom>
          <a:noFill/>
          <a:ln w="0">
            <a:noFill/>
            <a:prstDash val="solid"/>
          </a:ln>
        </p:spPr>
        <p:txBody>
          <a:bodyPr wrap="square" lIns="0" tIns="0" rIns="0" bIns="0" anchor="t">
            <a:normAutofit fontScale="96225"/>
          </a:bodyPr>
          <a:lstStyle/>
          <a:p>
            <a:pPr algn="r">
              <a:defRPr sz="1050" b="1" i="0">
                <a:solidFill>
                  <a:srgbClr val="5F6B7A"/>
                </a:solidFill>
                <a:latin typeface="Lexend"/>
                <a:ea typeface="Lexend"/>
                <a:cs typeface="Lexend"/>
              </a:defRPr>
            </a:pPr>
            <a:r>
              <a:rPr sz="1050" b="1" i="0">
                <a:solidFill>
                  <a:srgbClr val="5F6B7A"/>
                </a:solidFill>
                <a:latin typeface="Lexend"/>
                <a:ea typeface="Lexend"/>
                <a:cs typeface="Lexend"/>
              </a:rPr>
              <a:t>EVIDENCE GATES</a:t>
            </a:r>
          </a:p>
        </p:txBody>
      </p:sp>
      <p:sp>
        <p:nvSpPr>
          <p:cNvPr id="45" name="Rounded Rectangle 44">
            <a:extLst>
              <a:ext uri="{FF2B5EF4-FFF2-40B4-BE49-F238E27FC236}">
                <a16:creationId xmlns:a16="http://schemas.microsoft.com/office/drawing/2014/main" id="{990BC0FC-A516-4F95-A59C-9E49CBA6F87B}"/>
              </a:ext>
            </a:extLst>
          </p:cNvPr>
          <p:cNvSpPr>
            <a:spLocks noGrp="1"/>
          </p:cNvSpPr>
          <p:nvPr/>
        </p:nvSpPr>
        <p:spPr>
          <a:xfrm>
            <a:off x="1581150" y="5410200"/>
            <a:ext cx="14668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825" b="1" i="0">
                <a:solidFill>
                  <a:srgbClr val="B54708"/>
                </a:solidFill>
                <a:latin typeface="Lexend"/>
                <a:ea typeface="Lexend"/>
                <a:cs typeface="Lexend"/>
              </a:defRPr>
            </a:pPr>
            <a:r>
              <a:rPr sz="825" b="1" i="0">
                <a:solidFill>
                  <a:srgbClr val="B54708"/>
                </a:solidFill>
                <a:latin typeface="Lexend"/>
                <a:ea typeface="Lexend"/>
                <a:cs typeface="Lexend"/>
              </a:rPr>
              <a:t>PROTOTYPE</a:t>
            </a:r>
          </a:p>
        </p:txBody>
      </p:sp>
      <p:sp>
        <p:nvSpPr>
          <p:cNvPr id="46" name="Rounded Rectangle 45">
            <a:extLst>
              <a:ext uri="{FF2B5EF4-FFF2-40B4-BE49-F238E27FC236}">
                <a16:creationId xmlns:a16="http://schemas.microsoft.com/office/drawing/2014/main" id="{B95972ED-7CE2-4B54-AF4B-5112744397A1}"/>
              </a:ext>
            </a:extLst>
          </p:cNvPr>
          <p:cNvSpPr>
            <a:spLocks noGrp="1"/>
          </p:cNvSpPr>
          <p:nvPr/>
        </p:nvSpPr>
        <p:spPr>
          <a:xfrm>
            <a:off x="3286125" y="5410200"/>
            <a:ext cx="146685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825" b="1" i="0">
                <a:solidFill>
                  <a:srgbClr val="175CD3"/>
                </a:solidFill>
                <a:latin typeface="Lexend"/>
                <a:ea typeface="Lexend"/>
                <a:cs typeface="Lexend"/>
              </a:defRPr>
            </a:pPr>
            <a:r>
              <a:rPr sz="825" b="1" i="0">
                <a:solidFill>
                  <a:srgbClr val="175CD3"/>
                </a:solidFill>
                <a:latin typeface="Lexend"/>
                <a:ea typeface="Lexend"/>
                <a:cs typeface="Lexend"/>
              </a:rPr>
              <a:t>PAID PILOT</a:t>
            </a:r>
          </a:p>
        </p:txBody>
      </p:sp>
      <p:sp>
        <p:nvSpPr>
          <p:cNvPr id="47" name="Rounded Rectangle 46">
            <a:extLst>
              <a:ext uri="{FF2B5EF4-FFF2-40B4-BE49-F238E27FC236}">
                <a16:creationId xmlns:a16="http://schemas.microsoft.com/office/drawing/2014/main" id="{4BB202A6-101D-4EB1-8C5A-E1D3B1AD728A}"/>
              </a:ext>
            </a:extLst>
          </p:cNvPr>
          <p:cNvSpPr>
            <a:spLocks noGrp="1"/>
          </p:cNvSpPr>
          <p:nvPr/>
        </p:nvSpPr>
        <p:spPr>
          <a:xfrm>
            <a:off x="4991100" y="5410200"/>
            <a:ext cx="146685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825" b="1" i="0">
                <a:solidFill>
                  <a:srgbClr val="175CD3"/>
                </a:solidFill>
                <a:latin typeface="Lexend"/>
                <a:ea typeface="Lexend"/>
                <a:cs typeface="Lexend"/>
              </a:defRPr>
            </a:pPr>
            <a:r>
              <a:rPr sz="825" b="1" i="0">
                <a:solidFill>
                  <a:srgbClr val="175CD3"/>
                </a:solidFill>
                <a:latin typeface="Lexend"/>
                <a:ea typeface="Lexend"/>
                <a:cs typeface="Lexend"/>
              </a:rPr>
              <a:t>SCALE</a:t>
            </a:r>
          </a:p>
        </p:txBody>
      </p:sp>
      <p:sp>
        <p:nvSpPr>
          <p:cNvPr id="48" name="Rounded Rectangle 47">
            <a:extLst>
              <a:ext uri="{FF2B5EF4-FFF2-40B4-BE49-F238E27FC236}">
                <a16:creationId xmlns:a16="http://schemas.microsoft.com/office/drawing/2014/main" id="{3C2A9D11-621A-429F-BBE0-70709BEA38C3}"/>
              </a:ext>
            </a:extLst>
          </p:cNvPr>
          <p:cNvSpPr>
            <a:spLocks noGrp="1"/>
          </p:cNvSpPr>
          <p:nvPr/>
        </p:nvSpPr>
        <p:spPr>
          <a:xfrm>
            <a:off x="6696075" y="5410200"/>
            <a:ext cx="1466850" cy="266700"/>
          </a:xfrm>
          <a:prstGeom prst="roundRect">
            <a:avLst>
              <a:gd name="adj" fmla="val 50000"/>
            </a:avLst>
          </a:prstGeom>
          <a:solidFill>
            <a:srgbClr val="E8F6F1"/>
          </a:solidFill>
          <a:ln w="9525">
            <a:solidFill>
              <a:srgbClr val="A7E0CC"/>
            </a:solidFill>
            <a:prstDash val="solid"/>
          </a:ln>
        </p:spPr>
        <p:txBody>
          <a:bodyPr wrap="square" lIns="76200" tIns="19050" rIns="76200" bIns="19050" anchor="ctr">
            <a:normAutofit/>
          </a:bodyPr>
          <a:lstStyle/>
          <a:p>
            <a:pPr algn="ctr">
              <a:defRPr sz="825" b="1" i="0">
                <a:solidFill>
                  <a:srgbClr val="087A55"/>
                </a:solidFill>
                <a:latin typeface="Lexend"/>
                <a:ea typeface="Lexend"/>
                <a:cs typeface="Lexend"/>
              </a:defRPr>
            </a:pPr>
            <a:r>
              <a:rPr sz="825" b="1" i="0">
                <a:solidFill>
                  <a:srgbClr val="087A55"/>
                </a:solidFill>
                <a:latin typeface="Lexend"/>
                <a:ea typeface="Lexend"/>
                <a:cs typeface="Lexend"/>
              </a:rPr>
              <a:t>B2B2C VALIDATION</a:t>
            </a:r>
          </a:p>
        </p:txBody>
      </p:sp>
      <p:sp>
        <p:nvSpPr>
          <p:cNvPr id="49" name="Rounded Rectangle 48">
            <a:extLst>
              <a:ext uri="{FF2B5EF4-FFF2-40B4-BE49-F238E27FC236}">
                <a16:creationId xmlns:a16="http://schemas.microsoft.com/office/drawing/2014/main" id="{1C265732-E578-425C-AB03-0822E9AFA071}"/>
              </a:ext>
            </a:extLst>
          </p:cNvPr>
          <p:cNvSpPr>
            <a:spLocks noGrp="1"/>
          </p:cNvSpPr>
          <p:nvPr/>
        </p:nvSpPr>
        <p:spPr>
          <a:xfrm>
            <a:off x="8401050" y="5410200"/>
            <a:ext cx="1466850" cy="266700"/>
          </a:xfrm>
          <a:prstGeom prst="roundRect">
            <a:avLst>
              <a:gd name="adj" fmla="val 50000"/>
            </a:avLst>
          </a:prstGeom>
          <a:solidFill>
            <a:srgbClr val="E8F6F1"/>
          </a:solidFill>
          <a:ln w="9525">
            <a:solidFill>
              <a:srgbClr val="A7E0CC"/>
            </a:solidFill>
            <a:prstDash val="solid"/>
          </a:ln>
        </p:spPr>
        <p:txBody>
          <a:bodyPr wrap="square" lIns="76200" tIns="19050" rIns="76200" bIns="19050" anchor="ctr">
            <a:normAutofit/>
          </a:bodyPr>
          <a:lstStyle/>
          <a:p>
            <a:pPr algn="ctr">
              <a:defRPr sz="825" b="1" i="0">
                <a:solidFill>
                  <a:srgbClr val="087A55"/>
                </a:solidFill>
                <a:latin typeface="Lexend"/>
                <a:ea typeface="Lexend"/>
                <a:cs typeface="Lexend"/>
              </a:defRPr>
            </a:pPr>
            <a:r>
              <a:rPr sz="825" b="1" i="0">
                <a:solidFill>
                  <a:srgbClr val="087A55"/>
                </a:solidFill>
                <a:latin typeface="Lexend"/>
                <a:ea typeface="Lexend"/>
                <a:cs typeface="Lexend"/>
              </a:rPr>
              <a:t>PREMIUM</a:t>
            </a:r>
          </a:p>
        </p:txBody>
      </p:sp>
      <p:sp>
        <p:nvSpPr>
          <p:cNvPr id="50" name="Rounded Rectangle 49">
            <a:extLst>
              <a:ext uri="{FF2B5EF4-FFF2-40B4-BE49-F238E27FC236}">
                <a16:creationId xmlns:a16="http://schemas.microsoft.com/office/drawing/2014/main" id="{E3FCF997-952A-44FC-ACD4-F169401D5F0B}"/>
              </a:ext>
            </a:extLst>
          </p:cNvPr>
          <p:cNvSpPr>
            <a:spLocks noGrp="1"/>
          </p:cNvSpPr>
          <p:nvPr/>
        </p:nvSpPr>
        <p:spPr>
          <a:xfrm>
            <a:off x="10106025" y="5410200"/>
            <a:ext cx="1466850" cy="266700"/>
          </a:xfrm>
          <a:prstGeom prst="roundRect">
            <a:avLst>
              <a:gd name="adj" fmla="val 50000"/>
            </a:avLst>
          </a:prstGeom>
          <a:solidFill>
            <a:srgbClr val="E8F6F1"/>
          </a:solidFill>
          <a:ln w="9525">
            <a:solidFill>
              <a:srgbClr val="A7E0CC"/>
            </a:solidFill>
            <a:prstDash val="solid"/>
          </a:ln>
        </p:spPr>
        <p:txBody>
          <a:bodyPr wrap="square" lIns="76200" tIns="19050" rIns="76200" bIns="19050" anchor="ctr">
            <a:normAutofit/>
          </a:bodyPr>
          <a:lstStyle/>
          <a:p>
            <a:pPr algn="ctr">
              <a:defRPr sz="825" b="1" i="0">
                <a:solidFill>
                  <a:srgbClr val="087A55"/>
                </a:solidFill>
                <a:latin typeface="Lexend"/>
                <a:ea typeface="Lexend"/>
                <a:cs typeface="Lexend"/>
              </a:defRPr>
            </a:pPr>
            <a:r>
              <a:rPr sz="825" b="1" i="0">
                <a:solidFill>
                  <a:srgbClr val="087A55"/>
                </a:solidFill>
                <a:latin typeface="Lexend"/>
                <a:ea typeface="Lexend"/>
                <a:cs typeface="Lexend"/>
              </a:rPr>
              <a:t>GEOGRAPHY</a:t>
            </a:r>
          </a:p>
        </p:txBody>
      </p:sp>
      <p:sp>
        <p:nvSpPr>
          <p:cNvPr id="51" name="Rectangle 50">
            <a:extLst>
              <a:ext uri="{FF2B5EF4-FFF2-40B4-BE49-F238E27FC236}">
                <a16:creationId xmlns:a16="http://schemas.microsoft.com/office/drawing/2014/main" id="{840F0500-A44B-4856-92F9-47D34C8B70A6}"/>
              </a:ext>
            </a:extLst>
          </p:cNvPr>
          <p:cNvSpPr>
            <a:spLocks noGrp="1"/>
          </p:cNvSpPr>
          <p:nvPr/>
        </p:nvSpPr>
        <p:spPr>
          <a:xfrm>
            <a:off x="1581150" y="6000750"/>
            <a:ext cx="9667875" cy="266700"/>
          </a:xfrm>
          <a:prstGeom prst="rect">
            <a:avLst/>
          </a:prstGeom>
          <a:noFill/>
          <a:ln w="0">
            <a:noFill/>
            <a:prstDash val="solid"/>
          </a:ln>
        </p:spPr>
        <p:txBody>
          <a:bodyPr wrap="square" lIns="0" tIns="0" rIns="0" bIns="0" anchor="t">
            <a:normAutofit/>
          </a:bodyPr>
          <a:lstStyle/>
          <a:p>
            <a:pPr algn="ctr">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Passenger-premium pricing remains unspecified until willingness-to-pay validation.</a:t>
            </a:r>
          </a:p>
        </p:txBody>
      </p:sp>
      <p:sp>
        <p:nvSpPr>
          <p:cNvPr id="52" name="Straight Connector 51">
            <a:extLst>
              <a:ext uri="{FF2B5EF4-FFF2-40B4-BE49-F238E27FC236}">
                <a16:creationId xmlns:a16="http://schemas.microsoft.com/office/drawing/2014/main" id="{404CA127-622F-4EDB-8BE4-E063D38606C5}"/>
              </a:ext>
            </a:extLst>
          </p:cNvPr>
          <p:cNvSpPr>
            <a:spLocks noGrp="1"/>
          </p:cNvSpPr>
          <p:nvPr/>
        </p:nvSpPr>
        <p:spPr>
          <a:xfrm>
            <a:off x="533400" y="6477000"/>
            <a:ext cx="11125200" cy="0"/>
          </a:xfrm>
          <a:prstGeom prst="line">
            <a:avLst/>
          </a:prstGeom>
          <a:noFill/>
          <a:ln w="9525">
            <a:solidFill>
              <a:srgbClr val="D8DEE8"/>
            </a:solidFill>
            <a:prstDash val="solid"/>
          </a:ln>
        </p:spPr>
      </p:sp>
      <p:sp>
        <p:nvSpPr>
          <p:cNvPr id="53" name="Rectangle 52">
            <a:extLst>
              <a:ext uri="{FF2B5EF4-FFF2-40B4-BE49-F238E27FC236}">
                <a16:creationId xmlns:a16="http://schemas.microsoft.com/office/drawing/2014/main" id="{461C9825-5D4C-4CE3-90D3-836642F1CDA2}"/>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Source: TripSync business plan · Years 1–3 preserved; Years 4–5 are evidence-gated extensions approved for this deck</a:t>
            </a:r>
          </a:p>
        </p:txBody>
      </p:sp>
    </p:spTree>
    <p:extLst>
      <p:ext uri="{BB962C8B-B14F-4D97-AF65-F5344CB8AC3E}">
        <p14:creationId xmlns:p14="http://schemas.microsoft.com/office/powerpoint/2010/main" val="1919478888"/>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BBE16219-31E5-424A-AE7C-A21CCC456EDC}"/>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ANA</a:t>
            </a:r>
          </a:p>
        </p:txBody>
      </p:sp>
      <p:sp>
        <p:nvSpPr>
          <p:cNvPr id="2" name="slide-14-title">
            <a:extLst>
              <a:ext uri="{FF2B5EF4-FFF2-40B4-BE49-F238E27FC236}">
                <a16:creationId xmlns:a16="http://schemas.microsoft.com/office/drawing/2014/main" id="{C057A141-3C6D-40E7-BC5F-BB1B8C58D9FC}"/>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Promise and call to action</a:t>
            </a:r>
          </a:p>
        </p:txBody>
      </p:sp>
      <p:sp>
        <p:nvSpPr>
          <p:cNvPr id="3" name="Rectangle 2">
            <a:extLst>
              <a:ext uri="{FF2B5EF4-FFF2-40B4-BE49-F238E27FC236}">
                <a16:creationId xmlns:a16="http://schemas.microsoft.com/office/drawing/2014/main" id="{538958C1-D68E-4731-ABA4-FBE78A5347AD}"/>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Close with one promise and one decision request.</a:t>
            </a:r>
          </a:p>
        </p:txBody>
      </p:sp>
      <p:sp>
        <p:nvSpPr>
          <p:cNvPr id="4" name="Rectangle 3">
            <a:extLst>
              <a:ext uri="{FF2B5EF4-FFF2-40B4-BE49-F238E27FC236}">
                <a16:creationId xmlns:a16="http://schemas.microsoft.com/office/drawing/2014/main" id="{55F936F5-943A-4DBE-A1A8-A985775000C3}"/>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r>
              <a:rPr sz="1125" b="1" i="0">
                <a:solidFill>
                  <a:srgbClr val="8C98A8"/>
                </a:solidFill>
                <a:latin typeface="Lexend"/>
                <a:ea typeface="Lexend"/>
                <a:cs typeface="Lexend"/>
              </a:rPr>
              <a:t>14</a:t>
            </a:r>
          </a:p>
        </p:txBody>
      </p:sp>
      <p:sp>
        <p:nvSpPr>
          <p:cNvPr id="5" name="Rounded Rectangle 4">
            <a:extLst>
              <a:ext uri="{FF2B5EF4-FFF2-40B4-BE49-F238E27FC236}">
                <a16:creationId xmlns:a16="http://schemas.microsoft.com/office/drawing/2014/main" id="{0FE9A357-83F0-4EF6-B123-92695C825545}"/>
              </a:ext>
            </a:extLst>
          </p:cNvPr>
          <p:cNvSpPr>
            <a:spLocks noGrp="1"/>
          </p:cNvSpPr>
          <p:nvPr/>
        </p:nvSpPr>
        <p:spPr>
          <a:xfrm>
            <a:off x="704850" y="1943100"/>
            <a:ext cx="10782300" cy="2305050"/>
          </a:xfrm>
          <a:prstGeom prst="roundRect">
            <a:avLst>
              <a:gd name="adj" fmla="val 11570"/>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6" name="Rectangle 5">
            <a:extLst>
              <a:ext uri="{FF2B5EF4-FFF2-40B4-BE49-F238E27FC236}">
                <a16:creationId xmlns:a16="http://schemas.microsoft.com/office/drawing/2014/main" id="{E6F9E814-7FB0-4FF9-95DB-15683DE412A4}"/>
              </a:ext>
            </a:extLst>
          </p:cNvPr>
          <p:cNvSpPr>
            <a:spLocks noGrp="1"/>
          </p:cNvSpPr>
          <p:nvPr/>
        </p:nvSpPr>
        <p:spPr>
          <a:xfrm>
            <a:off x="1181100" y="2571750"/>
            <a:ext cx="9829800" cy="800100"/>
          </a:xfrm>
          <a:prstGeom prst="rect">
            <a:avLst/>
          </a:prstGeom>
          <a:noFill/>
          <a:ln w="0">
            <a:noFill/>
            <a:prstDash val="solid"/>
          </a:ln>
        </p:spPr>
        <p:txBody>
          <a:bodyPr wrap="square" lIns="0" tIns="0" rIns="0" bIns="0" anchor="ctr">
            <a:normAutofit/>
          </a:bodyPr>
          <a:lstStyle/>
          <a:p>
            <a:pPr algn="ctr">
              <a:defRPr sz="2925" b="1" i="0">
                <a:solidFill>
                  <a:srgbClr val="132238"/>
                </a:solidFill>
                <a:latin typeface="Lexend"/>
                <a:ea typeface="Lexend"/>
                <a:cs typeface="Lexend"/>
              </a:defRPr>
            </a:pPr>
            <a:r>
              <a:rPr sz="2925" b="1" i="0">
                <a:solidFill>
                  <a:srgbClr val="132238"/>
                </a:solidFill>
                <a:latin typeface="Lexend"/>
                <a:ea typeface="Lexend"/>
                <a:cs typeface="Lexend"/>
              </a:rPr>
              <a:t>“[ Insert one owner-approved promise. ]”</a:t>
            </a:r>
          </a:p>
        </p:txBody>
      </p:sp>
      <p:sp>
        <p:nvSpPr>
          <p:cNvPr id="7" name="Rounded Rectangle 6">
            <a:extLst>
              <a:ext uri="{FF2B5EF4-FFF2-40B4-BE49-F238E27FC236}">
                <a16:creationId xmlns:a16="http://schemas.microsoft.com/office/drawing/2014/main" id="{F1F5269C-B36C-4069-B45C-C19C6448EDC7}"/>
              </a:ext>
            </a:extLst>
          </p:cNvPr>
          <p:cNvSpPr>
            <a:spLocks noGrp="1"/>
          </p:cNvSpPr>
          <p:nvPr/>
        </p:nvSpPr>
        <p:spPr>
          <a:xfrm>
            <a:off x="704850" y="4629150"/>
            <a:ext cx="5200650" cy="1238250"/>
          </a:xfrm>
          <a:prstGeom prst="roundRect">
            <a:avLst>
              <a:gd name="adj" fmla="val 16923"/>
            </a:avLst>
          </a:prstGeom>
          <a:solidFill>
            <a:srgbClr val="EAF1FF"/>
          </a:solidFill>
          <a:ln w="9525">
            <a:solidFill>
              <a:srgbClr val="C8D9FF"/>
            </a:solidFill>
            <a:prstDash val="solid"/>
          </a:ln>
        </p:spPr>
      </p:sp>
      <p:sp>
        <p:nvSpPr>
          <p:cNvPr id="8" name="Rounded Rectangle 7">
            <a:extLst>
              <a:ext uri="{FF2B5EF4-FFF2-40B4-BE49-F238E27FC236}">
                <a16:creationId xmlns:a16="http://schemas.microsoft.com/office/drawing/2014/main" id="{17851A82-2765-45AD-AC6F-97FD1C6C40EE}"/>
              </a:ext>
            </a:extLst>
          </p:cNvPr>
          <p:cNvSpPr>
            <a:spLocks noGrp="1"/>
          </p:cNvSpPr>
          <p:nvPr/>
        </p:nvSpPr>
        <p:spPr>
          <a:xfrm>
            <a:off x="933450" y="4838700"/>
            <a:ext cx="1524000" cy="266700"/>
          </a:xfrm>
          <a:prstGeom prst="roundRect">
            <a:avLst>
              <a:gd name="adj" fmla="val 50000"/>
            </a:avLst>
          </a:prstGeom>
          <a:solidFill>
            <a:srgbClr val="DDE9FF"/>
          </a:solidFill>
          <a:ln w="9525">
            <a:solidFill>
              <a:srgbClr val="C8D9FF"/>
            </a:solidFill>
            <a:prstDash val="solid"/>
          </a:ln>
        </p:spPr>
        <p:txBody>
          <a:bodyPr wrap="square" lIns="76200" tIns="19050" rIns="76200" bIns="19050" anchor="ctr">
            <a:normAutofit/>
          </a:bodyPr>
          <a:lstStyle/>
          <a:p>
            <a:pPr algn="ctr">
              <a:defRPr sz="900" b="1" i="0">
                <a:solidFill>
                  <a:srgbClr val="175CD3"/>
                </a:solidFill>
                <a:latin typeface="Lexend"/>
                <a:ea typeface="Lexend"/>
                <a:cs typeface="Lexend"/>
              </a:defRPr>
            </a:pPr>
            <a:r>
              <a:rPr sz="900" b="1" i="0">
                <a:solidFill>
                  <a:srgbClr val="175CD3"/>
                </a:solidFill>
                <a:latin typeface="Lexend"/>
                <a:ea typeface="Lexend"/>
                <a:cs typeface="Lexend"/>
              </a:rPr>
              <a:t>PILOT INVITATION</a:t>
            </a:r>
          </a:p>
        </p:txBody>
      </p:sp>
      <p:sp>
        <p:nvSpPr>
          <p:cNvPr id="9" name="Rectangle 8">
            <a:extLst>
              <a:ext uri="{FF2B5EF4-FFF2-40B4-BE49-F238E27FC236}">
                <a16:creationId xmlns:a16="http://schemas.microsoft.com/office/drawing/2014/main" id="{D6998531-7026-45EB-9F14-88C12213DCB3}"/>
              </a:ext>
            </a:extLst>
          </p:cNvPr>
          <p:cNvSpPr>
            <a:spLocks noGrp="1"/>
          </p:cNvSpPr>
          <p:nvPr/>
        </p:nvSpPr>
        <p:spPr>
          <a:xfrm>
            <a:off x="933450" y="5219700"/>
            <a:ext cx="4724400" cy="438150"/>
          </a:xfrm>
          <a:prstGeom prst="rect">
            <a:avLst/>
          </a:prstGeom>
          <a:noFill/>
          <a:ln w="0">
            <a:noFill/>
            <a:prstDash val="solid"/>
          </a:ln>
        </p:spPr>
        <p:txBody>
          <a:bodyPr wrap="square" lIns="0" tIns="0" rIns="0" bIns="0" anchor="t">
            <a:normAutofit fontScale="99567"/>
          </a:bodyPr>
          <a:lstStyle/>
          <a:p>
            <a:pPr algn="l">
              <a:defRPr sz="1500" b="1" i="0">
                <a:solidFill>
                  <a:srgbClr val="132238"/>
                </a:solidFill>
                <a:latin typeface="Source Sans 3"/>
                <a:ea typeface="Source Sans 3"/>
                <a:cs typeface="Source Sans 3"/>
              </a:defRPr>
            </a:pPr>
            <a:r>
              <a:rPr sz="1500" b="1" i="0">
                <a:solidFill>
                  <a:srgbClr val="132238"/>
                </a:solidFill>
                <a:latin typeface="Source Sans 3"/>
                <a:ea typeface="Source Sans 3"/>
                <a:cs typeface="Source Sans 3"/>
              </a:rPr>
              <a:t>[ Who should pilot—and what should the pilot test? ]</a:t>
            </a:r>
          </a:p>
        </p:txBody>
      </p:sp>
      <p:sp>
        <p:nvSpPr>
          <p:cNvPr id="10" name="Rounded Rectangle 9">
            <a:extLst>
              <a:ext uri="{FF2B5EF4-FFF2-40B4-BE49-F238E27FC236}">
                <a16:creationId xmlns:a16="http://schemas.microsoft.com/office/drawing/2014/main" id="{9F0E3F5E-C4A2-4C47-B8D2-A2712FF9760E}"/>
              </a:ext>
            </a:extLst>
          </p:cNvPr>
          <p:cNvSpPr>
            <a:spLocks noGrp="1"/>
          </p:cNvSpPr>
          <p:nvPr/>
        </p:nvSpPr>
        <p:spPr>
          <a:xfrm>
            <a:off x="6286500" y="4629150"/>
            <a:ext cx="5200650" cy="1238250"/>
          </a:xfrm>
          <a:prstGeom prst="roundRect">
            <a:avLst>
              <a:gd name="adj" fmla="val 16923"/>
            </a:avLst>
          </a:prstGeom>
          <a:solidFill>
            <a:srgbClr val="E8F6F1"/>
          </a:solidFill>
          <a:ln w="9525">
            <a:solidFill>
              <a:srgbClr val="A7E0CC"/>
            </a:solidFill>
            <a:prstDash val="solid"/>
          </a:ln>
        </p:spPr>
      </p:sp>
      <p:sp>
        <p:nvSpPr>
          <p:cNvPr id="11" name="Rounded Rectangle 10">
            <a:extLst>
              <a:ext uri="{FF2B5EF4-FFF2-40B4-BE49-F238E27FC236}">
                <a16:creationId xmlns:a16="http://schemas.microsoft.com/office/drawing/2014/main" id="{79B025FB-3B31-417C-8B7B-C6922CA9F7E9}"/>
              </a:ext>
            </a:extLst>
          </p:cNvPr>
          <p:cNvSpPr>
            <a:spLocks noGrp="1"/>
          </p:cNvSpPr>
          <p:nvPr/>
        </p:nvSpPr>
        <p:spPr>
          <a:xfrm>
            <a:off x="6515100" y="4838700"/>
            <a:ext cx="1581150" cy="266700"/>
          </a:xfrm>
          <a:prstGeom prst="roundRect">
            <a:avLst>
              <a:gd name="adj" fmla="val 50000"/>
            </a:avLst>
          </a:prstGeom>
          <a:solidFill>
            <a:srgbClr val="D9F3E8"/>
          </a:solidFill>
          <a:ln w="9525">
            <a:solidFill>
              <a:srgbClr val="A7E0CC"/>
            </a:solidFill>
            <a:prstDash val="solid"/>
          </a:ln>
        </p:spPr>
        <p:txBody>
          <a:bodyPr wrap="square" lIns="76200" tIns="19050" rIns="76200" bIns="19050" anchor="ctr">
            <a:normAutofit/>
          </a:bodyPr>
          <a:lstStyle/>
          <a:p>
            <a:pPr algn="ctr">
              <a:defRPr sz="900" b="1" i="0">
                <a:solidFill>
                  <a:srgbClr val="087A55"/>
                </a:solidFill>
                <a:latin typeface="Lexend"/>
                <a:ea typeface="Lexend"/>
                <a:cs typeface="Lexend"/>
              </a:defRPr>
            </a:pPr>
            <a:r>
              <a:rPr sz="900" b="1" i="0">
                <a:solidFill>
                  <a:srgbClr val="087A55"/>
                </a:solidFill>
                <a:latin typeface="Lexend"/>
                <a:ea typeface="Lexend"/>
                <a:cs typeface="Lexend"/>
              </a:rPr>
              <a:t>DECISION REQUEST</a:t>
            </a:r>
          </a:p>
        </p:txBody>
      </p:sp>
      <p:sp>
        <p:nvSpPr>
          <p:cNvPr id="12" name="Rectangle 11">
            <a:extLst>
              <a:ext uri="{FF2B5EF4-FFF2-40B4-BE49-F238E27FC236}">
                <a16:creationId xmlns:a16="http://schemas.microsoft.com/office/drawing/2014/main" id="{C332ADAF-D225-4C2A-B6CA-0DA05DD33695}"/>
              </a:ext>
            </a:extLst>
          </p:cNvPr>
          <p:cNvSpPr>
            <a:spLocks noGrp="1"/>
          </p:cNvSpPr>
          <p:nvPr/>
        </p:nvSpPr>
        <p:spPr>
          <a:xfrm>
            <a:off x="6515100" y="5219700"/>
            <a:ext cx="4724400" cy="438150"/>
          </a:xfrm>
          <a:prstGeom prst="rect">
            <a:avLst/>
          </a:prstGeom>
          <a:noFill/>
          <a:ln w="0">
            <a:noFill/>
            <a:prstDash val="solid"/>
          </a:ln>
        </p:spPr>
        <p:txBody>
          <a:bodyPr wrap="square" lIns="0" tIns="0" rIns="0" bIns="0" anchor="t">
            <a:normAutofit fontScale="98877"/>
          </a:bodyPr>
          <a:lstStyle/>
          <a:p>
            <a:pPr algn="l">
              <a:defRPr sz="1500" b="1" i="0">
                <a:solidFill>
                  <a:srgbClr val="132238"/>
                </a:solidFill>
                <a:latin typeface="Source Sans 3"/>
                <a:ea typeface="Source Sans 3"/>
                <a:cs typeface="Source Sans 3"/>
              </a:defRPr>
            </a:pPr>
            <a:r>
              <a:rPr sz="1500" b="1" i="0">
                <a:solidFill>
                  <a:srgbClr val="132238"/>
                </a:solidFill>
                <a:latin typeface="Source Sans 3"/>
                <a:ea typeface="Source Sans 3"/>
                <a:cs typeface="Source Sans 3"/>
              </a:rPr>
              <a:t>[ What do you want the judges to decide or enable? ]</a:t>
            </a:r>
          </a:p>
        </p:txBody>
      </p:sp>
      <p:sp>
        <p:nvSpPr>
          <p:cNvPr id="13" name="Straight Connector 12">
            <a:extLst>
              <a:ext uri="{FF2B5EF4-FFF2-40B4-BE49-F238E27FC236}">
                <a16:creationId xmlns:a16="http://schemas.microsoft.com/office/drawing/2014/main" id="{D45917BA-4A0D-4692-95AC-703527B07613}"/>
              </a:ext>
            </a:extLst>
          </p:cNvPr>
          <p:cNvSpPr>
            <a:spLocks noGrp="1"/>
          </p:cNvSpPr>
          <p:nvPr/>
        </p:nvSpPr>
        <p:spPr>
          <a:xfrm>
            <a:off x="533400" y="6477000"/>
            <a:ext cx="11125200" cy="0"/>
          </a:xfrm>
          <a:prstGeom prst="line">
            <a:avLst/>
          </a:prstGeom>
          <a:noFill/>
          <a:ln w="9525">
            <a:solidFill>
              <a:srgbClr val="D8DEE8"/>
            </a:solidFill>
            <a:prstDash val="solid"/>
          </a:ln>
        </p:spPr>
      </p:sp>
      <p:sp>
        <p:nvSpPr>
          <p:cNvPr id="14" name="Rectangle 13">
            <a:extLst>
              <a:ext uri="{FF2B5EF4-FFF2-40B4-BE49-F238E27FC236}">
                <a16:creationId xmlns:a16="http://schemas.microsoft.com/office/drawing/2014/main" id="{9FC44B5B-0974-4089-9BD9-BF4FADEF1D39}"/>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7B8797"/>
                </a:solidFill>
                <a:latin typeface="Source Sans 3"/>
                <a:ea typeface="Source Sans 3"/>
                <a:cs typeface="Source Sans 3"/>
              </a:defRPr>
            </a:pPr>
            <a:r>
              <a:rPr sz="825" b="0" i="0">
                <a:solidFill>
                  <a:srgbClr val="7B8797"/>
                </a:solidFill>
                <a:latin typeface="Source Sans 3"/>
                <a:ea typeface="Source Sans 3"/>
                <a:cs typeface="Source Sans 3"/>
              </a:rPr>
              <a:t>Owner-input shell · Final promise and ask remain Ana-controlled</a:t>
            </a:r>
          </a:p>
        </p:txBody>
      </p:sp>
    </p:spTree>
    <p:extLst>
      <p:ext uri="{BB962C8B-B14F-4D97-AF65-F5344CB8AC3E}">
        <p14:creationId xmlns:p14="http://schemas.microsoft.com/office/powerpoint/2010/main" val="1723339840"/>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DF3325B8-3D25-4F30-8AFE-30EC23DF9D53}"/>
              </a:ext>
            </a:extLst>
          </p:cNvPr>
          <p:cNvSpPr>
            <a:spLocks noGrp="1"/>
          </p:cNvSpPr>
          <p:nvPr/>
        </p:nvSpPr>
        <p:spPr>
          <a:xfrm>
            <a:off x="0" y="19050"/>
            <a:ext cx="12192000" cy="6858000"/>
          </a:xfrm>
          <a:prstGeom prst="rect">
            <a:avLst/>
          </a:prstGeom>
          <a:gradFill>
            <a:gsLst>
              <a:gs pos="0">
                <a:srgbClr val="0B1220"/>
              </a:gs>
              <a:gs pos="70000">
                <a:srgbClr val="0B1F33"/>
              </a:gs>
              <a:gs pos="100000">
                <a:srgbClr val="12314F"/>
              </a:gs>
            </a:gsLst>
            <a:lin ang="8100000"/>
          </a:gradFill>
          <a:ln w="0">
            <a:noFill/>
            <a:prstDash val="solid"/>
          </a:ln>
        </p:spPr>
      </p:sp>
      <p:sp>
        <p:nvSpPr>
          <p:cNvPr id="2" name="Rounded Rectangle 1">
            <a:extLst>
              <a:ext uri="{FF2B5EF4-FFF2-40B4-BE49-F238E27FC236}">
                <a16:creationId xmlns:a16="http://schemas.microsoft.com/office/drawing/2014/main" id="{8AA8A0A8-3621-41F8-99D7-FEB8CC343162}"/>
              </a:ext>
            </a:extLst>
          </p:cNvPr>
          <p:cNvSpPr>
            <a:spLocks noGrp="1"/>
          </p:cNvSpPr>
          <p:nvPr/>
        </p:nvSpPr>
        <p:spPr>
          <a:xfrm>
            <a:off x="533400" y="361950"/>
            <a:ext cx="1257300" cy="266700"/>
          </a:xfrm>
          <a:prstGeom prst="roundRect">
            <a:avLst>
              <a:gd name="adj" fmla="val 50000"/>
            </a:avLst>
          </a:prstGeom>
          <a:solidFill>
            <a:srgbClr val="17304A"/>
          </a:solidFill>
          <a:ln w="9525">
            <a:solidFill>
              <a:srgbClr val="284966"/>
            </a:solidFill>
            <a:prstDash val="solid"/>
          </a:ln>
        </p:spPr>
        <p:txBody>
          <a:bodyPr wrap="square" lIns="76200" tIns="19050" rIns="76200" bIns="19050" anchor="ctr">
            <a:normAutofit/>
          </a:bodyPr>
          <a:lstStyle/>
          <a:p>
            <a:pPr algn="ctr">
              <a:defRPr sz="975" b="1" i="0">
                <a:solidFill>
                  <a:srgbClr val="BFD7FF"/>
                </a:solidFill>
                <a:latin typeface="Lexend"/>
                <a:ea typeface="Lexend"/>
                <a:cs typeface="Lexend"/>
              </a:defRPr>
            </a:pPr>
            <a:r>
              <a:rPr sz="975" b="1" i="0">
                <a:solidFill>
                  <a:srgbClr val="BFD7FF"/>
                </a:solidFill>
                <a:latin typeface="Lexend"/>
                <a:ea typeface="Lexend"/>
                <a:cs typeface="Lexend"/>
              </a:rPr>
              <a:t>BEN + AARON</a:t>
            </a:r>
          </a:p>
        </p:txBody>
      </p:sp>
      <p:sp>
        <p:nvSpPr>
          <p:cNvPr id="3" name="slide-15-title">
            <a:extLst>
              <a:ext uri="{FF2B5EF4-FFF2-40B4-BE49-F238E27FC236}">
                <a16:creationId xmlns:a16="http://schemas.microsoft.com/office/drawing/2014/main" id="{F8D5C70D-5FA9-4674-99CE-6680945C56EC}"/>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FFFFFF"/>
                </a:solidFill>
                <a:latin typeface="Lexend"/>
                <a:ea typeface="Lexend"/>
                <a:cs typeface="Lexend"/>
              </a:defRPr>
            </a:pPr>
            <a:r>
              <a:rPr sz="2550" b="1" i="0">
                <a:solidFill>
                  <a:srgbClr val="FFFFFF"/>
                </a:solidFill>
                <a:latin typeface="Lexend"/>
                <a:ea typeface="Lexend"/>
                <a:cs typeface="Lexend"/>
              </a:rPr>
              <a:t>Try the TripSync prototype</a:t>
            </a:r>
          </a:p>
        </p:txBody>
      </p:sp>
      <p:sp>
        <p:nvSpPr>
          <p:cNvPr id="4" name="Rectangle 3">
            <a:extLst>
              <a:ext uri="{FF2B5EF4-FFF2-40B4-BE49-F238E27FC236}">
                <a16:creationId xmlns:a16="http://schemas.microsoft.com/office/drawing/2014/main" id="{DAA027D2-34B7-41A7-8003-467CD898B1E9}"/>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A9B8CB"/>
                </a:solidFill>
                <a:latin typeface="Source Sans 3"/>
                <a:ea typeface="Source Sans 3"/>
                <a:cs typeface="Source Sans 3"/>
              </a:defRPr>
            </a:pPr>
            <a:r>
              <a:rPr sz="1350" b="0" i="0">
                <a:solidFill>
                  <a:srgbClr val="A9B8CB"/>
                </a:solidFill>
                <a:latin typeface="Source Sans 3"/>
                <a:ea typeface="Source Sans 3"/>
                <a:cs typeface="Source Sans 3"/>
              </a:rPr>
              <a:t>Help us test the passenger journey and signed boarding-pass flow.</a:t>
            </a:r>
          </a:p>
        </p:txBody>
      </p:sp>
      <p:sp>
        <p:nvSpPr>
          <p:cNvPr id="5" name="Rectangle 4">
            <a:extLst>
              <a:ext uri="{FF2B5EF4-FFF2-40B4-BE49-F238E27FC236}">
                <a16:creationId xmlns:a16="http://schemas.microsoft.com/office/drawing/2014/main" id="{7EF8B8D3-7838-411F-B44A-5479C931E03F}"/>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7E94AB"/>
                </a:solidFill>
                <a:latin typeface="Lexend"/>
                <a:ea typeface="Lexend"/>
                <a:cs typeface="Lexend"/>
              </a:defRPr>
            </a:pPr>
            <a:endParaRPr sz="1125" b="1" i="0" dirty="0">
              <a:solidFill>
                <a:srgbClr val="7E94AB"/>
              </a:solidFill>
              <a:latin typeface="Lexend"/>
              <a:ea typeface="Lexend"/>
              <a:cs typeface="Lexend"/>
            </a:endParaRPr>
          </a:p>
        </p:txBody>
      </p:sp>
      <p:sp>
        <p:nvSpPr>
          <p:cNvPr id="6" name="Rounded Rectangle 5">
            <a:extLst>
              <a:ext uri="{FF2B5EF4-FFF2-40B4-BE49-F238E27FC236}">
                <a16:creationId xmlns:a16="http://schemas.microsoft.com/office/drawing/2014/main" id="{F2E7FD3B-036E-4B55-A80A-987D95106B66}"/>
              </a:ext>
            </a:extLst>
          </p:cNvPr>
          <p:cNvSpPr>
            <a:spLocks noGrp="1"/>
          </p:cNvSpPr>
          <p:nvPr/>
        </p:nvSpPr>
        <p:spPr>
          <a:xfrm>
            <a:off x="647700" y="1943100"/>
            <a:ext cx="6858000" cy="3429000"/>
          </a:xfrm>
          <a:prstGeom prst="roundRect">
            <a:avLst>
              <a:gd name="adj" fmla="val 7222"/>
            </a:avLst>
          </a:prstGeom>
          <a:solidFill>
            <a:srgbClr val="111B2E"/>
          </a:solidFill>
          <a:ln w="9525">
            <a:solidFill>
              <a:srgbClr val="2A4057"/>
            </a:solidFill>
            <a:prstDash val="solid"/>
          </a:ln>
        </p:spPr>
      </p:sp>
      <p:sp>
        <p:nvSpPr>
          <p:cNvPr id="7" name="Rectangle 6">
            <a:extLst>
              <a:ext uri="{FF2B5EF4-FFF2-40B4-BE49-F238E27FC236}">
                <a16:creationId xmlns:a16="http://schemas.microsoft.com/office/drawing/2014/main" id="{D67A2A32-2693-45E6-A9E4-D5B3860F0157}"/>
              </a:ext>
            </a:extLst>
          </p:cNvPr>
          <p:cNvSpPr>
            <a:spLocks noGrp="1"/>
          </p:cNvSpPr>
          <p:nvPr/>
        </p:nvSpPr>
        <p:spPr>
          <a:xfrm>
            <a:off x="933450" y="2209800"/>
            <a:ext cx="2857500" cy="323850"/>
          </a:xfrm>
          <a:prstGeom prst="rect">
            <a:avLst/>
          </a:prstGeom>
          <a:noFill/>
          <a:ln w="0">
            <a:noFill/>
            <a:prstDash val="solid"/>
          </a:ln>
        </p:spPr>
        <p:txBody>
          <a:bodyPr wrap="square" lIns="0" tIns="0" rIns="0" bIns="0" anchor="t">
            <a:normAutofit/>
          </a:bodyPr>
          <a:lstStyle/>
          <a:p>
            <a:pPr algn="l">
              <a:defRPr sz="1800" b="1" i="0">
                <a:solidFill>
                  <a:srgbClr val="FFFFFF"/>
                </a:solidFill>
                <a:latin typeface="Lexend"/>
                <a:ea typeface="Lexend"/>
                <a:cs typeface="Lexend"/>
              </a:defRPr>
            </a:pPr>
            <a:r>
              <a:rPr sz="1800" b="1" i="0">
                <a:solidFill>
                  <a:srgbClr val="FFFFFF"/>
                </a:solidFill>
                <a:latin typeface="Lexend"/>
                <a:ea typeface="Lexend"/>
                <a:cs typeface="Lexend"/>
              </a:rPr>
              <a:t>Volunteer flow</a:t>
            </a:r>
          </a:p>
        </p:txBody>
      </p:sp>
      <p:sp>
        <p:nvSpPr>
          <p:cNvPr id="8" name="Oval 7">
            <a:extLst>
              <a:ext uri="{FF2B5EF4-FFF2-40B4-BE49-F238E27FC236}">
                <a16:creationId xmlns:a16="http://schemas.microsoft.com/office/drawing/2014/main" id="{A2BE51BE-736C-4462-BF23-35FEF79A9420}"/>
              </a:ext>
            </a:extLst>
          </p:cNvPr>
          <p:cNvSpPr>
            <a:spLocks noGrp="1"/>
          </p:cNvSpPr>
          <p:nvPr/>
        </p:nvSpPr>
        <p:spPr>
          <a:xfrm>
            <a:off x="971550" y="2781300"/>
            <a:ext cx="400050" cy="400050"/>
          </a:xfrm>
          <a:prstGeom prst="ellipse">
            <a:avLst/>
          </a:prstGeom>
          <a:solidFill>
            <a:srgbClr val="175CD3"/>
          </a:solidFill>
          <a:ln w="0">
            <a:noFill/>
            <a:prstDash val="solid"/>
          </a:ln>
        </p:spPr>
      </p:sp>
      <p:sp>
        <p:nvSpPr>
          <p:cNvPr id="9" name="Rectangle 8">
            <a:extLst>
              <a:ext uri="{FF2B5EF4-FFF2-40B4-BE49-F238E27FC236}">
                <a16:creationId xmlns:a16="http://schemas.microsoft.com/office/drawing/2014/main" id="{F735A8FE-8319-4024-9A36-7877270F9725}"/>
              </a:ext>
            </a:extLst>
          </p:cNvPr>
          <p:cNvSpPr>
            <a:spLocks noGrp="1"/>
          </p:cNvSpPr>
          <p:nvPr/>
        </p:nvSpPr>
        <p:spPr>
          <a:xfrm>
            <a:off x="971550" y="2857500"/>
            <a:ext cx="400050" cy="228600"/>
          </a:xfrm>
          <a:prstGeom prst="rect">
            <a:avLst/>
          </a:prstGeom>
          <a:noFill/>
          <a:ln w="0">
            <a:noFill/>
            <a:prstDash val="solid"/>
          </a:ln>
        </p:spPr>
        <p:txBody>
          <a:bodyPr wrap="square" lIns="0" tIns="0" rIns="0" bIns="0" anchor="t">
            <a:normAutofit/>
          </a:bodyPr>
          <a:lstStyle/>
          <a:p>
            <a:pPr algn="ctr">
              <a:defRPr sz="1200" b="1" i="0">
                <a:solidFill>
                  <a:srgbClr val="FFFFFF"/>
                </a:solidFill>
                <a:latin typeface="Lexend"/>
                <a:ea typeface="Lexend"/>
                <a:cs typeface="Lexend"/>
              </a:defRPr>
            </a:pPr>
            <a:r>
              <a:rPr sz="1200" b="1" i="0">
                <a:solidFill>
                  <a:srgbClr val="FFFFFF"/>
                </a:solidFill>
                <a:latin typeface="Lexend"/>
                <a:ea typeface="Lexend"/>
                <a:cs typeface="Lexend"/>
              </a:rPr>
              <a:t>1</a:t>
            </a:r>
          </a:p>
        </p:txBody>
      </p:sp>
      <p:sp>
        <p:nvSpPr>
          <p:cNvPr id="10" name="Rectangle 9">
            <a:extLst>
              <a:ext uri="{FF2B5EF4-FFF2-40B4-BE49-F238E27FC236}">
                <a16:creationId xmlns:a16="http://schemas.microsoft.com/office/drawing/2014/main" id="{3D206A73-17FE-4085-9396-369D2763E750}"/>
              </a:ext>
            </a:extLst>
          </p:cNvPr>
          <p:cNvSpPr>
            <a:spLocks noGrp="1"/>
          </p:cNvSpPr>
          <p:nvPr/>
        </p:nvSpPr>
        <p:spPr>
          <a:xfrm>
            <a:off x="1581150" y="2771775"/>
            <a:ext cx="1104900" cy="266700"/>
          </a:xfrm>
          <a:prstGeom prst="rect">
            <a:avLst/>
          </a:prstGeom>
          <a:noFill/>
          <a:ln w="0">
            <a:noFill/>
            <a:prstDash val="solid"/>
          </a:ln>
        </p:spPr>
        <p:txBody>
          <a:bodyPr wrap="square" lIns="0" tIns="0" rIns="0" bIns="0" anchor="t">
            <a:normAutofit/>
          </a:bodyPr>
          <a:lstStyle/>
          <a:p>
            <a:pPr algn="l">
              <a:defRPr sz="1425" b="1" i="0">
                <a:solidFill>
                  <a:srgbClr val="FFFFFF"/>
                </a:solidFill>
                <a:latin typeface="Lexend"/>
                <a:ea typeface="Lexend"/>
                <a:cs typeface="Lexend"/>
              </a:defRPr>
            </a:pPr>
            <a:r>
              <a:rPr sz="1425" b="1" i="0">
                <a:solidFill>
                  <a:srgbClr val="FFFFFF"/>
                </a:solidFill>
                <a:latin typeface="Lexend"/>
                <a:ea typeface="Lexend"/>
                <a:cs typeface="Lexend"/>
              </a:rPr>
              <a:t>Scan</a:t>
            </a:r>
          </a:p>
        </p:txBody>
      </p:sp>
      <p:sp>
        <p:nvSpPr>
          <p:cNvPr id="11" name="Rectangle 10">
            <a:extLst>
              <a:ext uri="{FF2B5EF4-FFF2-40B4-BE49-F238E27FC236}">
                <a16:creationId xmlns:a16="http://schemas.microsoft.com/office/drawing/2014/main" id="{08407EC5-A189-4531-950E-AC755B6C3D19}"/>
              </a:ext>
            </a:extLst>
          </p:cNvPr>
          <p:cNvSpPr>
            <a:spLocks noGrp="1"/>
          </p:cNvSpPr>
          <p:nvPr/>
        </p:nvSpPr>
        <p:spPr>
          <a:xfrm>
            <a:off x="2724150" y="2781300"/>
            <a:ext cx="4191000" cy="266700"/>
          </a:xfrm>
          <a:prstGeom prst="rect">
            <a:avLst/>
          </a:prstGeom>
          <a:noFill/>
          <a:ln w="0">
            <a:noFill/>
            <a:prstDash val="solid"/>
          </a:ln>
        </p:spPr>
        <p:txBody>
          <a:bodyPr wrap="square" lIns="0" tIns="0" rIns="0" bIns="0" anchor="t">
            <a:normAutofit/>
          </a:bodyPr>
          <a:lstStyle/>
          <a:p>
            <a:pPr algn="l">
              <a:defRPr sz="1350" b="0" i="0">
                <a:solidFill>
                  <a:srgbClr val="B8C7D6"/>
                </a:solidFill>
                <a:latin typeface="Source Sans 3"/>
                <a:ea typeface="Source Sans 3"/>
                <a:cs typeface="Source Sans 3"/>
              </a:defRPr>
            </a:pPr>
            <a:r>
              <a:rPr sz="1350" b="0" i="0">
                <a:solidFill>
                  <a:srgbClr val="B8C7D6"/>
                </a:solidFill>
                <a:latin typeface="Source Sans 3"/>
                <a:ea typeface="Source Sans 3"/>
                <a:cs typeface="Source Sans 3"/>
              </a:rPr>
              <a:t>Open the beta link.</a:t>
            </a:r>
          </a:p>
        </p:txBody>
      </p:sp>
      <p:sp>
        <p:nvSpPr>
          <p:cNvPr id="12" name="Oval 11">
            <a:extLst>
              <a:ext uri="{FF2B5EF4-FFF2-40B4-BE49-F238E27FC236}">
                <a16:creationId xmlns:a16="http://schemas.microsoft.com/office/drawing/2014/main" id="{4EC57BE2-9520-41F1-8076-5A604E7F25A1}"/>
              </a:ext>
            </a:extLst>
          </p:cNvPr>
          <p:cNvSpPr>
            <a:spLocks noGrp="1"/>
          </p:cNvSpPr>
          <p:nvPr/>
        </p:nvSpPr>
        <p:spPr>
          <a:xfrm>
            <a:off x="971550" y="3371850"/>
            <a:ext cx="400050" cy="400050"/>
          </a:xfrm>
          <a:prstGeom prst="ellipse">
            <a:avLst/>
          </a:prstGeom>
          <a:solidFill>
            <a:srgbClr val="175CD3"/>
          </a:solidFill>
          <a:ln w="0">
            <a:noFill/>
            <a:prstDash val="solid"/>
          </a:ln>
        </p:spPr>
      </p:sp>
      <p:sp>
        <p:nvSpPr>
          <p:cNvPr id="13" name="Rectangle 12">
            <a:extLst>
              <a:ext uri="{FF2B5EF4-FFF2-40B4-BE49-F238E27FC236}">
                <a16:creationId xmlns:a16="http://schemas.microsoft.com/office/drawing/2014/main" id="{3AE1B7D3-BBD9-4A02-928D-869DC1DC8A5E}"/>
              </a:ext>
            </a:extLst>
          </p:cNvPr>
          <p:cNvSpPr>
            <a:spLocks noGrp="1"/>
          </p:cNvSpPr>
          <p:nvPr/>
        </p:nvSpPr>
        <p:spPr>
          <a:xfrm>
            <a:off x="971550" y="3448050"/>
            <a:ext cx="400050" cy="228600"/>
          </a:xfrm>
          <a:prstGeom prst="rect">
            <a:avLst/>
          </a:prstGeom>
          <a:noFill/>
          <a:ln w="0">
            <a:noFill/>
            <a:prstDash val="solid"/>
          </a:ln>
        </p:spPr>
        <p:txBody>
          <a:bodyPr wrap="square" lIns="0" tIns="0" rIns="0" bIns="0" anchor="t">
            <a:normAutofit/>
          </a:bodyPr>
          <a:lstStyle/>
          <a:p>
            <a:pPr algn="ctr">
              <a:defRPr sz="1200" b="1" i="0">
                <a:solidFill>
                  <a:srgbClr val="FFFFFF"/>
                </a:solidFill>
                <a:latin typeface="Lexend"/>
                <a:ea typeface="Lexend"/>
                <a:cs typeface="Lexend"/>
              </a:defRPr>
            </a:pPr>
            <a:r>
              <a:rPr sz="1200" b="1" i="0">
                <a:solidFill>
                  <a:srgbClr val="FFFFFF"/>
                </a:solidFill>
                <a:latin typeface="Lexend"/>
                <a:ea typeface="Lexend"/>
                <a:cs typeface="Lexend"/>
              </a:rPr>
              <a:t>2</a:t>
            </a:r>
          </a:p>
        </p:txBody>
      </p:sp>
      <p:sp>
        <p:nvSpPr>
          <p:cNvPr id="14" name="Rectangle 13">
            <a:extLst>
              <a:ext uri="{FF2B5EF4-FFF2-40B4-BE49-F238E27FC236}">
                <a16:creationId xmlns:a16="http://schemas.microsoft.com/office/drawing/2014/main" id="{8E0444AF-FA41-4DF2-9298-DEA0FB0A4AE2}"/>
              </a:ext>
            </a:extLst>
          </p:cNvPr>
          <p:cNvSpPr>
            <a:spLocks noGrp="1"/>
          </p:cNvSpPr>
          <p:nvPr/>
        </p:nvSpPr>
        <p:spPr>
          <a:xfrm>
            <a:off x="1581150" y="3362325"/>
            <a:ext cx="1104900" cy="266700"/>
          </a:xfrm>
          <a:prstGeom prst="rect">
            <a:avLst/>
          </a:prstGeom>
          <a:noFill/>
          <a:ln w="0">
            <a:noFill/>
            <a:prstDash val="solid"/>
          </a:ln>
        </p:spPr>
        <p:txBody>
          <a:bodyPr wrap="square" lIns="0" tIns="0" rIns="0" bIns="0" anchor="t">
            <a:normAutofit/>
          </a:bodyPr>
          <a:lstStyle/>
          <a:p>
            <a:pPr algn="l">
              <a:defRPr sz="1425" b="1" i="0">
                <a:solidFill>
                  <a:srgbClr val="FFFFFF"/>
                </a:solidFill>
                <a:latin typeface="Lexend"/>
                <a:ea typeface="Lexend"/>
                <a:cs typeface="Lexend"/>
              </a:defRPr>
            </a:pPr>
            <a:r>
              <a:rPr sz="1425" b="1" i="0">
                <a:solidFill>
                  <a:srgbClr val="FFFFFF"/>
                </a:solidFill>
                <a:latin typeface="Lexend"/>
                <a:ea typeface="Lexend"/>
                <a:cs typeface="Lexend"/>
              </a:rPr>
              <a:t>Try</a:t>
            </a:r>
          </a:p>
        </p:txBody>
      </p:sp>
      <p:sp>
        <p:nvSpPr>
          <p:cNvPr id="15" name="Rectangle 14">
            <a:extLst>
              <a:ext uri="{FF2B5EF4-FFF2-40B4-BE49-F238E27FC236}">
                <a16:creationId xmlns:a16="http://schemas.microsoft.com/office/drawing/2014/main" id="{1C75C3CB-C3B0-472E-B38A-5AE74229E4F7}"/>
              </a:ext>
            </a:extLst>
          </p:cNvPr>
          <p:cNvSpPr>
            <a:spLocks noGrp="1"/>
          </p:cNvSpPr>
          <p:nvPr/>
        </p:nvSpPr>
        <p:spPr>
          <a:xfrm>
            <a:off x="2724150" y="3371850"/>
            <a:ext cx="4191000" cy="266700"/>
          </a:xfrm>
          <a:prstGeom prst="rect">
            <a:avLst/>
          </a:prstGeom>
          <a:noFill/>
          <a:ln w="0">
            <a:noFill/>
            <a:prstDash val="solid"/>
          </a:ln>
        </p:spPr>
        <p:txBody>
          <a:bodyPr wrap="square" lIns="0" tIns="0" rIns="0" bIns="0" anchor="t">
            <a:normAutofit/>
          </a:bodyPr>
          <a:lstStyle/>
          <a:p>
            <a:pPr algn="l">
              <a:defRPr sz="1350" b="0" i="0">
                <a:solidFill>
                  <a:srgbClr val="B8C7D6"/>
                </a:solidFill>
                <a:latin typeface="Source Sans 3"/>
                <a:ea typeface="Source Sans 3"/>
                <a:cs typeface="Source Sans 3"/>
              </a:defRPr>
            </a:pPr>
            <a:r>
              <a:rPr sz="1350" b="0" i="0">
                <a:solidFill>
                  <a:srgbClr val="B8C7D6"/>
                </a:solidFill>
                <a:latin typeface="Source Sans 3"/>
                <a:ea typeface="Source Sans 3"/>
                <a:cs typeface="Source Sans 3"/>
              </a:rPr>
              <a:t>Search, set preferences, select a seat.</a:t>
            </a:r>
          </a:p>
        </p:txBody>
      </p:sp>
      <p:sp>
        <p:nvSpPr>
          <p:cNvPr id="16" name="Oval 15">
            <a:extLst>
              <a:ext uri="{FF2B5EF4-FFF2-40B4-BE49-F238E27FC236}">
                <a16:creationId xmlns:a16="http://schemas.microsoft.com/office/drawing/2014/main" id="{AAAF418E-498E-4945-9BE2-B0F6A4577481}"/>
              </a:ext>
            </a:extLst>
          </p:cNvPr>
          <p:cNvSpPr>
            <a:spLocks noGrp="1"/>
          </p:cNvSpPr>
          <p:nvPr/>
        </p:nvSpPr>
        <p:spPr>
          <a:xfrm>
            <a:off x="971550" y="3962400"/>
            <a:ext cx="400050" cy="400050"/>
          </a:xfrm>
          <a:prstGeom prst="ellipse">
            <a:avLst/>
          </a:prstGeom>
          <a:solidFill>
            <a:srgbClr val="175CD3"/>
          </a:solidFill>
          <a:ln w="0">
            <a:noFill/>
            <a:prstDash val="solid"/>
          </a:ln>
        </p:spPr>
      </p:sp>
      <p:sp>
        <p:nvSpPr>
          <p:cNvPr id="17" name="Rectangle 16">
            <a:extLst>
              <a:ext uri="{FF2B5EF4-FFF2-40B4-BE49-F238E27FC236}">
                <a16:creationId xmlns:a16="http://schemas.microsoft.com/office/drawing/2014/main" id="{738E9853-FB6D-4C49-AC28-BCF14B8B5454}"/>
              </a:ext>
            </a:extLst>
          </p:cNvPr>
          <p:cNvSpPr>
            <a:spLocks noGrp="1"/>
          </p:cNvSpPr>
          <p:nvPr/>
        </p:nvSpPr>
        <p:spPr>
          <a:xfrm>
            <a:off x="971550" y="4038600"/>
            <a:ext cx="400050" cy="228600"/>
          </a:xfrm>
          <a:prstGeom prst="rect">
            <a:avLst/>
          </a:prstGeom>
          <a:noFill/>
          <a:ln w="0">
            <a:noFill/>
            <a:prstDash val="solid"/>
          </a:ln>
        </p:spPr>
        <p:txBody>
          <a:bodyPr wrap="square" lIns="0" tIns="0" rIns="0" bIns="0" anchor="t">
            <a:normAutofit/>
          </a:bodyPr>
          <a:lstStyle/>
          <a:p>
            <a:pPr algn="ctr">
              <a:defRPr sz="1200" b="1" i="0">
                <a:solidFill>
                  <a:srgbClr val="FFFFFF"/>
                </a:solidFill>
                <a:latin typeface="Lexend"/>
                <a:ea typeface="Lexend"/>
                <a:cs typeface="Lexend"/>
              </a:defRPr>
            </a:pPr>
            <a:r>
              <a:rPr sz="1200" b="1" i="0">
                <a:solidFill>
                  <a:srgbClr val="FFFFFF"/>
                </a:solidFill>
                <a:latin typeface="Lexend"/>
                <a:ea typeface="Lexend"/>
                <a:cs typeface="Lexend"/>
              </a:rPr>
              <a:t>3</a:t>
            </a:r>
          </a:p>
        </p:txBody>
      </p:sp>
      <p:sp>
        <p:nvSpPr>
          <p:cNvPr id="18" name="Rectangle 17">
            <a:extLst>
              <a:ext uri="{FF2B5EF4-FFF2-40B4-BE49-F238E27FC236}">
                <a16:creationId xmlns:a16="http://schemas.microsoft.com/office/drawing/2014/main" id="{14AD31C8-1370-43D4-BD30-BB1DB48DF240}"/>
              </a:ext>
            </a:extLst>
          </p:cNvPr>
          <p:cNvSpPr>
            <a:spLocks noGrp="1"/>
          </p:cNvSpPr>
          <p:nvPr/>
        </p:nvSpPr>
        <p:spPr>
          <a:xfrm>
            <a:off x="1581150" y="3952875"/>
            <a:ext cx="1104900" cy="266700"/>
          </a:xfrm>
          <a:prstGeom prst="rect">
            <a:avLst/>
          </a:prstGeom>
          <a:noFill/>
          <a:ln w="0">
            <a:noFill/>
            <a:prstDash val="solid"/>
          </a:ln>
        </p:spPr>
        <p:txBody>
          <a:bodyPr wrap="square" lIns="0" tIns="0" rIns="0" bIns="0" anchor="t">
            <a:normAutofit/>
          </a:bodyPr>
          <a:lstStyle/>
          <a:p>
            <a:pPr algn="l">
              <a:defRPr sz="1425" b="1" i="0">
                <a:solidFill>
                  <a:srgbClr val="FFFFFF"/>
                </a:solidFill>
                <a:latin typeface="Lexend"/>
                <a:ea typeface="Lexend"/>
                <a:cs typeface="Lexend"/>
              </a:defRPr>
            </a:pPr>
            <a:r>
              <a:rPr sz="1425" b="1" i="0">
                <a:solidFill>
                  <a:srgbClr val="FFFFFF"/>
                </a:solidFill>
                <a:latin typeface="Lexend"/>
                <a:ea typeface="Lexend"/>
                <a:cs typeface="Lexend"/>
              </a:rPr>
              <a:t>Board</a:t>
            </a:r>
          </a:p>
        </p:txBody>
      </p:sp>
      <p:sp>
        <p:nvSpPr>
          <p:cNvPr id="19" name="Rectangle 18">
            <a:extLst>
              <a:ext uri="{FF2B5EF4-FFF2-40B4-BE49-F238E27FC236}">
                <a16:creationId xmlns:a16="http://schemas.microsoft.com/office/drawing/2014/main" id="{685BA7B4-F8BD-4BC8-8162-7280EB95C15C}"/>
              </a:ext>
            </a:extLst>
          </p:cNvPr>
          <p:cNvSpPr>
            <a:spLocks noGrp="1"/>
          </p:cNvSpPr>
          <p:nvPr/>
        </p:nvSpPr>
        <p:spPr>
          <a:xfrm>
            <a:off x="2724150" y="3962400"/>
            <a:ext cx="4191000" cy="266700"/>
          </a:xfrm>
          <a:prstGeom prst="rect">
            <a:avLst/>
          </a:prstGeom>
          <a:noFill/>
          <a:ln w="0">
            <a:noFill/>
            <a:prstDash val="solid"/>
          </a:ln>
        </p:spPr>
        <p:txBody>
          <a:bodyPr wrap="square" lIns="0" tIns="0" rIns="0" bIns="0" anchor="t">
            <a:normAutofit/>
          </a:bodyPr>
          <a:lstStyle/>
          <a:p>
            <a:pPr algn="l">
              <a:defRPr sz="1350" b="0" i="0">
                <a:solidFill>
                  <a:srgbClr val="B8C7D6"/>
                </a:solidFill>
                <a:latin typeface="Source Sans 3"/>
                <a:ea typeface="Source Sans 3"/>
                <a:cs typeface="Source Sans 3"/>
              </a:defRPr>
            </a:pPr>
            <a:r>
              <a:rPr sz="1350" b="0" i="0">
                <a:solidFill>
                  <a:srgbClr val="B8C7D6"/>
                </a:solidFill>
                <a:latin typeface="Source Sans 3"/>
                <a:ea typeface="Source Sans 3"/>
                <a:cs typeface="Source Sans 3"/>
              </a:rPr>
              <a:t>Show the signed QR boarding pass.</a:t>
            </a:r>
          </a:p>
        </p:txBody>
      </p:sp>
      <p:sp>
        <p:nvSpPr>
          <p:cNvPr id="20" name="Oval 19">
            <a:extLst>
              <a:ext uri="{FF2B5EF4-FFF2-40B4-BE49-F238E27FC236}">
                <a16:creationId xmlns:a16="http://schemas.microsoft.com/office/drawing/2014/main" id="{5366F936-FF78-47BC-BDE3-EF9635FCC6F3}"/>
              </a:ext>
            </a:extLst>
          </p:cNvPr>
          <p:cNvSpPr>
            <a:spLocks noGrp="1"/>
          </p:cNvSpPr>
          <p:nvPr/>
        </p:nvSpPr>
        <p:spPr>
          <a:xfrm>
            <a:off x="971550" y="4552950"/>
            <a:ext cx="400050" cy="400050"/>
          </a:xfrm>
          <a:prstGeom prst="ellipse">
            <a:avLst/>
          </a:prstGeom>
          <a:solidFill>
            <a:srgbClr val="087A55"/>
          </a:solidFill>
          <a:ln w="0">
            <a:noFill/>
            <a:prstDash val="solid"/>
          </a:ln>
        </p:spPr>
      </p:sp>
      <p:sp>
        <p:nvSpPr>
          <p:cNvPr id="21" name="Rectangle 20">
            <a:extLst>
              <a:ext uri="{FF2B5EF4-FFF2-40B4-BE49-F238E27FC236}">
                <a16:creationId xmlns:a16="http://schemas.microsoft.com/office/drawing/2014/main" id="{4608E41C-395C-4501-9D3F-8FC8B4E4F26B}"/>
              </a:ext>
            </a:extLst>
          </p:cNvPr>
          <p:cNvSpPr>
            <a:spLocks noGrp="1"/>
          </p:cNvSpPr>
          <p:nvPr/>
        </p:nvSpPr>
        <p:spPr>
          <a:xfrm>
            <a:off x="971550" y="4629150"/>
            <a:ext cx="400050" cy="228600"/>
          </a:xfrm>
          <a:prstGeom prst="rect">
            <a:avLst/>
          </a:prstGeom>
          <a:noFill/>
          <a:ln w="0">
            <a:noFill/>
            <a:prstDash val="solid"/>
          </a:ln>
        </p:spPr>
        <p:txBody>
          <a:bodyPr wrap="square" lIns="0" tIns="0" rIns="0" bIns="0" anchor="t">
            <a:normAutofit/>
          </a:bodyPr>
          <a:lstStyle/>
          <a:p>
            <a:pPr algn="ctr">
              <a:defRPr sz="1200" b="1" i="0">
                <a:solidFill>
                  <a:srgbClr val="FFFFFF"/>
                </a:solidFill>
                <a:latin typeface="Lexend"/>
                <a:ea typeface="Lexend"/>
                <a:cs typeface="Lexend"/>
              </a:defRPr>
            </a:pPr>
            <a:r>
              <a:rPr sz="1200" b="1" i="0">
                <a:solidFill>
                  <a:srgbClr val="FFFFFF"/>
                </a:solidFill>
                <a:latin typeface="Lexend"/>
                <a:ea typeface="Lexend"/>
                <a:cs typeface="Lexend"/>
              </a:rPr>
              <a:t>4</a:t>
            </a:r>
          </a:p>
        </p:txBody>
      </p:sp>
      <p:sp>
        <p:nvSpPr>
          <p:cNvPr id="22" name="Rectangle 21">
            <a:extLst>
              <a:ext uri="{FF2B5EF4-FFF2-40B4-BE49-F238E27FC236}">
                <a16:creationId xmlns:a16="http://schemas.microsoft.com/office/drawing/2014/main" id="{5E9037FC-80F7-47A4-B8A3-BA0D0AA74520}"/>
              </a:ext>
            </a:extLst>
          </p:cNvPr>
          <p:cNvSpPr>
            <a:spLocks noGrp="1"/>
          </p:cNvSpPr>
          <p:nvPr/>
        </p:nvSpPr>
        <p:spPr>
          <a:xfrm>
            <a:off x="1581150" y="4543425"/>
            <a:ext cx="1104900" cy="266700"/>
          </a:xfrm>
          <a:prstGeom prst="rect">
            <a:avLst/>
          </a:prstGeom>
          <a:noFill/>
          <a:ln w="0">
            <a:noFill/>
            <a:prstDash val="solid"/>
          </a:ln>
        </p:spPr>
        <p:txBody>
          <a:bodyPr wrap="square" lIns="0" tIns="0" rIns="0" bIns="0" anchor="t">
            <a:normAutofit/>
          </a:bodyPr>
          <a:lstStyle/>
          <a:p>
            <a:pPr algn="l">
              <a:defRPr sz="1425" b="1" i="0">
                <a:solidFill>
                  <a:srgbClr val="FFFFFF"/>
                </a:solidFill>
                <a:latin typeface="Lexend"/>
                <a:ea typeface="Lexend"/>
                <a:cs typeface="Lexend"/>
              </a:defRPr>
            </a:pPr>
            <a:r>
              <a:rPr sz="1425" b="1" i="0">
                <a:solidFill>
                  <a:srgbClr val="FFFFFF"/>
                </a:solidFill>
                <a:latin typeface="Lexend"/>
                <a:ea typeface="Lexend"/>
                <a:cs typeface="Lexend"/>
              </a:rPr>
              <a:t>Tell us</a:t>
            </a:r>
          </a:p>
        </p:txBody>
      </p:sp>
      <p:sp>
        <p:nvSpPr>
          <p:cNvPr id="23" name="Rectangle 22">
            <a:extLst>
              <a:ext uri="{FF2B5EF4-FFF2-40B4-BE49-F238E27FC236}">
                <a16:creationId xmlns:a16="http://schemas.microsoft.com/office/drawing/2014/main" id="{861D8898-C877-4A0D-98CF-86371505224B}"/>
              </a:ext>
            </a:extLst>
          </p:cNvPr>
          <p:cNvSpPr>
            <a:spLocks noGrp="1"/>
          </p:cNvSpPr>
          <p:nvPr/>
        </p:nvSpPr>
        <p:spPr>
          <a:xfrm>
            <a:off x="2724150" y="4552950"/>
            <a:ext cx="4191000" cy="266700"/>
          </a:xfrm>
          <a:prstGeom prst="rect">
            <a:avLst/>
          </a:prstGeom>
          <a:noFill/>
          <a:ln w="0">
            <a:noFill/>
            <a:prstDash val="solid"/>
          </a:ln>
        </p:spPr>
        <p:txBody>
          <a:bodyPr wrap="square" lIns="0" tIns="0" rIns="0" bIns="0" anchor="t">
            <a:normAutofit/>
          </a:bodyPr>
          <a:lstStyle/>
          <a:p>
            <a:pPr algn="l">
              <a:defRPr sz="1350" b="0" i="0">
                <a:solidFill>
                  <a:srgbClr val="B8C7D6"/>
                </a:solidFill>
                <a:latin typeface="Source Sans 3"/>
                <a:ea typeface="Source Sans 3"/>
                <a:cs typeface="Source Sans 3"/>
              </a:defRPr>
            </a:pPr>
            <a:r>
              <a:rPr sz="1350" b="0" i="0">
                <a:solidFill>
                  <a:srgbClr val="B8C7D6"/>
                </a:solidFill>
                <a:latin typeface="Source Sans 3"/>
                <a:ea typeface="Source Sans 3"/>
                <a:cs typeface="Source Sans 3"/>
              </a:rPr>
              <a:t>Share what was clear—or confusing.</a:t>
            </a:r>
          </a:p>
        </p:txBody>
      </p:sp>
      <p:sp>
        <p:nvSpPr>
          <p:cNvPr id="24" name="Rounded Rectangle 23">
            <a:extLst>
              <a:ext uri="{FF2B5EF4-FFF2-40B4-BE49-F238E27FC236}">
                <a16:creationId xmlns:a16="http://schemas.microsoft.com/office/drawing/2014/main" id="{7DA97F92-F389-493C-B234-567BCB88D8B4}"/>
              </a:ext>
            </a:extLst>
          </p:cNvPr>
          <p:cNvSpPr>
            <a:spLocks noGrp="1"/>
          </p:cNvSpPr>
          <p:nvPr/>
        </p:nvSpPr>
        <p:spPr>
          <a:xfrm>
            <a:off x="8115300" y="1943100"/>
            <a:ext cx="3352800" cy="3429000"/>
          </a:xfrm>
          <a:prstGeom prst="roundRect">
            <a:avLst>
              <a:gd name="adj" fmla="val 7386"/>
            </a:avLst>
          </a:prstGeom>
          <a:solidFill>
            <a:srgbClr val="FFFFFF"/>
          </a:solidFill>
          <a:ln w="9525">
            <a:solidFill>
              <a:srgbClr val="FFFFFF"/>
            </a:solidFill>
            <a:prstDash val="solid"/>
          </a:ln>
        </p:spPr>
        <p:style>
          <a:lnRef idx="0">
            <a:scrgbClr r="0" g="0" b="0"/>
          </a:lnRef>
          <a:fillRef idx="0">
            <a:scrgbClr r="0" g="0" b="0"/>
          </a:fillRef>
          <a:effectRef idx="7">
            <a:scrgbClr r="0" g="0" b="0"/>
          </a:effectRef>
          <a:fontRef idx="major"/>
        </p:style>
      </p:sp>
      <p:sp>
        <p:nvSpPr>
          <p:cNvPr id="25" name="Rounded Rectangle 24">
            <a:extLst>
              <a:ext uri="{FF2B5EF4-FFF2-40B4-BE49-F238E27FC236}">
                <a16:creationId xmlns:a16="http://schemas.microsoft.com/office/drawing/2014/main" id="{7F4782C4-E26A-4B5A-B032-A8C01B35F203}"/>
              </a:ext>
            </a:extLst>
          </p:cNvPr>
          <p:cNvSpPr>
            <a:spLocks noGrp="1"/>
          </p:cNvSpPr>
          <p:nvPr/>
        </p:nvSpPr>
        <p:spPr>
          <a:xfrm>
            <a:off x="8801100" y="2324100"/>
            <a:ext cx="1981200" cy="1981200"/>
          </a:xfrm>
          <a:prstGeom prst="roundRect">
            <a:avLst>
              <a:gd name="adj" fmla="val 5769"/>
            </a:avLst>
          </a:prstGeom>
          <a:solidFill>
            <a:srgbClr val="F6F7F4"/>
          </a:solidFill>
          <a:ln w="28575">
            <a:solidFill>
              <a:srgbClr val="132238"/>
            </a:solidFill>
            <a:prstDash val="solid"/>
          </a:ln>
        </p:spPr>
      </p:sp>
      <p:sp>
        <p:nvSpPr>
          <p:cNvPr id="26" name="Rectangle 25">
            <a:extLst>
              <a:ext uri="{FF2B5EF4-FFF2-40B4-BE49-F238E27FC236}">
                <a16:creationId xmlns:a16="http://schemas.microsoft.com/office/drawing/2014/main" id="{A7F2F264-6793-4CD0-A715-7EB051635007}"/>
              </a:ext>
            </a:extLst>
          </p:cNvPr>
          <p:cNvSpPr>
            <a:spLocks noGrp="1"/>
          </p:cNvSpPr>
          <p:nvPr/>
        </p:nvSpPr>
        <p:spPr>
          <a:xfrm>
            <a:off x="9048750" y="2571750"/>
            <a:ext cx="190500" cy="190500"/>
          </a:xfrm>
          <a:prstGeom prst="rect">
            <a:avLst/>
          </a:prstGeom>
          <a:solidFill>
            <a:srgbClr val="132238"/>
          </a:solidFill>
          <a:ln w="0">
            <a:noFill/>
            <a:prstDash val="solid"/>
          </a:ln>
        </p:spPr>
      </p:sp>
      <p:sp>
        <p:nvSpPr>
          <p:cNvPr id="27" name="Rectangle 26">
            <a:extLst>
              <a:ext uri="{FF2B5EF4-FFF2-40B4-BE49-F238E27FC236}">
                <a16:creationId xmlns:a16="http://schemas.microsoft.com/office/drawing/2014/main" id="{C94119F7-658F-4A22-9D5C-825500DB867E}"/>
              </a:ext>
            </a:extLst>
          </p:cNvPr>
          <p:cNvSpPr>
            <a:spLocks noGrp="1"/>
          </p:cNvSpPr>
          <p:nvPr/>
        </p:nvSpPr>
        <p:spPr>
          <a:xfrm>
            <a:off x="9315450" y="2571750"/>
            <a:ext cx="190500" cy="190500"/>
          </a:xfrm>
          <a:prstGeom prst="rect">
            <a:avLst/>
          </a:prstGeom>
          <a:solidFill>
            <a:srgbClr val="132238"/>
          </a:solidFill>
          <a:ln w="0">
            <a:noFill/>
            <a:prstDash val="solid"/>
          </a:ln>
        </p:spPr>
      </p:sp>
      <p:sp>
        <p:nvSpPr>
          <p:cNvPr id="28" name="Rectangle 27">
            <a:extLst>
              <a:ext uri="{FF2B5EF4-FFF2-40B4-BE49-F238E27FC236}">
                <a16:creationId xmlns:a16="http://schemas.microsoft.com/office/drawing/2014/main" id="{43F0FB02-5267-4AEB-9C08-6AE11250DC57}"/>
              </a:ext>
            </a:extLst>
          </p:cNvPr>
          <p:cNvSpPr>
            <a:spLocks noGrp="1"/>
          </p:cNvSpPr>
          <p:nvPr/>
        </p:nvSpPr>
        <p:spPr>
          <a:xfrm>
            <a:off x="10115550" y="2571750"/>
            <a:ext cx="190500" cy="190500"/>
          </a:xfrm>
          <a:prstGeom prst="rect">
            <a:avLst/>
          </a:prstGeom>
          <a:solidFill>
            <a:srgbClr val="132238"/>
          </a:solidFill>
          <a:ln w="0">
            <a:noFill/>
            <a:prstDash val="solid"/>
          </a:ln>
        </p:spPr>
      </p:sp>
      <p:sp>
        <p:nvSpPr>
          <p:cNvPr id="29" name="Rectangle 28">
            <a:extLst>
              <a:ext uri="{FF2B5EF4-FFF2-40B4-BE49-F238E27FC236}">
                <a16:creationId xmlns:a16="http://schemas.microsoft.com/office/drawing/2014/main" id="{C82E78AC-0565-4809-A7B4-928646D12AA5}"/>
              </a:ext>
            </a:extLst>
          </p:cNvPr>
          <p:cNvSpPr>
            <a:spLocks noGrp="1"/>
          </p:cNvSpPr>
          <p:nvPr/>
        </p:nvSpPr>
        <p:spPr>
          <a:xfrm>
            <a:off x="10382250" y="2571750"/>
            <a:ext cx="190500" cy="190500"/>
          </a:xfrm>
          <a:prstGeom prst="rect">
            <a:avLst/>
          </a:prstGeom>
          <a:solidFill>
            <a:srgbClr val="132238"/>
          </a:solidFill>
          <a:ln w="0">
            <a:noFill/>
            <a:prstDash val="solid"/>
          </a:ln>
        </p:spPr>
      </p:sp>
      <p:sp>
        <p:nvSpPr>
          <p:cNvPr id="30" name="Rectangle 29">
            <a:extLst>
              <a:ext uri="{FF2B5EF4-FFF2-40B4-BE49-F238E27FC236}">
                <a16:creationId xmlns:a16="http://schemas.microsoft.com/office/drawing/2014/main" id="{3B684A47-FAE5-4A43-9D68-0CD7E56F394D}"/>
              </a:ext>
            </a:extLst>
          </p:cNvPr>
          <p:cNvSpPr>
            <a:spLocks noGrp="1"/>
          </p:cNvSpPr>
          <p:nvPr/>
        </p:nvSpPr>
        <p:spPr>
          <a:xfrm>
            <a:off x="9048750" y="2838450"/>
            <a:ext cx="190500" cy="190500"/>
          </a:xfrm>
          <a:prstGeom prst="rect">
            <a:avLst/>
          </a:prstGeom>
          <a:solidFill>
            <a:srgbClr val="132238"/>
          </a:solidFill>
          <a:ln w="0">
            <a:noFill/>
            <a:prstDash val="solid"/>
          </a:ln>
        </p:spPr>
      </p:sp>
      <p:sp>
        <p:nvSpPr>
          <p:cNvPr id="31" name="Rectangle 30">
            <a:extLst>
              <a:ext uri="{FF2B5EF4-FFF2-40B4-BE49-F238E27FC236}">
                <a16:creationId xmlns:a16="http://schemas.microsoft.com/office/drawing/2014/main" id="{F106A2D2-DA89-4C3E-8F38-9BE508015A4C}"/>
              </a:ext>
            </a:extLst>
          </p:cNvPr>
          <p:cNvSpPr>
            <a:spLocks noGrp="1"/>
          </p:cNvSpPr>
          <p:nvPr/>
        </p:nvSpPr>
        <p:spPr>
          <a:xfrm>
            <a:off x="9582150" y="2838450"/>
            <a:ext cx="190500" cy="190500"/>
          </a:xfrm>
          <a:prstGeom prst="rect">
            <a:avLst/>
          </a:prstGeom>
          <a:solidFill>
            <a:srgbClr val="132238"/>
          </a:solidFill>
          <a:ln w="0">
            <a:noFill/>
            <a:prstDash val="solid"/>
          </a:ln>
        </p:spPr>
      </p:sp>
      <p:sp>
        <p:nvSpPr>
          <p:cNvPr id="32" name="Rectangle 31">
            <a:extLst>
              <a:ext uri="{FF2B5EF4-FFF2-40B4-BE49-F238E27FC236}">
                <a16:creationId xmlns:a16="http://schemas.microsoft.com/office/drawing/2014/main" id="{9766F9AC-2482-464A-BE45-7693C36057BD}"/>
              </a:ext>
            </a:extLst>
          </p:cNvPr>
          <p:cNvSpPr>
            <a:spLocks noGrp="1"/>
          </p:cNvSpPr>
          <p:nvPr/>
        </p:nvSpPr>
        <p:spPr>
          <a:xfrm>
            <a:off x="10382250" y="2838450"/>
            <a:ext cx="190500" cy="190500"/>
          </a:xfrm>
          <a:prstGeom prst="rect">
            <a:avLst/>
          </a:prstGeom>
          <a:solidFill>
            <a:srgbClr val="132238"/>
          </a:solidFill>
          <a:ln w="0">
            <a:noFill/>
            <a:prstDash val="solid"/>
          </a:ln>
        </p:spPr>
      </p:sp>
      <p:sp>
        <p:nvSpPr>
          <p:cNvPr id="33" name="Rectangle 32">
            <a:extLst>
              <a:ext uri="{FF2B5EF4-FFF2-40B4-BE49-F238E27FC236}">
                <a16:creationId xmlns:a16="http://schemas.microsoft.com/office/drawing/2014/main" id="{17308D0E-DF61-4297-8D6B-9726188ABADB}"/>
              </a:ext>
            </a:extLst>
          </p:cNvPr>
          <p:cNvSpPr>
            <a:spLocks noGrp="1"/>
          </p:cNvSpPr>
          <p:nvPr/>
        </p:nvSpPr>
        <p:spPr>
          <a:xfrm>
            <a:off x="9315450" y="3105150"/>
            <a:ext cx="190500" cy="190500"/>
          </a:xfrm>
          <a:prstGeom prst="rect">
            <a:avLst/>
          </a:prstGeom>
          <a:solidFill>
            <a:srgbClr val="132238"/>
          </a:solidFill>
          <a:ln w="0">
            <a:noFill/>
            <a:prstDash val="solid"/>
          </a:ln>
        </p:spPr>
      </p:sp>
      <p:sp>
        <p:nvSpPr>
          <p:cNvPr id="34" name="Rectangle 33">
            <a:extLst>
              <a:ext uri="{FF2B5EF4-FFF2-40B4-BE49-F238E27FC236}">
                <a16:creationId xmlns:a16="http://schemas.microsoft.com/office/drawing/2014/main" id="{48FDB000-F9BF-4930-B2AF-8BF3C6C243DB}"/>
              </a:ext>
            </a:extLst>
          </p:cNvPr>
          <p:cNvSpPr>
            <a:spLocks noGrp="1"/>
          </p:cNvSpPr>
          <p:nvPr/>
        </p:nvSpPr>
        <p:spPr>
          <a:xfrm>
            <a:off x="9848850" y="3105150"/>
            <a:ext cx="190500" cy="190500"/>
          </a:xfrm>
          <a:prstGeom prst="rect">
            <a:avLst/>
          </a:prstGeom>
          <a:solidFill>
            <a:srgbClr val="132238"/>
          </a:solidFill>
          <a:ln w="0">
            <a:noFill/>
            <a:prstDash val="solid"/>
          </a:ln>
        </p:spPr>
      </p:sp>
      <p:sp>
        <p:nvSpPr>
          <p:cNvPr id="35" name="Rectangle 34">
            <a:extLst>
              <a:ext uri="{FF2B5EF4-FFF2-40B4-BE49-F238E27FC236}">
                <a16:creationId xmlns:a16="http://schemas.microsoft.com/office/drawing/2014/main" id="{12021536-8C0F-4935-B3D0-AB221351006A}"/>
              </a:ext>
            </a:extLst>
          </p:cNvPr>
          <p:cNvSpPr>
            <a:spLocks noGrp="1"/>
          </p:cNvSpPr>
          <p:nvPr/>
        </p:nvSpPr>
        <p:spPr>
          <a:xfrm>
            <a:off x="10115550" y="3105150"/>
            <a:ext cx="190500" cy="190500"/>
          </a:xfrm>
          <a:prstGeom prst="rect">
            <a:avLst/>
          </a:prstGeom>
          <a:solidFill>
            <a:srgbClr val="132238"/>
          </a:solidFill>
          <a:ln w="0">
            <a:noFill/>
            <a:prstDash val="solid"/>
          </a:ln>
        </p:spPr>
      </p:sp>
      <p:sp>
        <p:nvSpPr>
          <p:cNvPr id="36" name="Rectangle 35">
            <a:extLst>
              <a:ext uri="{FF2B5EF4-FFF2-40B4-BE49-F238E27FC236}">
                <a16:creationId xmlns:a16="http://schemas.microsoft.com/office/drawing/2014/main" id="{F6531A93-8658-41AE-BEF2-0378A2B8E641}"/>
              </a:ext>
            </a:extLst>
          </p:cNvPr>
          <p:cNvSpPr>
            <a:spLocks noGrp="1"/>
          </p:cNvSpPr>
          <p:nvPr/>
        </p:nvSpPr>
        <p:spPr>
          <a:xfrm>
            <a:off x="9048750" y="3638550"/>
            <a:ext cx="190500" cy="190500"/>
          </a:xfrm>
          <a:prstGeom prst="rect">
            <a:avLst/>
          </a:prstGeom>
          <a:solidFill>
            <a:srgbClr val="132238"/>
          </a:solidFill>
          <a:ln w="0">
            <a:noFill/>
            <a:prstDash val="solid"/>
          </a:ln>
        </p:spPr>
      </p:sp>
      <p:sp>
        <p:nvSpPr>
          <p:cNvPr id="37" name="Rectangle 36">
            <a:extLst>
              <a:ext uri="{FF2B5EF4-FFF2-40B4-BE49-F238E27FC236}">
                <a16:creationId xmlns:a16="http://schemas.microsoft.com/office/drawing/2014/main" id="{57C95F05-8843-485D-84C1-D14B0AF2825B}"/>
              </a:ext>
            </a:extLst>
          </p:cNvPr>
          <p:cNvSpPr>
            <a:spLocks noGrp="1"/>
          </p:cNvSpPr>
          <p:nvPr/>
        </p:nvSpPr>
        <p:spPr>
          <a:xfrm>
            <a:off x="9582150" y="3638550"/>
            <a:ext cx="190500" cy="190500"/>
          </a:xfrm>
          <a:prstGeom prst="rect">
            <a:avLst/>
          </a:prstGeom>
          <a:solidFill>
            <a:srgbClr val="132238"/>
          </a:solidFill>
          <a:ln w="0">
            <a:noFill/>
            <a:prstDash val="solid"/>
          </a:ln>
        </p:spPr>
      </p:sp>
      <p:sp>
        <p:nvSpPr>
          <p:cNvPr id="38" name="Rectangle 37">
            <a:extLst>
              <a:ext uri="{FF2B5EF4-FFF2-40B4-BE49-F238E27FC236}">
                <a16:creationId xmlns:a16="http://schemas.microsoft.com/office/drawing/2014/main" id="{88DD9D3B-579E-4C1A-97A5-D45BBCEC80E7}"/>
              </a:ext>
            </a:extLst>
          </p:cNvPr>
          <p:cNvSpPr>
            <a:spLocks noGrp="1"/>
          </p:cNvSpPr>
          <p:nvPr/>
        </p:nvSpPr>
        <p:spPr>
          <a:xfrm>
            <a:off x="10382250" y="3638550"/>
            <a:ext cx="190500" cy="190500"/>
          </a:xfrm>
          <a:prstGeom prst="rect">
            <a:avLst/>
          </a:prstGeom>
          <a:solidFill>
            <a:srgbClr val="132238"/>
          </a:solidFill>
          <a:ln w="0">
            <a:noFill/>
            <a:prstDash val="solid"/>
          </a:ln>
        </p:spPr>
      </p:sp>
      <p:sp>
        <p:nvSpPr>
          <p:cNvPr id="39" name="Rectangle 38">
            <a:extLst>
              <a:ext uri="{FF2B5EF4-FFF2-40B4-BE49-F238E27FC236}">
                <a16:creationId xmlns:a16="http://schemas.microsoft.com/office/drawing/2014/main" id="{34D86B44-8BF6-45E1-8E80-6C1786372240}"/>
              </a:ext>
            </a:extLst>
          </p:cNvPr>
          <p:cNvSpPr>
            <a:spLocks noGrp="1"/>
          </p:cNvSpPr>
          <p:nvPr/>
        </p:nvSpPr>
        <p:spPr>
          <a:xfrm>
            <a:off x="9048750" y="3905250"/>
            <a:ext cx="190500" cy="190500"/>
          </a:xfrm>
          <a:prstGeom prst="rect">
            <a:avLst/>
          </a:prstGeom>
          <a:solidFill>
            <a:srgbClr val="132238"/>
          </a:solidFill>
          <a:ln w="0">
            <a:noFill/>
            <a:prstDash val="solid"/>
          </a:ln>
        </p:spPr>
      </p:sp>
      <p:sp>
        <p:nvSpPr>
          <p:cNvPr id="40" name="Rectangle 39">
            <a:extLst>
              <a:ext uri="{FF2B5EF4-FFF2-40B4-BE49-F238E27FC236}">
                <a16:creationId xmlns:a16="http://schemas.microsoft.com/office/drawing/2014/main" id="{5B771516-6883-4D75-AAB8-1A1DDF4A5390}"/>
              </a:ext>
            </a:extLst>
          </p:cNvPr>
          <p:cNvSpPr>
            <a:spLocks noGrp="1"/>
          </p:cNvSpPr>
          <p:nvPr/>
        </p:nvSpPr>
        <p:spPr>
          <a:xfrm>
            <a:off x="9315450" y="3905250"/>
            <a:ext cx="190500" cy="190500"/>
          </a:xfrm>
          <a:prstGeom prst="rect">
            <a:avLst/>
          </a:prstGeom>
          <a:solidFill>
            <a:srgbClr val="132238"/>
          </a:solidFill>
          <a:ln w="0">
            <a:noFill/>
            <a:prstDash val="solid"/>
          </a:ln>
        </p:spPr>
      </p:sp>
      <p:sp>
        <p:nvSpPr>
          <p:cNvPr id="41" name="Rectangle 40">
            <a:extLst>
              <a:ext uri="{FF2B5EF4-FFF2-40B4-BE49-F238E27FC236}">
                <a16:creationId xmlns:a16="http://schemas.microsoft.com/office/drawing/2014/main" id="{42F157C9-107B-4A50-9814-CF23775AC45D}"/>
              </a:ext>
            </a:extLst>
          </p:cNvPr>
          <p:cNvSpPr>
            <a:spLocks noGrp="1"/>
          </p:cNvSpPr>
          <p:nvPr/>
        </p:nvSpPr>
        <p:spPr>
          <a:xfrm>
            <a:off x="9848850" y="3905250"/>
            <a:ext cx="190500" cy="190500"/>
          </a:xfrm>
          <a:prstGeom prst="rect">
            <a:avLst/>
          </a:prstGeom>
          <a:solidFill>
            <a:srgbClr val="132238"/>
          </a:solidFill>
          <a:ln w="0">
            <a:noFill/>
            <a:prstDash val="solid"/>
          </a:ln>
        </p:spPr>
      </p:sp>
      <p:sp>
        <p:nvSpPr>
          <p:cNvPr id="42" name="Rectangle 41">
            <a:extLst>
              <a:ext uri="{FF2B5EF4-FFF2-40B4-BE49-F238E27FC236}">
                <a16:creationId xmlns:a16="http://schemas.microsoft.com/office/drawing/2014/main" id="{E06F813F-E0F2-4609-A43E-B831F2EFBF02}"/>
              </a:ext>
            </a:extLst>
          </p:cNvPr>
          <p:cNvSpPr>
            <a:spLocks noGrp="1"/>
          </p:cNvSpPr>
          <p:nvPr/>
        </p:nvSpPr>
        <p:spPr>
          <a:xfrm>
            <a:off x="10382250" y="3905250"/>
            <a:ext cx="190500" cy="190500"/>
          </a:xfrm>
          <a:prstGeom prst="rect">
            <a:avLst/>
          </a:prstGeom>
          <a:solidFill>
            <a:srgbClr val="132238"/>
          </a:solidFill>
          <a:ln w="0">
            <a:noFill/>
            <a:prstDash val="solid"/>
          </a:ln>
        </p:spPr>
      </p:sp>
      <p:sp>
        <p:nvSpPr>
          <p:cNvPr id="43" name="Rectangle 42">
            <a:extLst>
              <a:ext uri="{FF2B5EF4-FFF2-40B4-BE49-F238E27FC236}">
                <a16:creationId xmlns:a16="http://schemas.microsoft.com/office/drawing/2014/main" id="{45FF6732-0731-4C70-A638-8FD9379538C1}"/>
              </a:ext>
            </a:extLst>
          </p:cNvPr>
          <p:cNvSpPr>
            <a:spLocks noGrp="1"/>
          </p:cNvSpPr>
          <p:nvPr/>
        </p:nvSpPr>
        <p:spPr>
          <a:xfrm>
            <a:off x="8648700" y="4476750"/>
            <a:ext cx="2286000" cy="323850"/>
          </a:xfrm>
          <a:prstGeom prst="rect">
            <a:avLst/>
          </a:prstGeom>
          <a:noFill/>
          <a:ln w="0">
            <a:noFill/>
            <a:prstDash val="solid"/>
          </a:ln>
        </p:spPr>
        <p:txBody>
          <a:bodyPr wrap="square" lIns="0" tIns="0" rIns="0" bIns="0" anchor="t">
            <a:normAutofit/>
          </a:bodyPr>
          <a:lstStyle/>
          <a:p>
            <a:pPr algn="ctr">
              <a:defRPr sz="1275" b="1" i="0">
                <a:solidFill>
                  <a:srgbClr val="132238"/>
                </a:solidFill>
                <a:latin typeface="Lexend"/>
                <a:ea typeface="Lexend"/>
                <a:cs typeface="Lexend"/>
              </a:defRPr>
            </a:pPr>
            <a:r>
              <a:rPr sz="1275" b="1" i="0">
                <a:solidFill>
                  <a:srgbClr val="132238"/>
                </a:solidFill>
                <a:latin typeface="Lexend"/>
                <a:ea typeface="Lexend"/>
                <a:cs typeface="Lexend"/>
              </a:rPr>
              <a:t>INSERT BETA URL</a:t>
            </a:r>
          </a:p>
        </p:txBody>
      </p:sp>
      <p:sp>
        <p:nvSpPr>
          <p:cNvPr id="44" name="Rectangle 43">
            <a:extLst>
              <a:ext uri="{FF2B5EF4-FFF2-40B4-BE49-F238E27FC236}">
                <a16:creationId xmlns:a16="http://schemas.microsoft.com/office/drawing/2014/main" id="{747FC97A-A927-40CC-89D7-694E13222F5B}"/>
              </a:ext>
            </a:extLst>
          </p:cNvPr>
          <p:cNvSpPr>
            <a:spLocks noGrp="1"/>
          </p:cNvSpPr>
          <p:nvPr/>
        </p:nvSpPr>
        <p:spPr>
          <a:xfrm>
            <a:off x="8743950" y="4857750"/>
            <a:ext cx="2095500" cy="228600"/>
          </a:xfrm>
          <a:prstGeom prst="rect">
            <a:avLst/>
          </a:prstGeom>
          <a:noFill/>
          <a:ln w="0">
            <a:noFill/>
            <a:prstDash val="solid"/>
          </a:ln>
        </p:spPr>
        <p:txBody>
          <a:bodyPr wrap="square" lIns="0" tIns="0" rIns="0" bIns="0" anchor="t">
            <a:normAutofit/>
          </a:bodyPr>
          <a:lstStyle/>
          <a:p>
            <a:pPr algn="ctr">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QR placeholder only</a:t>
            </a:r>
          </a:p>
        </p:txBody>
      </p:sp>
      <p:sp>
        <p:nvSpPr>
          <p:cNvPr id="45" name="Rectangle 44">
            <a:extLst>
              <a:ext uri="{FF2B5EF4-FFF2-40B4-BE49-F238E27FC236}">
                <a16:creationId xmlns:a16="http://schemas.microsoft.com/office/drawing/2014/main" id="{627F0012-E756-4F82-B7BA-4ADB128D41CE}"/>
              </a:ext>
            </a:extLst>
          </p:cNvPr>
          <p:cNvSpPr>
            <a:spLocks noGrp="1"/>
          </p:cNvSpPr>
          <p:nvPr/>
        </p:nvSpPr>
        <p:spPr>
          <a:xfrm>
            <a:off x="647700" y="5848350"/>
            <a:ext cx="10820400" cy="400050"/>
          </a:xfrm>
          <a:prstGeom prst="rect">
            <a:avLst/>
          </a:prstGeom>
          <a:noFill/>
          <a:ln w="0">
            <a:noFill/>
            <a:prstDash val="solid"/>
          </a:ln>
        </p:spPr>
        <p:txBody>
          <a:bodyPr wrap="square" lIns="0" tIns="0" rIns="0" bIns="0" anchor="t">
            <a:normAutofit/>
          </a:bodyPr>
          <a:lstStyle/>
          <a:p>
            <a:pPr algn="ctr">
              <a:defRPr sz="2250" b="1" i="0">
                <a:solidFill>
                  <a:srgbClr val="FFFFFF"/>
                </a:solidFill>
                <a:latin typeface="Lexend"/>
                <a:ea typeface="Lexend"/>
                <a:cs typeface="Lexend"/>
              </a:defRPr>
            </a:pPr>
            <a:r>
              <a:rPr sz="2250" b="1" i="0">
                <a:solidFill>
                  <a:srgbClr val="FFFFFF"/>
                </a:solidFill>
                <a:latin typeface="Lexend"/>
                <a:ea typeface="Lexend"/>
                <a:cs typeface="Lexend"/>
              </a:rPr>
              <a:t>Board smart. Travel smarter.</a:t>
            </a:r>
          </a:p>
        </p:txBody>
      </p:sp>
      <p:sp>
        <p:nvSpPr>
          <p:cNvPr id="46" name="Straight Connector 45">
            <a:extLst>
              <a:ext uri="{FF2B5EF4-FFF2-40B4-BE49-F238E27FC236}">
                <a16:creationId xmlns:a16="http://schemas.microsoft.com/office/drawing/2014/main" id="{06E4F554-2371-41F9-8CAC-74B558C0F66E}"/>
              </a:ext>
            </a:extLst>
          </p:cNvPr>
          <p:cNvSpPr>
            <a:spLocks noGrp="1"/>
          </p:cNvSpPr>
          <p:nvPr/>
        </p:nvSpPr>
        <p:spPr>
          <a:xfrm>
            <a:off x="533400" y="6477000"/>
            <a:ext cx="11125200" cy="0"/>
          </a:xfrm>
          <a:prstGeom prst="line">
            <a:avLst/>
          </a:prstGeom>
          <a:noFill/>
          <a:ln w="9525">
            <a:solidFill>
              <a:srgbClr val="2A4057"/>
            </a:solidFill>
            <a:prstDash val="solid"/>
          </a:ln>
        </p:spPr>
      </p:sp>
      <p:sp>
        <p:nvSpPr>
          <p:cNvPr id="47" name="Rectangle 46">
            <a:extLst>
              <a:ext uri="{FF2B5EF4-FFF2-40B4-BE49-F238E27FC236}">
                <a16:creationId xmlns:a16="http://schemas.microsoft.com/office/drawing/2014/main" id="{96F3BCD7-61BE-465F-BB96-C3440FBB920A}"/>
              </a:ext>
            </a:extLst>
          </p:cNvPr>
          <p:cNvSpPr>
            <a:spLocks noGrp="1"/>
          </p:cNvSpPr>
          <p:nvPr/>
        </p:nvSpPr>
        <p:spPr>
          <a:xfrm>
            <a:off x="533400" y="6534150"/>
            <a:ext cx="11125200" cy="190500"/>
          </a:xfrm>
          <a:prstGeom prst="rect">
            <a:avLst/>
          </a:prstGeom>
          <a:noFill/>
          <a:ln w="0">
            <a:noFill/>
            <a:prstDash val="solid"/>
          </a:ln>
        </p:spPr>
        <p:txBody>
          <a:bodyPr wrap="square" lIns="0" tIns="0" rIns="0" bIns="0" anchor="t">
            <a:normAutofit/>
          </a:bodyPr>
          <a:lstStyle/>
          <a:p>
            <a:pPr algn="l">
              <a:defRPr sz="825" b="0" i="0">
                <a:solidFill>
                  <a:srgbClr val="8397AC"/>
                </a:solidFill>
                <a:latin typeface="Source Sans 3"/>
                <a:ea typeface="Source Sans 3"/>
                <a:cs typeface="Source Sans 3"/>
              </a:defRPr>
            </a:pPr>
            <a:r>
              <a:rPr sz="825" b="0" i="0">
                <a:solidFill>
                  <a:srgbClr val="8397AC"/>
                </a:solidFill>
                <a:latin typeface="Source Sans 3"/>
                <a:ea typeface="Source Sans 3"/>
                <a:cs typeface="Source Sans 3"/>
              </a:rPr>
              <a:t>Prototype test invitation · Replace the QR placeholder only after a verified beta URL is approved</a:t>
            </a:r>
          </a:p>
        </p:txBody>
      </p:sp>
    </p:spTree>
    <p:extLst>
      <p:ext uri="{BB962C8B-B14F-4D97-AF65-F5344CB8AC3E}">
        <p14:creationId xmlns:p14="http://schemas.microsoft.com/office/powerpoint/2010/main" val="680875384"/>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6F7F4"/>
        </a:solidFill>
        <a:effectLst/>
      </p:bgPr>
    </p:bg>
    <p:spTree>
      <p:nvGrpSpPr>
        <p:cNvPr id="1" name=""/>
        <p:cNvGrpSpPr/>
        <p:nvPr/>
      </p:nvGrpSpPr>
      <p:grpSpPr>
        <a:xfrm>
          <a:off x="0" y="0"/>
          <a:ext cx="0" cy="0"/>
          <a:chOff x="0" y="0"/>
          <a:chExt cx="0" cy="0"/>
        </a:xfrm>
      </p:grpSpPr>
      <p:sp>
        <p:nvSpPr>
          <p:cNvPr id="42" name="Rounded Rectangle 41">
            <a:extLst>
              <a:ext uri="{FF2B5EF4-FFF2-40B4-BE49-F238E27FC236}">
                <a16:creationId xmlns:a16="http://schemas.microsoft.com/office/drawing/2014/main" id="{B5CD5856-DDC9-4B6A-A110-DD9F437CE360}"/>
              </a:ext>
            </a:extLst>
          </p:cNvPr>
          <p:cNvSpPr>
            <a:spLocks noGrp="1"/>
          </p:cNvSpPr>
          <p:nvPr/>
        </p:nvSpPr>
        <p:spPr>
          <a:xfrm>
            <a:off x="533400" y="361950"/>
            <a:ext cx="125730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975" b="1" i="0">
                <a:solidFill>
                  <a:srgbClr val="175CD3"/>
                </a:solidFill>
                <a:latin typeface="Lexend"/>
                <a:ea typeface="Lexend"/>
                <a:cs typeface="Lexend"/>
              </a:defRPr>
            </a:pPr>
            <a:r>
              <a:rPr sz="975" b="1" i="0">
                <a:solidFill>
                  <a:srgbClr val="175CD3"/>
                </a:solidFill>
                <a:latin typeface="Lexend"/>
                <a:ea typeface="Lexend"/>
                <a:cs typeface="Lexend"/>
              </a:rPr>
              <a:t>LIBRARY</a:t>
            </a:r>
          </a:p>
        </p:txBody>
      </p:sp>
      <p:sp>
        <p:nvSpPr>
          <p:cNvPr id="2" name="slide-16-title">
            <a:extLst>
              <a:ext uri="{FF2B5EF4-FFF2-40B4-BE49-F238E27FC236}">
                <a16:creationId xmlns:a16="http://schemas.microsoft.com/office/drawing/2014/main" id="{F802CDC7-90DC-4131-A709-F96F928B12B7}"/>
              </a:ext>
            </a:extLst>
          </p:cNvPr>
          <p:cNvSpPr>
            <a:spLocks noGrp="1"/>
          </p:cNvSpPr>
          <p:nvPr/>
        </p:nvSpPr>
        <p:spPr>
          <a:xfrm>
            <a:off x="533400" y="781050"/>
            <a:ext cx="9906000" cy="533400"/>
          </a:xfrm>
          <a:prstGeom prst="rect">
            <a:avLst/>
          </a:prstGeom>
          <a:noFill/>
          <a:ln w="0">
            <a:noFill/>
            <a:prstDash val="solid"/>
          </a:ln>
        </p:spPr>
        <p:txBody>
          <a:bodyPr wrap="square" lIns="0" tIns="0" rIns="0" bIns="0" anchor="t">
            <a:normAutofit/>
          </a:bodyPr>
          <a:lstStyle/>
          <a:p>
            <a:pPr algn="l">
              <a:defRPr sz="2550" b="1" i="0">
                <a:solidFill>
                  <a:srgbClr val="132238"/>
                </a:solidFill>
                <a:latin typeface="Lexend"/>
                <a:ea typeface="Lexend"/>
                <a:cs typeface="Lexend"/>
              </a:defRPr>
            </a:pPr>
            <a:r>
              <a:rPr sz="2550" b="1" i="0">
                <a:solidFill>
                  <a:srgbClr val="132238"/>
                </a:solidFill>
                <a:latin typeface="Lexend"/>
                <a:ea typeface="Lexend"/>
                <a:cs typeface="Lexend"/>
              </a:rPr>
              <a:t>Civic Clay reusable components</a:t>
            </a:r>
          </a:p>
        </p:txBody>
      </p:sp>
      <p:sp>
        <p:nvSpPr>
          <p:cNvPr id="3" name="Rectangle 2">
            <a:extLst>
              <a:ext uri="{FF2B5EF4-FFF2-40B4-BE49-F238E27FC236}">
                <a16:creationId xmlns:a16="http://schemas.microsoft.com/office/drawing/2014/main" id="{60ECACA6-8828-4AD3-A5A1-B98BC5AC8469}"/>
              </a:ext>
            </a:extLst>
          </p:cNvPr>
          <p:cNvSpPr>
            <a:spLocks noGrp="1"/>
          </p:cNvSpPr>
          <p:nvPr/>
        </p:nvSpPr>
        <p:spPr>
          <a:xfrm>
            <a:off x="533400" y="1304925"/>
            <a:ext cx="10001250" cy="323850"/>
          </a:xfrm>
          <a:prstGeom prst="rect">
            <a:avLst/>
          </a:prstGeom>
          <a:noFill/>
          <a:ln w="0">
            <a:noFill/>
            <a:prstDash val="solid"/>
          </a:ln>
        </p:spPr>
        <p:txBody>
          <a:bodyPr wrap="square" lIns="0" tIns="0" rIns="0" bIns="0" anchor="t">
            <a:normAutofit/>
          </a:bodyPr>
          <a:lstStyle/>
          <a:p>
            <a:pPr algn="l">
              <a:defRPr sz="1350" b="0" i="0">
                <a:solidFill>
                  <a:srgbClr val="5F6B7A"/>
                </a:solidFill>
                <a:latin typeface="Source Sans 3"/>
                <a:ea typeface="Source Sans 3"/>
                <a:cs typeface="Source Sans 3"/>
              </a:defRPr>
            </a:pPr>
            <a:r>
              <a:rPr sz="1350" b="0" i="0">
                <a:solidFill>
                  <a:srgbClr val="5F6B7A"/>
                </a:solidFill>
                <a:latin typeface="Source Sans 3"/>
                <a:ea typeface="Source Sans 3"/>
                <a:cs typeface="Source Sans 3"/>
              </a:rPr>
              <a:t>Hidden slide · Copy and adapt these editable modules.</a:t>
            </a:r>
          </a:p>
        </p:txBody>
      </p:sp>
      <p:sp>
        <p:nvSpPr>
          <p:cNvPr id="4" name="Rectangle 3">
            <a:extLst>
              <a:ext uri="{FF2B5EF4-FFF2-40B4-BE49-F238E27FC236}">
                <a16:creationId xmlns:a16="http://schemas.microsoft.com/office/drawing/2014/main" id="{CC35B79B-4F93-4469-9CC8-939A5D3D0645}"/>
              </a:ext>
            </a:extLst>
          </p:cNvPr>
          <p:cNvSpPr>
            <a:spLocks noGrp="1"/>
          </p:cNvSpPr>
          <p:nvPr/>
        </p:nvSpPr>
        <p:spPr>
          <a:xfrm>
            <a:off x="11334750" y="400050"/>
            <a:ext cx="323850" cy="228600"/>
          </a:xfrm>
          <a:prstGeom prst="rect">
            <a:avLst/>
          </a:prstGeom>
          <a:noFill/>
          <a:ln w="0">
            <a:noFill/>
            <a:prstDash val="solid"/>
          </a:ln>
        </p:spPr>
        <p:txBody>
          <a:bodyPr wrap="square" lIns="0" tIns="0" rIns="0" bIns="0" anchor="t">
            <a:normAutofit/>
          </a:bodyPr>
          <a:lstStyle/>
          <a:p>
            <a:pPr algn="r">
              <a:defRPr sz="1125" b="1" i="0">
                <a:solidFill>
                  <a:srgbClr val="8C98A8"/>
                </a:solidFill>
                <a:latin typeface="Lexend"/>
                <a:ea typeface="Lexend"/>
                <a:cs typeface="Lexend"/>
              </a:defRPr>
            </a:pPr>
            <a:r>
              <a:rPr sz="1125" b="1" i="0">
                <a:solidFill>
                  <a:srgbClr val="8C98A8"/>
                </a:solidFill>
                <a:latin typeface="Lexend"/>
                <a:ea typeface="Lexend"/>
                <a:cs typeface="Lexend"/>
              </a:rPr>
              <a:t>16</a:t>
            </a:r>
          </a:p>
        </p:txBody>
      </p:sp>
      <p:sp>
        <p:nvSpPr>
          <p:cNvPr id="5" name="Rounded Rectangle 4">
            <a:extLst>
              <a:ext uri="{FF2B5EF4-FFF2-40B4-BE49-F238E27FC236}">
                <a16:creationId xmlns:a16="http://schemas.microsoft.com/office/drawing/2014/main" id="{EE9A39AF-9846-45FA-9B36-120F33629E8C}"/>
              </a:ext>
            </a:extLst>
          </p:cNvPr>
          <p:cNvSpPr>
            <a:spLocks noGrp="1"/>
          </p:cNvSpPr>
          <p:nvPr/>
        </p:nvSpPr>
        <p:spPr>
          <a:xfrm>
            <a:off x="533400" y="1619250"/>
            <a:ext cx="2381250" cy="1181100"/>
          </a:xfrm>
          <a:prstGeom prst="roundRect">
            <a:avLst>
              <a:gd name="adj" fmla="val 14516"/>
            </a:avLst>
          </a:prstGeom>
          <a:solidFill>
            <a:srgbClr val="FFFFFF"/>
          </a:solidFill>
          <a:ln w="9525">
            <a:solidFill>
              <a:srgbClr val="D8DEE8"/>
            </a:solidFill>
            <a:prstDash val="solid"/>
          </a:ln>
        </p:spPr>
        <p:style>
          <a:lnRef idx="0">
            <a:scrgbClr r="0" g="0" b="0"/>
          </a:lnRef>
          <a:fillRef idx="0">
            <a:scrgbClr r="0" g="0" b="0"/>
          </a:fillRef>
          <a:effectRef idx="4">
            <a:scrgbClr r="0" g="0" b="0"/>
          </a:effectRef>
          <a:fontRef idx="major"/>
        </p:style>
      </p:sp>
      <p:sp>
        <p:nvSpPr>
          <p:cNvPr id="6" name="Rectangle 5">
            <a:extLst>
              <a:ext uri="{FF2B5EF4-FFF2-40B4-BE49-F238E27FC236}">
                <a16:creationId xmlns:a16="http://schemas.microsoft.com/office/drawing/2014/main" id="{57E7723E-52F2-4AC2-9AD7-12B71326E988}"/>
              </a:ext>
            </a:extLst>
          </p:cNvPr>
          <p:cNvSpPr>
            <a:spLocks noGrp="1"/>
          </p:cNvSpPr>
          <p:nvPr/>
        </p:nvSpPr>
        <p:spPr>
          <a:xfrm>
            <a:off x="723900" y="1809750"/>
            <a:ext cx="2000250" cy="266700"/>
          </a:xfrm>
          <a:prstGeom prst="rect">
            <a:avLst/>
          </a:prstGeom>
          <a:noFill/>
          <a:ln w="0">
            <a:noFill/>
            <a:prstDash val="solid"/>
          </a:ln>
        </p:spPr>
        <p:txBody>
          <a:bodyPr wrap="square" lIns="0" tIns="0" rIns="0" bIns="0" anchor="t">
            <a:normAutofit/>
          </a:bodyPr>
          <a:lstStyle/>
          <a:p>
            <a:pPr algn="l">
              <a:defRPr sz="1425" b="1" i="0">
                <a:solidFill>
                  <a:srgbClr val="132238"/>
                </a:solidFill>
                <a:latin typeface="Lexend"/>
                <a:ea typeface="Lexend"/>
                <a:cs typeface="Lexend"/>
              </a:defRPr>
            </a:pPr>
            <a:r>
              <a:rPr sz="1425" b="1" i="0">
                <a:solidFill>
                  <a:srgbClr val="132238"/>
                </a:solidFill>
                <a:latin typeface="Lexend"/>
                <a:ea typeface="Lexend"/>
                <a:cs typeface="Lexend"/>
              </a:rPr>
              <a:t>Raised card</a:t>
            </a:r>
          </a:p>
        </p:txBody>
      </p:sp>
      <p:sp>
        <p:nvSpPr>
          <p:cNvPr id="7" name="Rectangle 6">
            <a:extLst>
              <a:ext uri="{FF2B5EF4-FFF2-40B4-BE49-F238E27FC236}">
                <a16:creationId xmlns:a16="http://schemas.microsoft.com/office/drawing/2014/main" id="{ECE70A24-A8FC-4F82-9E73-8504604F34E6}"/>
              </a:ext>
            </a:extLst>
          </p:cNvPr>
          <p:cNvSpPr>
            <a:spLocks noGrp="1"/>
          </p:cNvSpPr>
          <p:nvPr/>
        </p:nvSpPr>
        <p:spPr>
          <a:xfrm>
            <a:off x="723900" y="2200275"/>
            <a:ext cx="2000250" cy="361950"/>
          </a:xfrm>
          <a:prstGeom prst="rect">
            <a:avLst/>
          </a:prstGeom>
          <a:noFill/>
          <a:ln w="0">
            <a:noFill/>
            <a:prstDash val="solid"/>
          </a:ln>
        </p:spPr>
        <p:txBody>
          <a:bodyPr wrap="square" lIns="0" tIns="0" rIns="0" bIns="0" anchor="t">
            <a:normAutofit/>
          </a:bodyPr>
          <a:lstStyle/>
          <a:p>
            <a:pPr algn="l">
              <a:defRPr sz="1125" b="0" i="0">
                <a:solidFill>
                  <a:srgbClr val="5F6B7A"/>
                </a:solidFill>
                <a:latin typeface="Source Sans 3"/>
                <a:ea typeface="Source Sans 3"/>
                <a:cs typeface="Source Sans 3"/>
              </a:defRPr>
            </a:pPr>
            <a:r>
              <a:rPr sz="1125" b="0" i="0">
                <a:solidFill>
                  <a:srgbClr val="5F6B7A"/>
                </a:solidFill>
                <a:latin typeface="Source Sans 3"/>
                <a:ea typeface="Source Sans 3"/>
                <a:cs typeface="Source Sans 3"/>
              </a:rPr>
              <a:t>Warm Canvas + white surface</a:t>
            </a:r>
          </a:p>
        </p:txBody>
      </p:sp>
      <p:sp>
        <p:nvSpPr>
          <p:cNvPr id="8" name="Rounded Rectangle 7">
            <a:extLst>
              <a:ext uri="{FF2B5EF4-FFF2-40B4-BE49-F238E27FC236}">
                <a16:creationId xmlns:a16="http://schemas.microsoft.com/office/drawing/2014/main" id="{A7E98823-B77D-4834-8E57-05646C974384}"/>
              </a:ext>
            </a:extLst>
          </p:cNvPr>
          <p:cNvSpPr>
            <a:spLocks noGrp="1"/>
          </p:cNvSpPr>
          <p:nvPr/>
        </p:nvSpPr>
        <p:spPr>
          <a:xfrm>
            <a:off x="3143250" y="1619250"/>
            <a:ext cx="2381250" cy="1181100"/>
          </a:xfrm>
          <a:prstGeom prst="roundRect">
            <a:avLst>
              <a:gd name="adj" fmla="val 14516"/>
            </a:avLst>
          </a:prstGeom>
          <a:solidFill>
            <a:srgbClr val="111B2E"/>
          </a:solidFill>
          <a:ln w="9525">
            <a:solidFill>
              <a:srgbClr val="2A4057"/>
            </a:solidFill>
            <a:prstDash val="solid"/>
          </a:ln>
        </p:spPr>
      </p:sp>
      <p:sp>
        <p:nvSpPr>
          <p:cNvPr id="9" name="Rectangle 8">
            <a:extLst>
              <a:ext uri="{FF2B5EF4-FFF2-40B4-BE49-F238E27FC236}">
                <a16:creationId xmlns:a16="http://schemas.microsoft.com/office/drawing/2014/main" id="{2D09C359-D5D3-48D4-9ECE-764E89879D5D}"/>
              </a:ext>
            </a:extLst>
          </p:cNvPr>
          <p:cNvSpPr>
            <a:spLocks noGrp="1"/>
          </p:cNvSpPr>
          <p:nvPr/>
        </p:nvSpPr>
        <p:spPr>
          <a:xfrm>
            <a:off x="3333750" y="1809750"/>
            <a:ext cx="2000250" cy="266700"/>
          </a:xfrm>
          <a:prstGeom prst="rect">
            <a:avLst/>
          </a:prstGeom>
          <a:noFill/>
          <a:ln w="0">
            <a:noFill/>
            <a:prstDash val="solid"/>
          </a:ln>
        </p:spPr>
        <p:txBody>
          <a:bodyPr wrap="square" lIns="0" tIns="0" rIns="0" bIns="0" anchor="t">
            <a:normAutofit/>
          </a:bodyPr>
          <a:lstStyle/>
          <a:p>
            <a:pPr algn="l">
              <a:defRPr sz="1425" b="1" i="0">
                <a:solidFill>
                  <a:srgbClr val="FFFFFF"/>
                </a:solidFill>
                <a:latin typeface="Lexend"/>
                <a:ea typeface="Lexend"/>
                <a:cs typeface="Lexend"/>
              </a:defRPr>
            </a:pPr>
            <a:r>
              <a:rPr sz="1425" b="1" i="0">
                <a:solidFill>
                  <a:srgbClr val="FFFFFF"/>
                </a:solidFill>
                <a:latin typeface="Lexend"/>
                <a:ea typeface="Lexend"/>
                <a:cs typeface="Lexend"/>
              </a:rPr>
              <a:t>Product panel</a:t>
            </a:r>
          </a:p>
        </p:txBody>
      </p:sp>
      <p:sp>
        <p:nvSpPr>
          <p:cNvPr id="10" name="Rectangle 9">
            <a:extLst>
              <a:ext uri="{FF2B5EF4-FFF2-40B4-BE49-F238E27FC236}">
                <a16:creationId xmlns:a16="http://schemas.microsoft.com/office/drawing/2014/main" id="{390B7EAA-8F17-4FFB-BDAF-410ED12D49F2}"/>
              </a:ext>
            </a:extLst>
          </p:cNvPr>
          <p:cNvSpPr>
            <a:spLocks noGrp="1"/>
          </p:cNvSpPr>
          <p:nvPr/>
        </p:nvSpPr>
        <p:spPr>
          <a:xfrm>
            <a:off x="3333750" y="2200275"/>
            <a:ext cx="2000250" cy="361950"/>
          </a:xfrm>
          <a:prstGeom prst="rect">
            <a:avLst/>
          </a:prstGeom>
          <a:noFill/>
          <a:ln w="0">
            <a:noFill/>
            <a:prstDash val="solid"/>
          </a:ln>
        </p:spPr>
        <p:txBody>
          <a:bodyPr wrap="square" lIns="0" tIns="0" rIns="0" bIns="0" anchor="t">
            <a:normAutofit/>
          </a:bodyPr>
          <a:lstStyle/>
          <a:p>
            <a:pPr algn="l">
              <a:defRPr sz="1125" b="0" i="0">
                <a:solidFill>
                  <a:srgbClr val="A9B8CB"/>
                </a:solidFill>
                <a:latin typeface="Source Sans 3"/>
                <a:ea typeface="Source Sans 3"/>
                <a:cs typeface="Source Sans 3"/>
              </a:defRPr>
            </a:pPr>
            <a:r>
              <a:rPr sz="1125" b="0" i="0">
                <a:solidFill>
                  <a:srgbClr val="A9B8CB"/>
                </a:solidFill>
                <a:latin typeface="Source Sans 3"/>
                <a:ea typeface="Source Sans 3"/>
                <a:cs typeface="Source Sans 3"/>
              </a:rPr>
              <a:t>Civic Navy + cool border</a:t>
            </a:r>
          </a:p>
        </p:txBody>
      </p:sp>
      <p:sp>
        <p:nvSpPr>
          <p:cNvPr id="11" name="Rounded Rectangle 10">
            <a:extLst>
              <a:ext uri="{FF2B5EF4-FFF2-40B4-BE49-F238E27FC236}">
                <a16:creationId xmlns:a16="http://schemas.microsoft.com/office/drawing/2014/main" id="{C7806C51-66C3-4622-B066-572BFCFCB0D2}"/>
              </a:ext>
            </a:extLst>
          </p:cNvPr>
          <p:cNvSpPr>
            <a:spLocks noGrp="1"/>
          </p:cNvSpPr>
          <p:nvPr/>
        </p:nvSpPr>
        <p:spPr>
          <a:xfrm>
            <a:off x="5753100" y="1619250"/>
            <a:ext cx="5905500" cy="1657350"/>
          </a:xfrm>
          <a:prstGeom prst="roundRect">
            <a:avLst>
              <a:gd name="adj" fmla="val 10345"/>
            </a:avLst>
          </a:prstGeom>
          <a:solidFill>
            <a:srgbClr val="FFF7ED"/>
          </a:solidFill>
          <a:ln w="9525">
            <a:solidFill>
              <a:srgbClr val="FDBA74"/>
            </a:solidFill>
            <a:prstDash val="solid"/>
          </a:ln>
        </p:spPr>
      </p:sp>
      <p:sp>
        <p:nvSpPr>
          <p:cNvPr id="12" name="Rounded Rectangle 11">
            <a:extLst>
              <a:ext uri="{FF2B5EF4-FFF2-40B4-BE49-F238E27FC236}">
                <a16:creationId xmlns:a16="http://schemas.microsoft.com/office/drawing/2014/main" id="{7F73D476-6599-464B-BE3F-2C68BCC68274}"/>
              </a:ext>
            </a:extLst>
          </p:cNvPr>
          <p:cNvSpPr>
            <a:spLocks noGrp="1"/>
          </p:cNvSpPr>
          <p:nvPr/>
        </p:nvSpPr>
        <p:spPr>
          <a:xfrm>
            <a:off x="5943600" y="1790700"/>
            <a:ext cx="20002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900" b="1" i="0">
                <a:solidFill>
                  <a:srgbClr val="B54708"/>
                </a:solidFill>
                <a:latin typeface="Lexend"/>
                <a:ea typeface="Lexend"/>
                <a:cs typeface="Lexend"/>
              </a:defRPr>
            </a:pPr>
            <a:r>
              <a:rPr sz="900" b="1" i="0">
                <a:solidFill>
                  <a:srgbClr val="B54708"/>
                </a:solidFill>
                <a:latin typeface="Lexend"/>
                <a:ea typeface="Lexend"/>
                <a:cs typeface="Lexend"/>
              </a:rPr>
              <a:t>OWNER INPUT REQUIRED</a:t>
            </a:r>
          </a:p>
        </p:txBody>
      </p:sp>
      <p:sp>
        <p:nvSpPr>
          <p:cNvPr id="13" name="Rectangle 12">
            <a:extLst>
              <a:ext uri="{FF2B5EF4-FFF2-40B4-BE49-F238E27FC236}">
                <a16:creationId xmlns:a16="http://schemas.microsoft.com/office/drawing/2014/main" id="{E9CD2484-5D96-47AF-BB91-071ABB674BD1}"/>
              </a:ext>
            </a:extLst>
          </p:cNvPr>
          <p:cNvSpPr>
            <a:spLocks noGrp="1"/>
          </p:cNvSpPr>
          <p:nvPr/>
        </p:nvSpPr>
        <p:spPr>
          <a:xfrm>
            <a:off x="5962650" y="2171700"/>
            <a:ext cx="5486400" cy="295275"/>
          </a:xfrm>
          <a:prstGeom prst="rect">
            <a:avLst/>
          </a:prstGeom>
          <a:noFill/>
          <a:ln w="0">
            <a:noFill/>
            <a:prstDash val="solid"/>
          </a:ln>
        </p:spPr>
        <p:txBody>
          <a:bodyPr wrap="square" lIns="0" tIns="0" rIns="0" bIns="0" anchor="t">
            <a:normAutofit/>
          </a:bodyPr>
          <a:lstStyle/>
          <a:p>
            <a:pPr algn="l">
              <a:defRPr sz="1500" b="1" i="0">
                <a:solidFill>
                  <a:srgbClr val="132238"/>
                </a:solidFill>
                <a:latin typeface="Lexend"/>
                <a:ea typeface="Lexend"/>
                <a:cs typeface="Lexend"/>
              </a:defRPr>
            </a:pPr>
            <a:r>
              <a:rPr sz="1500" b="1" i="0">
                <a:solidFill>
                  <a:srgbClr val="132238"/>
                </a:solidFill>
                <a:latin typeface="Lexend"/>
                <a:ea typeface="Lexend"/>
                <a:cs typeface="Lexend"/>
              </a:rPr>
              <a:t>OWNER to provide</a:t>
            </a:r>
          </a:p>
        </p:txBody>
      </p:sp>
      <p:sp>
        <p:nvSpPr>
          <p:cNvPr id="14" name="Oval 13">
            <a:extLst>
              <a:ext uri="{FF2B5EF4-FFF2-40B4-BE49-F238E27FC236}">
                <a16:creationId xmlns:a16="http://schemas.microsoft.com/office/drawing/2014/main" id="{985BDB37-B437-4E5C-927B-21AA3A59DD0B}"/>
              </a:ext>
            </a:extLst>
          </p:cNvPr>
          <p:cNvSpPr>
            <a:spLocks noGrp="1"/>
          </p:cNvSpPr>
          <p:nvPr/>
        </p:nvSpPr>
        <p:spPr>
          <a:xfrm>
            <a:off x="5981700" y="2638425"/>
            <a:ext cx="76200" cy="76200"/>
          </a:xfrm>
          <a:prstGeom prst="ellipse">
            <a:avLst/>
          </a:prstGeom>
          <a:solidFill>
            <a:srgbClr val="F97316"/>
          </a:solidFill>
          <a:ln w="0">
            <a:noFill/>
            <a:prstDash val="solid"/>
          </a:ln>
        </p:spPr>
      </p:sp>
      <p:sp>
        <p:nvSpPr>
          <p:cNvPr id="15" name="Rectangle 14">
            <a:extLst>
              <a:ext uri="{FF2B5EF4-FFF2-40B4-BE49-F238E27FC236}">
                <a16:creationId xmlns:a16="http://schemas.microsoft.com/office/drawing/2014/main" id="{BA012DBE-9A8F-46C7-B294-E06758780CEF}"/>
              </a:ext>
            </a:extLst>
          </p:cNvPr>
          <p:cNvSpPr>
            <a:spLocks noGrp="1"/>
          </p:cNvSpPr>
          <p:nvPr/>
        </p:nvSpPr>
        <p:spPr>
          <a:xfrm>
            <a:off x="6172200" y="2571750"/>
            <a:ext cx="52578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Prompt item</a:t>
            </a:r>
          </a:p>
        </p:txBody>
      </p:sp>
      <p:sp>
        <p:nvSpPr>
          <p:cNvPr id="16" name="Oval 15">
            <a:extLst>
              <a:ext uri="{FF2B5EF4-FFF2-40B4-BE49-F238E27FC236}">
                <a16:creationId xmlns:a16="http://schemas.microsoft.com/office/drawing/2014/main" id="{260B4D32-48FF-4F09-A9E6-B76C0454C6B1}"/>
              </a:ext>
            </a:extLst>
          </p:cNvPr>
          <p:cNvSpPr>
            <a:spLocks noGrp="1"/>
          </p:cNvSpPr>
          <p:nvPr/>
        </p:nvSpPr>
        <p:spPr>
          <a:xfrm>
            <a:off x="5981700" y="3048000"/>
            <a:ext cx="76200" cy="76200"/>
          </a:xfrm>
          <a:prstGeom prst="ellipse">
            <a:avLst/>
          </a:prstGeom>
          <a:solidFill>
            <a:srgbClr val="F97316"/>
          </a:solidFill>
          <a:ln w="0">
            <a:noFill/>
            <a:prstDash val="solid"/>
          </a:ln>
        </p:spPr>
      </p:sp>
      <p:sp>
        <p:nvSpPr>
          <p:cNvPr id="17" name="Rectangle 16">
            <a:extLst>
              <a:ext uri="{FF2B5EF4-FFF2-40B4-BE49-F238E27FC236}">
                <a16:creationId xmlns:a16="http://schemas.microsoft.com/office/drawing/2014/main" id="{ECCB0435-C376-4A65-8257-F4B4B594024D}"/>
              </a:ext>
            </a:extLst>
          </p:cNvPr>
          <p:cNvSpPr>
            <a:spLocks noGrp="1"/>
          </p:cNvSpPr>
          <p:nvPr/>
        </p:nvSpPr>
        <p:spPr>
          <a:xfrm>
            <a:off x="6172200" y="2981325"/>
            <a:ext cx="5257800" cy="304800"/>
          </a:xfrm>
          <a:prstGeom prst="rect">
            <a:avLst/>
          </a:prstGeom>
          <a:noFill/>
          <a:ln w="0">
            <a:noFill/>
            <a:prstDash val="solid"/>
          </a:ln>
        </p:spPr>
        <p:txBody>
          <a:bodyPr wrap="square" lIns="0" tIns="0" rIns="0" bIns="0" anchor="t">
            <a:normAutofit/>
          </a:bodyPr>
          <a:lstStyle/>
          <a:p>
            <a:pPr algn="l">
              <a:defRPr sz="1275" b="0" i="0">
                <a:solidFill>
                  <a:srgbClr val="132238"/>
                </a:solidFill>
                <a:latin typeface="Source Sans 3"/>
                <a:ea typeface="Source Sans 3"/>
                <a:cs typeface="Source Sans 3"/>
              </a:defRPr>
            </a:pPr>
            <a:r>
              <a:rPr sz="1275" b="0" i="0">
                <a:solidFill>
                  <a:srgbClr val="132238"/>
                </a:solidFill>
                <a:latin typeface="Source Sans 3"/>
                <a:ea typeface="Source Sans 3"/>
                <a:cs typeface="Source Sans 3"/>
              </a:rPr>
              <a:t>Evidence slot</a:t>
            </a:r>
          </a:p>
        </p:txBody>
      </p:sp>
      <p:sp>
        <p:nvSpPr>
          <p:cNvPr id="18" name="Rectangle 17">
            <a:extLst>
              <a:ext uri="{FF2B5EF4-FFF2-40B4-BE49-F238E27FC236}">
                <a16:creationId xmlns:a16="http://schemas.microsoft.com/office/drawing/2014/main" id="{B787DDFE-6E8E-4D83-9C58-F7D67C19DAFF}"/>
              </a:ext>
            </a:extLst>
          </p:cNvPr>
          <p:cNvSpPr>
            <a:spLocks noGrp="1"/>
          </p:cNvSpPr>
          <p:nvPr/>
        </p:nvSpPr>
        <p:spPr>
          <a:xfrm>
            <a:off x="533400" y="3219450"/>
            <a:ext cx="952500" cy="266700"/>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Stat</a:t>
            </a:r>
          </a:p>
        </p:txBody>
      </p:sp>
      <p:sp>
        <p:nvSpPr>
          <p:cNvPr id="19" name="Rounded Rectangle 18">
            <a:extLst>
              <a:ext uri="{FF2B5EF4-FFF2-40B4-BE49-F238E27FC236}">
                <a16:creationId xmlns:a16="http://schemas.microsoft.com/office/drawing/2014/main" id="{7F337BCB-7C7E-4BD1-A570-BF73E5B39B5B}"/>
              </a:ext>
            </a:extLst>
          </p:cNvPr>
          <p:cNvSpPr>
            <a:spLocks noGrp="1"/>
          </p:cNvSpPr>
          <p:nvPr/>
        </p:nvSpPr>
        <p:spPr>
          <a:xfrm>
            <a:off x="533400" y="3600450"/>
            <a:ext cx="2000250" cy="704850"/>
          </a:xfrm>
          <a:prstGeom prst="roundRect">
            <a:avLst>
              <a:gd name="adj" fmla="val 24324"/>
            </a:avLst>
          </a:prstGeom>
          <a:solidFill>
            <a:srgbClr val="EAF1FF"/>
          </a:solidFill>
          <a:ln w="9525">
            <a:solidFill>
              <a:srgbClr val="C8D9FF"/>
            </a:solidFill>
            <a:prstDash val="solid"/>
          </a:ln>
        </p:spPr>
        <p:txBody>
          <a:bodyPr wrap="square" lIns="0" tIns="0" rIns="0" bIns="0" anchor="ctr">
            <a:normAutofit/>
          </a:bodyPr>
          <a:lstStyle/>
          <a:p>
            <a:pPr algn="ctr">
              <a:defRPr sz="3150" b="1" i="0">
                <a:solidFill>
                  <a:srgbClr val="175CD3"/>
                </a:solidFill>
                <a:latin typeface="Lexend"/>
                <a:ea typeface="Lexend"/>
                <a:cs typeface="Lexend"/>
              </a:defRPr>
            </a:pPr>
            <a:r>
              <a:rPr sz="3150" b="1" i="0">
                <a:solidFill>
                  <a:srgbClr val="175CD3"/>
                </a:solidFill>
                <a:latin typeface="Lexend"/>
                <a:ea typeface="Lexend"/>
                <a:cs typeface="Lexend"/>
              </a:rPr>
              <a:t>XX%</a:t>
            </a:r>
          </a:p>
        </p:txBody>
      </p:sp>
      <p:sp>
        <p:nvSpPr>
          <p:cNvPr id="20" name="Rectangle 19">
            <a:extLst>
              <a:ext uri="{FF2B5EF4-FFF2-40B4-BE49-F238E27FC236}">
                <a16:creationId xmlns:a16="http://schemas.microsoft.com/office/drawing/2014/main" id="{88F806D5-1823-4514-89FD-76731A10AE7F}"/>
              </a:ext>
            </a:extLst>
          </p:cNvPr>
          <p:cNvSpPr>
            <a:spLocks noGrp="1"/>
          </p:cNvSpPr>
          <p:nvPr/>
        </p:nvSpPr>
        <p:spPr>
          <a:xfrm>
            <a:off x="2781300" y="3219450"/>
            <a:ext cx="1143000" cy="266700"/>
          </a:xfrm>
          <a:prstGeom prst="rect">
            <a:avLst/>
          </a:prstGeom>
          <a:noFill/>
          <a:ln w="0">
            <a:noFill/>
            <a:prstDash val="solid"/>
          </a:ln>
        </p:spPr>
        <p:txBody>
          <a:bodyPr wrap="square" lIns="0" tIns="0" rIns="0" bIns="0" anchor="t">
            <a:normAutofit/>
          </a:bodyPr>
          <a:lstStyle/>
          <a:p>
            <a:pPr algn="l">
              <a:defRPr sz="1350" b="1" i="0">
                <a:solidFill>
                  <a:srgbClr val="132238"/>
                </a:solidFill>
                <a:latin typeface="Lexend"/>
                <a:ea typeface="Lexend"/>
                <a:cs typeface="Lexend"/>
              </a:defRPr>
            </a:pPr>
            <a:r>
              <a:rPr sz="1350" b="1" i="0">
                <a:solidFill>
                  <a:srgbClr val="132238"/>
                </a:solidFill>
                <a:latin typeface="Lexend"/>
                <a:ea typeface="Lexend"/>
                <a:cs typeface="Lexend"/>
              </a:rPr>
              <a:t>Evidence</a:t>
            </a:r>
          </a:p>
        </p:txBody>
      </p:sp>
      <p:sp>
        <p:nvSpPr>
          <p:cNvPr id="21" name="Rounded Rectangle 20">
            <a:extLst>
              <a:ext uri="{FF2B5EF4-FFF2-40B4-BE49-F238E27FC236}">
                <a16:creationId xmlns:a16="http://schemas.microsoft.com/office/drawing/2014/main" id="{20C01C2D-F5DB-4673-BF59-852AFB68FFFF}"/>
              </a:ext>
            </a:extLst>
          </p:cNvPr>
          <p:cNvSpPr>
            <a:spLocks noGrp="1"/>
          </p:cNvSpPr>
          <p:nvPr/>
        </p:nvSpPr>
        <p:spPr>
          <a:xfrm>
            <a:off x="2781300" y="3600450"/>
            <a:ext cx="2743200" cy="704850"/>
          </a:xfrm>
          <a:prstGeom prst="roundRect">
            <a:avLst>
              <a:gd name="adj" fmla="val 24324"/>
            </a:avLst>
          </a:prstGeom>
          <a:solidFill>
            <a:srgbClr val="FFFFFF"/>
          </a:solidFill>
          <a:ln w="9525">
            <a:solidFill>
              <a:srgbClr val="D8DEE8"/>
            </a:solidFill>
            <a:prstDash val="solid"/>
          </a:ln>
        </p:spPr>
        <p:txBody>
          <a:bodyPr wrap="square" lIns="0" tIns="0" rIns="0" bIns="0" anchor="ctr">
            <a:normAutofit/>
          </a:bodyPr>
          <a:lstStyle/>
          <a:p>
            <a:pPr algn="ctr">
              <a:defRPr sz="1200" b="0" i="0">
                <a:solidFill>
                  <a:srgbClr val="5F6B7A"/>
                </a:solidFill>
                <a:latin typeface="Source Sans 3"/>
                <a:ea typeface="Source Sans 3"/>
                <a:cs typeface="Source Sans 3"/>
              </a:defRPr>
            </a:pPr>
            <a:r>
              <a:rPr sz="1200" b="0" i="0">
                <a:solidFill>
                  <a:srgbClr val="5F6B7A"/>
                </a:solidFill>
                <a:latin typeface="Source Sans 3"/>
                <a:ea typeface="Source Sans 3"/>
                <a:cs typeface="Source Sans 3"/>
              </a:rPr>
              <a:t>Source · date · unit</a:t>
            </a:r>
          </a:p>
        </p:txBody>
      </p:sp>
      <p:sp>
        <p:nvSpPr>
          <p:cNvPr id="22" name="Rounded Rectangle 21">
            <a:extLst>
              <a:ext uri="{FF2B5EF4-FFF2-40B4-BE49-F238E27FC236}">
                <a16:creationId xmlns:a16="http://schemas.microsoft.com/office/drawing/2014/main" id="{BF97F62E-4CA3-4C9A-B94F-088E0CB4A1AC}"/>
              </a:ext>
            </a:extLst>
          </p:cNvPr>
          <p:cNvSpPr>
            <a:spLocks noGrp="1"/>
          </p:cNvSpPr>
          <p:nvPr/>
        </p:nvSpPr>
        <p:spPr>
          <a:xfrm>
            <a:off x="5819775" y="3552825"/>
            <a:ext cx="1295400" cy="1962150"/>
          </a:xfrm>
          <a:prstGeom prst="roundRect">
            <a:avLst>
              <a:gd name="adj" fmla="val 20588"/>
            </a:avLst>
          </a:prstGeom>
          <a:solidFill>
            <a:srgbClr val="050A11"/>
          </a:solidFill>
          <a:ln w="19050">
            <a:solidFill>
              <a:srgbClr val="384B61"/>
            </a:solidFill>
            <a:prstDash val="solid"/>
          </a:ln>
        </p:spPr>
      </p:sp>
      <p:sp>
        <p:nvSpPr>
          <p:cNvPr id="23" name="Rounded Rectangle 22">
            <a:extLst>
              <a:ext uri="{FF2B5EF4-FFF2-40B4-BE49-F238E27FC236}">
                <a16:creationId xmlns:a16="http://schemas.microsoft.com/office/drawing/2014/main" id="{7566B525-A9E0-41FE-8AD4-9E9F0F24A34A}"/>
              </a:ext>
            </a:extLst>
          </p:cNvPr>
          <p:cNvSpPr>
            <a:spLocks noGrp="1"/>
          </p:cNvSpPr>
          <p:nvPr/>
        </p:nvSpPr>
        <p:spPr>
          <a:xfrm>
            <a:off x="6287643" y="3609975"/>
            <a:ext cx="359664" cy="114300"/>
          </a:xfrm>
          <a:prstGeom prst="roundRect">
            <a:avLst>
              <a:gd name="adj" fmla="val 50000"/>
            </a:avLst>
          </a:prstGeom>
          <a:solidFill>
            <a:srgbClr val="050A11"/>
          </a:solidFill>
          <a:ln w="0">
            <a:noFill/>
            <a:prstDash val="solid"/>
          </a:ln>
        </p:spPr>
      </p:sp>
      <p:sp>
        <p:nvSpPr>
          <p:cNvPr id="24" name="Rectangle 23">
            <a:extLst>
              <a:ext uri="{FF2B5EF4-FFF2-40B4-BE49-F238E27FC236}">
                <a16:creationId xmlns:a16="http://schemas.microsoft.com/office/drawing/2014/main" id="{4165ABB1-7BD1-4714-874A-296ACF83D6AB}"/>
              </a:ext>
            </a:extLst>
          </p:cNvPr>
          <p:cNvSpPr>
            <a:spLocks noGrp="1"/>
          </p:cNvSpPr>
          <p:nvPr/>
        </p:nvSpPr>
        <p:spPr>
          <a:xfrm>
            <a:off x="5905500" y="3638550"/>
            <a:ext cx="1123950" cy="1790700"/>
          </a:xfrm>
          <a:prstGeom prst="rect">
            <a:avLst/>
          </a:prstGeom>
          <a:noFill/>
          <a:ln w="0">
            <a:noFill/>
            <a:prstDash val="solid"/>
          </a:ln>
        </p:spPr>
        <p:txBody>
          <a:bodyPr wrap="square" lIns="0" tIns="0" rIns="0" bIns="0" anchor="ctr">
            <a:normAutofit/>
          </a:bodyPr>
          <a:lstStyle/>
          <a:p>
            <a:pPr algn="ctr">
              <a:defRPr sz="1125" b="1" i="0">
                <a:solidFill>
                  <a:srgbClr val="AFC3D8"/>
                </a:solidFill>
                <a:latin typeface="Source Sans 3"/>
                <a:ea typeface="Source Sans 3"/>
                <a:cs typeface="Source Sans 3"/>
              </a:defRPr>
            </a:pPr>
            <a:r>
              <a:rPr sz="1125" b="1" i="0">
                <a:solidFill>
                  <a:srgbClr val="AFC3D8"/>
                </a:solidFill>
                <a:latin typeface="Source Sans 3"/>
                <a:ea typeface="Source Sans 3"/>
                <a:cs typeface="Source Sans 3"/>
              </a:rPr>
              <a:t>PHONE</a:t>
            </a:r>
          </a:p>
          <a:p>
            <a:pPr algn="ctr">
              <a:defRPr sz="1125" b="1" i="0">
                <a:solidFill>
                  <a:srgbClr val="AFC3D8"/>
                </a:solidFill>
                <a:latin typeface="Source Sans 3"/>
                <a:ea typeface="Source Sans 3"/>
                <a:cs typeface="Source Sans 3"/>
              </a:defRPr>
            </a:pPr>
            <a:r>
              <a:rPr sz="1125" b="1" i="0">
                <a:solidFill>
                  <a:srgbClr val="AFC3D8"/>
                </a:solidFill>
                <a:latin typeface="Source Sans 3"/>
                <a:ea typeface="Source Sans 3"/>
                <a:cs typeface="Source Sans 3"/>
              </a:rPr>
              <a:t>FRAME</a:t>
            </a:r>
          </a:p>
        </p:txBody>
      </p:sp>
      <p:sp>
        <p:nvSpPr>
          <p:cNvPr id="25" name="Rounded Rectangle 24">
            <a:extLst>
              <a:ext uri="{FF2B5EF4-FFF2-40B4-BE49-F238E27FC236}">
                <a16:creationId xmlns:a16="http://schemas.microsoft.com/office/drawing/2014/main" id="{9F6E141A-44F7-44F2-B428-03CE071EA196}"/>
              </a:ext>
            </a:extLst>
          </p:cNvPr>
          <p:cNvSpPr>
            <a:spLocks noGrp="1"/>
          </p:cNvSpPr>
          <p:nvPr/>
        </p:nvSpPr>
        <p:spPr>
          <a:xfrm>
            <a:off x="7353300" y="3638550"/>
            <a:ext cx="2305050" cy="1790700"/>
          </a:xfrm>
          <a:prstGeom prst="roundRect">
            <a:avLst>
              <a:gd name="adj" fmla="val 9574"/>
            </a:avLst>
          </a:prstGeom>
          <a:solidFill>
            <a:srgbClr val="111B2E"/>
          </a:solidFill>
          <a:ln w="19050">
            <a:solidFill>
              <a:srgbClr val="35516D"/>
            </a:solidFill>
            <a:prstDash val="solid"/>
          </a:ln>
        </p:spPr>
      </p:sp>
      <p:sp>
        <p:nvSpPr>
          <p:cNvPr id="26" name="Rectangle 25">
            <a:extLst>
              <a:ext uri="{FF2B5EF4-FFF2-40B4-BE49-F238E27FC236}">
                <a16:creationId xmlns:a16="http://schemas.microsoft.com/office/drawing/2014/main" id="{AB27E40B-FE94-4925-895B-1559E7D62C94}"/>
              </a:ext>
            </a:extLst>
          </p:cNvPr>
          <p:cNvSpPr>
            <a:spLocks noGrp="1"/>
          </p:cNvSpPr>
          <p:nvPr/>
        </p:nvSpPr>
        <p:spPr>
          <a:xfrm>
            <a:off x="7353300" y="3638550"/>
            <a:ext cx="2305050" cy="1790700"/>
          </a:xfrm>
          <a:prstGeom prst="rect">
            <a:avLst/>
          </a:prstGeom>
          <a:noFill/>
          <a:ln w="0">
            <a:noFill/>
            <a:prstDash val="solid"/>
          </a:ln>
        </p:spPr>
        <p:txBody>
          <a:bodyPr wrap="square" lIns="0" tIns="0" rIns="0" bIns="0" anchor="ctr">
            <a:normAutofit/>
          </a:bodyPr>
          <a:lstStyle/>
          <a:p>
            <a:pPr algn="ctr">
              <a:defRPr sz="1125" b="1" i="0">
                <a:solidFill>
                  <a:srgbClr val="AFC3D8"/>
                </a:solidFill>
                <a:latin typeface="Source Sans 3"/>
                <a:ea typeface="Source Sans 3"/>
                <a:cs typeface="Source Sans 3"/>
              </a:defRPr>
            </a:pPr>
            <a:r>
              <a:rPr sz="1125" b="1" i="0">
                <a:solidFill>
                  <a:srgbClr val="AFC3D8"/>
                </a:solidFill>
                <a:latin typeface="Source Sans 3"/>
                <a:ea typeface="Source Sans 3"/>
                <a:cs typeface="Source Sans 3"/>
              </a:rPr>
              <a:t>DASHBOARD</a:t>
            </a:r>
          </a:p>
          <a:p>
            <a:pPr algn="ctr">
              <a:defRPr sz="1125" b="1" i="0">
                <a:solidFill>
                  <a:srgbClr val="AFC3D8"/>
                </a:solidFill>
                <a:latin typeface="Source Sans 3"/>
                <a:ea typeface="Source Sans 3"/>
                <a:cs typeface="Source Sans 3"/>
              </a:defRPr>
            </a:pPr>
            <a:r>
              <a:rPr sz="1125" b="1" i="0">
                <a:solidFill>
                  <a:srgbClr val="AFC3D8"/>
                </a:solidFill>
                <a:latin typeface="Source Sans 3"/>
                <a:ea typeface="Source Sans 3"/>
                <a:cs typeface="Source Sans 3"/>
              </a:rPr>
              <a:t>FRAME</a:t>
            </a:r>
          </a:p>
        </p:txBody>
      </p:sp>
      <p:sp>
        <p:nvSpPr>
          <p:cNvPr id="27" name="Rounded Rectangle 26">
            <a:extLst>
              <a:ext uri="{FF2B5EF4-FFF2-40B4-BE49-F238E27FC236}">
                <a16:creationId xmlns:a16="http://schemas.microsoft.com/office/drawing/2014/main" id="{1BD2A502-BB61-4DC6-A0A0-34DB84966BE3}"/>
              </a:ext>
            </a:extLst>
          </p:cNvPr>
          <p:cNvSpPr>
            <a:spLocks noGrp="1"/>
          </p:cNvSpPr>
          <p:nvPr/>
        </p:nvSpPr>
        <p:spPr>
          <a:xfrm>
            <a:off x="9963150" y="3638550"/>
            <a:ext cx="1695450" cy="1790700"/>
          </a:xfrm>
          <a:prstGeom prst="roundRect">
            <a:avLst>
              <a:gd name="adj" fmla="val 10112"/>
            </a:avLst>
          </a:prstGeom>
          <a:solidFill>
            <a:srgbClr val="FFFFFF"/>
          </a:solidFill>
          <a:ln w="19050">
            <a:solidFill>
              <a:srgbClr val="132238"/>
            </a:solidFill>
            <a:prstDash val="solid"/>
          </a:ln>
        </p:spPr>
      </p:sp>
      <p:sp>
        <p:nvSpPr>
          <p:cNvPr id="28" name="Rectangle 27">
            <a:extLst>
              <a:ext uri="{FF2B5EF4-FFF2-40B4-BE49-F238E27FC236}">
                <a16:creationId xmlns:a16="http://schemas.microsoft.com/office/drawing/2014/main" id="{33920288-7700-44B7-A868-E31DB4E633A2}"/>
              </a:ext>
            </a:extLst>
          </p:cNvPr>
          <p:cNvSpPr>
            <a:spLocks noGrp="1"/>
          </p:cNvSpPr>
          <p:nvPr/>
        </p:nvSpPr>
        <p:spPr>
          <a:xfrm>
            <a:off x="9963150" y="3638550"/>
            <a:ext cx="1695450" cy="1790700"/>
          </a:xfrm>
          <a:prstGeom prst="rect">
            <a:avLst/>
          </a:prstGeom>
          <a:noFill/>
          <a:ln w="0">
            <a:noFill/>
            <a:prstDash val="solid"/>
          </a:ln>
        </p:spPr>
        <p:txBody>
          <a:bodyPr wrap="square" lIns="0" tIns="0" rIns="0" bIns="0" anchor="ctr">
            <a:normAutofit/>
          </a:bodyPr>
          <a:lstStyle/>
          <a:p>
            <a:pPr algn="ctr">
              <a:defRPr sz="1350" b="1" i="0">
                <a:solidFill>
                  <a:srgbClr val="132238"/>
                </a:solidFill>
                <a:latin typeface="Lexend"/>
                <a:ea typeface="Lexend"/>
                <a:cs typeface="Lexend"/>
              </a:defRPr>
            </a:pPr>
            <a:r>
              <a:rPr sz="1350" b="1" i="0">
                <a:solidFill>
                  <a:srgbClr val="132238"/>
                </a:solidFill>
                <a:latin typeface="Lexend"/>
                <a:ea typeface="Lexend"/>
                <a:cs typeface="Lexend"/>
              </a:rPr>
              <a:t>INSERT</a:t>
            </a:r>
          </a:p>
          <a:p>
            <a:pPr algn="ctr">
              <a:defRPr sz="1350" b="1" i="0">
                <a:solidFill>
                  <a:srgbClr val="132238"/>
                </a:solidFill>
                <a:latin typeface="Lexend"/>
                <a:ea typeface="Lexend"/>
                <a:cs typeface="Lexend"/>
              </a:defRPr>
            </a:pPr>
            <a:r>
              <a:rPr sz="1350" b="1" i="0">
                <a:solidFill>
                  <a:srgbClr val="132238"/>
                </a:solidFill>
                <a:latin typeface="Lexend"/>
                <a:ea typeface="Lexend"/>
                <a:cs typeface="Lexend"/>
              </a:rPr>
              <a:t>BETA URL</a:t>
            </a:r>
          </a:p>
        </p:txBody>
      </p:sp>
      <p:sp>
        <p:nvSpPr>
          <p:cNvPr id="29" name="Straight Connector 28">
            <a:extLst>
              <a:ext uri="{FF2B5EF4-FFF2-40B4-BE49-F238E27FC236}">
                <a16:creationId xmlns:a16="http://schemas.microsoft.com/office/drawing/2014/main" id="{FF2DDEDF-4104-4C54-A838-5DFF7A1704A7}"/>
              </a:ext>
            </a:extLst>
          </p:cNvPr>
          <p:cNvSpPr>
            <a:spLocks noGrp="1"/>
          </p:cNvSpPr>
          <p:nvPr/>
        </p:nvSpPr>
        <p:spPr>
          <a:xfrm>
            <a:off x="685800" y="5905500"/>
            <a:ext cx="4686300" cy="0"/>
          </a:xfrm>
          <a:prstGeom prst="line">
            <a:avLst/>
          </a:prstGeom>
          <a:noFill/>
          <a:ln w="28575">
            <a:solidFill>
              <a:srgbClr val="C8D4E2"/>
            </a:solidFill>
            <a:prstDash val="solid"/>
          </a:ln>
        </p:spPr>
      </p:sp>
      <p:sp>
        <p:nvSpPr>
          <p:cNvPr id="30" name="Oval 29">
            <a:extLst>
              <a:ext uri="{FF2B5EF4-FFF2-40B4-BE49-F238E27FC236}">
                <a16:creationId xmlns:a16="http://schemas.microsoft.com/office/drawing/2014/main" id="{2EBDA941-78F2-4EE2-9698-25D0F810BB88}"/>
              </a:ext>
            </a:extLst>
          </p:cNvPr>
          <p:cNvSpPr>
            <a:spLocks noGrp="1"/>
          </p:cNvSpPr>
          <p:nvPr/>
        </p:nvSpPr>
        <p:spPr>
          <a:xfrm>
            <a:off x="600075" y="5819775"/>
            <a:ext cx="171450" cy="171450"/>
          </a:xfrm>
          <a:prstGeom prst="ellipse">
            <a:avLst/>
          </a:prstGeom>
          <a:solidFill>
            <a:srgbClr val="F97316"/>
          </a:solidFill>
          <a:ln w="28575">
            <a:solidFill>
              <a:srgbClr val="FFFFFF"/>
            </a:solidFill>
            <a:prstDash val="solid"/>
          </a:ln>
        </p:spPr>
      </p:sp>
      <p:sp>
        <p:nvSpPr>
          <p:cNvPr id="31" name="Rectangle 30">
            <a:extLst>
              <a:ext uri="{FF2B5EF4-FFF2-40B4-BE49-F238E27FC236}">
                <a16:creationId xmlns:a16="http://schemas.microsoft.com/office/drawing/2014/main" id="{CB9709FA-A0F6-4C97-96E3-46F46D4B6CD7}"/>
              </a:ext>
            </a:extLst>
          </p:cNvPr>
          <p:cNvSpPr>
            <a:spLocks noGrp="1"/>
          </p:cNvSpPr>
          <p:nvPr/>
        </p:nvSpPr>
        <p:spPr>
          <a:xfrm>
            <a:off x="95250" y="6067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Step</a:t>
            </a:r>
          </a:p>
        </p:txBody>
      </p:sp>
      <p:sp>
        <p:nvSpPr>
          <p:cNvPr id="32" name="Oval 31">
            <a:extLst>
              <a:ext uri="{FF2B5EF4-FFF2-40B4-BE49-F238E27FC236}">
                <a16:creationId xmlns:a16="http://schemas.microsoft.com/office/drawing/2014/main" id="{29558CCB-CFBB-409E-82F3-37B1A714C17E}"/>
              </a:ext>
            </a:extLst>
          </p:cNvPr>
          <p:cNvSpPr>
            <a:spLocks noGrp="1"/>
          </p:cNvSpPr>
          <p:nvPr/>
        </p:nvSpPr>
        <p:spPr>
          <a:xfrm>
            <a:off x="2162175" y="5819775"/>
            <a:ext cx="171450" cy="171450"/>
          </a:xfrm>
          <a:prstGeom prst="ellipse">
            <a:avLst/>
          </a:prstGeom>
          <a:solidFill>
            <a:srgbClr val="175CD3"/>
          </a:solidFill>
          <a:ln w="28575">
            <a:solidFill>
              <a:srgbClr val="FFFFFF"/>
            </a:solidFill>
            <a:prstDash val="solid"/>
          </a:ln>
        </p:spPr>
      </p:sp>
      <p:sp>
        <p:nvSpPr>
          <p:cNvPr id="33" name="Rectangle 32">
            <a:extLst>
              <a:ext uri="{FF2B5EF4-FFF2-40B4-BE49-F238E27FC236}">
                <a16:creationId xmlns:a16="http://schemas.microsoft.com/office/drawing/2014/main" id="{165FBF00-77A1-4EB2-A350-3A867D558CBB}"/>
              </a:ext>
            </a:extLst>
          </p:cNvPr>
          <p:cNvSpPr>
            <a:spLocks noGrp="1"/>
          </p:cNvSpPr>
          <p:nvPr/>
        </p:nvSpPr>
        <p:spPr>
          <a:xfrm>
            <a:off x="1657350" y="6067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Station</a:t>
            </a:r>
          </a:p>
        </p:txBody>
      </p:sp>
      <p:sp>
        <p:nvSpPr>
          <p:cNvPr id="34" name="Oval 33">
            <a:extLst>
              <a:ext uri="{FF2B5EF4-FFF2-40B4-BE49-F238E27FC236}">
                <a16:creationId xmlns:a16="http://schemas.microsoft.com/office/drawing/2014/main" id="{B683587B-942A-4BDC-9982-4CBE5E4D0166}"/>
              </a:ext>
            </a:extLst>
          </p:cNvPr>
          <p:cNvSpPr>
            <a:spLocks noGrp="1"/>
          </p:cNvSpPr>
          <p:nvPr/>
        </p:nvSpPr>
        <p:spPr>
          <a:xfrm>
            <a:off x="3724275" y="5819775"/>
            <a:ext cx="171450" cy="171450"/>
          </a:xfrm>
          <a:prstGeom prst="ellipse">
            <a:avLst/>
          </a:prstGeom>
          <a:solidFill>
            <a:srgbClr val="175CD3"/>
          </a:solidFill>
          <a:ln w="28575">
            <a:solidFill>
              <a:srgbClr val="FFFFFF"/>
            </a:solidFill>
            <a:prstDash val="solid"/>
          </a:ln>
        </p:spPr>
      </p:sp>
      <p:sp>
        <p:nvSpPr>
          <p:cNvPr id="35" name="Rectangle 34">
            <a:extLst>
              <a:ext uri="{FF2B5EF4-FFF2-40B4-BE49-F238E27FC236}">
                <a16:creationId xmlns:a16="http://schemas.microsoft.com/office/drawing/2014/main" id="{E159BC1A-E478-4339-AA05-E90D7B309A59}"/>
              </a:ext>
            </a:extLst>
          </p:cNvPr>
          <p:cNvSpPr>
            <a:spLocks noGrp="1"/>
          </p:cNvSpPr>
          <p:nvPr/>
        </p:nvSpPr>
        <p:spPr>
          <a:xfrm>
            <a:off x="3219450" y="6067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Gate</a:t>
            </a:r>
          </a:p>
        </p:txBody>
      </p:sp>
      <p:sp>
        <p:nvSpPr>
          <p:cNvPr id="36" name="Oval 35">
            <a:extLst>
              <a:ext uri="{FF2B5EF4-FFF2-40B4-BE49-F238E27FC236}">
                <a16:creationId xmlns:a16="http://schemas.microsoft.com/office/drawing/2014/main" id="{75E462E4-CE65-43E7-A341-6034C0F55C41}"/>
              </a:ext>
            </a:extLst>
          </p:cNvPr>
          <p:cNvSpPr>
            <a:spLocks noGrp="1"/>
          </p:cNvSpPr>
          <p:nvPr/>
        </p:nvSpPr>
        <p:spPr>
          <a:xfrm>
            <a:off x="5286375" y="5819775"/>
            <a:ext cx="171450" cy="171450"/>
          </a:xfrm>
          <a:prstGeom prst="ellipse">
            <a:avLst/>
          </a:prstGeom>
          <a:solidFill>
            <a:srgbClr val="087A55"/>
          </a:solidFill>
          <a:ln w="28575">
            <a:solidFill>
              <a:srgbClr val="FFFFFF"/>
            </a:solidFill>
            <a:prstDash val="solid"/>
          </a:ln>
        </p:spPr>
      </p:sp>
      <p:sp>
        <p:nvSpPr>
          <p:cNvPr id="37" name="Rectangle 36">
            <a:extLst>
              <a:ext uri="{FF2B5EF4-FFF2-40B4-BE49-F238E27FC236}">
                <a16:creationId xmlns:a16="http://schemas.microsoft.com/office/drawing/2014/main" id="{1584AE66-A200-44E1-99F7-113394BEA01C}"/>
              </a:ext>
            </a:extLst>
          </p:cNvPr>
          <p:cNvSpPr>
            <a:spLocks noGrp="1"/>
          </p:cNvSpPr>
          <p:nvPr/>
        </p:nvSpPr>
        <p:spPr>
          <a:xfrm>
            <a:off x="4781550" y="6067425"/>
            <a:ext cx="1181100" cy="266700"/>
          </a:xfrm>
          <a:prstGeom prst="rect">
            <a:avLst/>
          </a:prstGeom>
          <a:noFill/>
          <a:ln w="0">
            <a:noFill/>
            <a:prstDash val="solid"/>
          </a:ln>
        </p:spPr>
        <p:txBody>
          <a:bodyPr wrap="square" lIns="0" tIns="0" rIns="0" bIns="0" anchor="t">
            <a:normAutofit/>
          </a:bodyPr>
          <a:lstStyle/>
          <a:p>
            <a:pPr algn="ctr">
              <a:defRPr sz="975" b="0" i="0">
                <a:solidFill>
                  <a:srgbClr val="5F6B7A"/>
                </a:solidFill>
                <a:latin typeface="Source Sans 3"/>
                <a:ea typeface="Source Sans 3"/>
                <a:cs typeface="Source Sans 3"/>
              </a:defRPr>
            </a:pPr>
            <a:r>
              <a:rPr sz="975" b="0" i="0">
                <a:solidFill>
                  <a:srgbClr val="5F6B7A"/>
                </a:solidFill>
                <a:latin typeface="Source Sans 3"/>
                <a:ea typeface="Source Sans 3"/>
                <a:cs typeface="Source Sans 3"/>
              </a:rPr>
              <a:t>Next</a:t>
            </a:r>
          </a:p>
        </p:txBody>
      </p:sp>
      <p:sp>
        <p:nvSpPr>
          <p:cNvPr id="38" name="Rounded Rectangle 37">
            <a:extLst>
              <a:ext uri="{FF2B5EF4-FFF2-40B4-BE49-F238E27FC236}">
                <a16:creationId xmlns:a16="http://schemas.microsoft.com/office/drawing/2014/main" id="{0D0FF229-3BBD-4F9F-B592-AEA0A1BE28E0}"/>
              </a:ext>
            </a:extLst>
          </p:cNvPr>
          <p:cNvSpPr>
            <a:spLocks noGrp="1"/>
          </p:cNvSpPr>
          <p:nvPr/>
        </p:nvSpPr>
        <p:spPr>
          <a:xfrm>
            <a:off x="6191250" y="5772150"/>
            <a:ext cx="1238250" cy="266700"/>
          </a:xfrm>
          <a:prstGeom prst="roundRect">
            <a:avLst>
              <a:gd name="adj" fmla="val 50000"/>
            </a:avLst>
          </a:prstGeom>
          <a:solidFill>
            <a:srgbClr val="FFF0E7"/>
          </a:solidFill>
          <a:ln w="9525">
            <a:solidFill>
              <a:srgbClr val="FDBA74"/>
            </a:solidFill>
            <a:prstDash val="solid"/>
          </a:ln>
        </p:spPr>
        <p:txBody>
          <a:bodyPr wrap="square" lIns="76200" tIns="19050" rIns="76200" bIns="19050" anchor="ctr">
            <a:normAutofit/>
          </a:bodyPr>
          <a:lstStyle/>
          <a:p>
            <a:pPr algn="ctr">
              <a:defRPr sz="825" b="1" i="0">
                <a:solidFill>
                  <a:srgbClr val="B54708"/>
                </a:solidFill>
                <a:latin typeface="Lexend"/>
                <a:ea typeface="Lexend"/>
                <a:cs typeface="Lexend"/>
              </a:defRPr>
            </a:pPr>
            <a:r>
              <a:rPr sz="825" b="1" i="0">
                <a:solidFill>
                  <a:srgbClr val="B54708"/>
                </a:solidFill>
                <a:latin typeface="Lexend"/>
                <a:ea typeface="Lexend"/>
                <a:cs typeface="Lexend"/>
              </a:rPr>
              <a:t>PROTOTYPE</a:t>
            </a:r>
          </a:p>
        </p:txBody>
      </p:sp>
      <p:sp>
        <p:nvSpPr>
          <p:cNvPr id="39" name="Rounded Rectangle 38">
            <a:extLst>
              <a:ext uri="{FF2B5EF4-FFF2-40B4-BE49-F238E27FC236}">
                <a16:creationId xmlns:a16="http://schemas.microsoft.com/office/drawing/2014/main" id="{97C80E84-5687-484E-9AC2-F82A7052989D}"/>
              </a:ext>
            </a:extLst>
          </p:cNvPr>
          <p:cNvSpPr>
            <a:spLocks noGrp="1"/>
          </p:cNvSpPr>
          <p:nvPr/>
        </p:nvSpPr>
        <p:spPr>
          <a:xfrm>
            <a:off x="7543800" y="5772150"/>
            <a:ext cx="1047750" cy="266700"/>
          </a:xfrm>
          <a:prstGeom prst="roundRect">
            <a:avLst>
              <a:gd name="adj" fmla="val 50000"/>
            </a:avLst>
          </a:prstGeom>
          <a:solidFill>
            <a:srgbClr val="EAF1FF"/>
          </a:solidFill>
          <a:ln w="9525">
            <a:solidFill>
              <a:srgbClr val="C8D9FF"/>
            </a:solidFill>
            <a:prstDash val="solid"/>
          </a:ln>
        </p:spPr>
        <p:txBody>
          <a:bodyPr wrap="square" lIns="76200" tIns="19050" rIns="76200" bIns="19050" anchor="ctr">
            <a:normAutofit/>
          </a:bodyPr>
          <a:lstStyle/>
          <a:p>
            <a:pPr algn="ctr">
              <a:defRPr sz="825" b="1" i="0">
                <a:solidFill>
                  <a:srgbClr val="175CD3"/>
                </a:solidFill>
                <a:latin typeface="Lexend"/>
                <a:ea typeface="Lexend"/>
                <a:cs typeface="Lexend"/>
              </a:defRPr>
            </a:pPr>
            <a:r>
              <a:rPr sz="825" b="1" i="0">
                <a:solidFill>
                  <a:srgbClr val="175CD3"/>
                </a:solidFill>
                <a:latin typeface="Lexend"/>
                <a:ea typeface="Lexend"/>
                <a:cs typeface="Lexend"/>
              </a:rPr>
              <a:t>PILOT</a:t>
            </a:r>
          </a:p>
        </p:txBody>
      </p:sp>
      <p:sp>
        <p:nvSpPr>
          <p:cNvPr id="40" name="Rounded Rectangle 39">
            <a:extLst>
              <a:ext uri="{FF2B5EF4-FFF2-40B4-BE49-F238E27FC236}">
                <a16:creationId xmlns:a16="http://schemas.microsoft.com/office/drawing/2014/main" id="{51ABFA71-34B8-49BD-8CDF-76AF5F52544C}"/>
              </a:ext>
            </a:extLst>
          </p:cNvPr>
          <p:cNvSpPr>
            <a:spLocks noGrp="1"/>
          </p:cNvSpPr>
          <p:nvPr/>
        </p:nvSpPr>
        <p:spPr>
          <a:xfrm>
            <a:off x="8705850" y="5772150"/>
            <a:ext cx="1238250" cy="266700"/>
          </a:xfrm>
          <a:prstGeom prst="roundRect">
            <a:avLst>
              <a:gd name="adj" fmla="val 50000"/>
            </a:avLst>
          </a:prstGeom>
          <a:solidFill>
            <a:srgbClr val="E8F6F1"/>
          </a:solidFill>
          <a:ln w="9525">
            <a:solidFill>
              <a:srgbClr val="A7E0CC"/>
            </a:solidFill>
            <a:prstDash val="solid"/>
          </a:ln>
        </p:spPr>
        <p:txBody>
          <a:bodyPr wrap="square" lIns="76200" tIns="19050" rIns="76200" bIns="19050" anchor="ctr">
            <a:normAutofit/>
          </a:bodyPr>
          <a:lstStyle/>
          <a:p>
            <a:pPr algn="ctr">
              <a:defRPr sz="825" b="1" i="0">
                <a:solidFill>
                  <a:srgbClr val="087A55"/>
                </a:solidFill>
                <a:latin typeface="Lexend"/>
                <a:ea typeface="Lexend"/>
                <a:cs typeface="Lexend"/>
              </a:defRPr>
            </a:pPr>
            <a:r>
              <a:rPr sz="825" b="1" i="0">
                <a:solidFill>
                  <a:srgbClr val="087A55"/>
                </a:solidFill>
                <a:latin typeface="Lexend"/>
                <a:ea typeface="Lexend"/>
                <a:cs typeface="Lexend"/>
              </a:rPr>
              <a:t>VALIDATED</a:t>
            </a:r>
          </a:p>
        </p:txBody>
      </p:sp>
      <p:sp>
        <p:nvSpPr>
          <p:cNvPr id="41" name="Rounded Rectangle 40">
            <a:extLst>
              <a:ext uri="{FF2B5EF4-FFF2-40B4-BE49-F238E27FC236}">
                <a16:creationId xmlns:a16="http://schemas.microsoft.com/office/drawing/2014/main" id="{551DF7EF-E03A-4C87-B5CE-BA7E8E388EF8}"/>
              </a:ext>
            </a:extLst>
          </p:cNvPr>
          <p:cNvSpPr>
            <a:spLocks noGrp="1"/>
          </p:cNvSpPr>
          <p:nvPr/>
        </p:nvSpPr>
        <p:spPr>
          <a:xfrm>
            <a:off x="10058400" y="5772150"/>
            <a:ext cx="1600200" cy="266700"/>
          </a:xfrm>
          <a:prstGeom prst="roundRect">
            <a:avLst>
              <a:gd name="adj" fmla="val 50000"/>
            </a:avLst>
          </a:prstGeom>
          <a:solidFill>
            <a:srgbClr val="EDF1F5"/>
          </a:solidFill>
          <a:ln w="9525">
            <a:solidFill>
              <a:srgbClr val="D8DEE8"/>
            </a:solidFill>
            <a:prstDash val="solid"/>
          </a:ln>
        </p:spPr>
        <p:txBody>
          <a:bodyPr wrap="square" lIns="76200" tIns="19050" rIns="76200" bIns="19050" anchor="ctr">
            <a:normAutofit/>
          </a:bodyPr>
          <a:lstStyle/>
          <a:p>
            <a:pPr algn="ctr">
              <a:defRPr sz="825" b="1" i="0">
                <a:solidFill>
                  <a:srgbClr val="132238"/>
                </a:solidFill>
                <a:latin typeface="Lexend"/>
                <a:ea typeface="Lexend"/>
                <a:cs typeface="Lexend"/>
              </a:defRPr>
            </a:pPr>
            <a:r>
              <a:rPr sz="825" b="1" i="0">
                <a:solidFill>
                  <a:srgbClr val="132238"/>
                </a:solidFill>
                <a:latin typeface="Lexend"/>
                <a:ea typeface="Lexend"/>
                <a:cs typeface="Lexend"/>
              </a:rPr>
              <a:t>CITATION · DATE</a:t>
            </a:r>
          </a:p>
        </p:txBody>
      </p:sp>
    </p:spTree>
    <p:extLst>
      <p:ext uri="{BB962C8B-B14F-4D97-AF65-F5344CB8AC3E}">
        <p14:creationId xmlns:p14="http://schemas.microsoft.com/office/powerpoint/2010/main" val="14670126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2291</Words>
  <Application>Microsoft Macintosh PowerPoint</Application>
  <DocSecurity>0</DocSecurity>
  <PresentationFormat>Widescreen</PresentationFormat>
  <Paragraphs>303</Paragraphs>
  <Slides>16</Slides>
  <Notes>16</Notes>
  <HiddenSlides>1</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Arial</vt:lpstr>
      <vt:lpstr>Calibri</vt:lpstr>
      <vt:lpstr>Lexend</vt:lpstr>
      <vt:lpstr>Source Sans 3</vt:lpstr>
      <vt:lpstr>ChatGPT</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Office User</cp:lastModifiedBy>
  <cp:revision>1</cp:revision>
  <dcterms:created xsi:type="dcterms:W3CDTF">2026-09-18T23:21:54Z</dcterms:created>
  <dcterms:modified xsi:type="dcterms:W3CDTF">2026-09-18T23:33:49Z</dcterms:modified>
</cp:coreProperties>
</file>